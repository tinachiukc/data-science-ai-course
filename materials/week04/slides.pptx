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97280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Microsoft JhengHei"/>
              </a:rPr>
              <a:t>資料科學與大數據分析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789920" cy="10058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JhengHei"/>
              </a:rPr>
              <a:t>Week 4｜數字會說話嗎？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07792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700" b="0">
                <a:solidFill>
                  <a:srgbClr val="DEE8F0"/>
                </a:solidFill>
                <a:latin typeface="Microsoft JhengHei"/>
              </a:rPr>
              <a:t>用描述統計看懂資料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14800"/>
            <a:ext cx="98755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800" b="1">
                <a:solidFill>
                  <a:srgbClr val="193756"/>
                </a:solidFill>
                <a:latin typeface="Microsoft JhengHei"/>
              </a:rPr>
              <a:t>一個「平均數」，真的能代表一群人嗎？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從探索走向判讀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05840"/>
            <a:ext cx="1097280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300" b="0">
                <a:solidFill>
                  <a:srgbClr val="646E76"/>
                </a:solidFill>
                <a:latin typeface="Microsoft JhengHei"/>
              </a:rPr>
              <a:t>Week 3 找到現象，Week 4 開始用簡單統計摘要描述現象。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200400" cy="13258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Week 3
資料裡有什麼？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554480"/>
            <a:ext cx="3200400" cy="13258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Week 4
這些數字代表什麼？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554480"/>
            <a:ext cx="3200400" cy="13258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Week 5
AI 的分析可信嗎？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332720" cy="9601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今天不是學更多公式，而是學會「怎麼解讀一個統計數字」。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開場問題｜平均 2,900 元，代表大家都差不多嗎？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8813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17320"/>
                <a:gridCol w="1417320"/>
                <a:gridCol w="1417320"/>
                <a:gridCol w="1417320"/>
                <a:gridCol w="1417320"/>
                <a:gridCol w="1600200"/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學生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A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B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C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D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E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F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每月娛樂支出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1,000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1,200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1,300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1,400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1,500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11,000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3337560"/>
            <a:ext cx="10332720" cy="82296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900" b="1">
                <a:solidFill>
                  <a:srgbClr val="FFFFFF"/>
                </a:solidFill>
                <a:latin typeface="Microsoft JhengHei"/>
              </a:rPr>
              <a:t>平均每月娛樂支出 = 2,900 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3272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700" b="1">
                <a:solidFill>
                  <a:srgbClr val="9B3A3A"/>
                </a:solidFill>
                <a:latin typeface="Microsoft JhengHei"/>
              </a:rPr>
              <a:t>這個「平均」像不像大部分學生？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核心概念 1｜平均數（Mean）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10058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平均數：把所有數值加總，再除以資料筆數。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40"/>
            <a:ext cx="5074920" cy="15544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2D785A"/>
                </a:solidFill>
                <a:latin typeface="Microsoft JhengHei"/>
              </a:rPr>
              <a:t>優點
把每一筆資料都納入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834640"/>
            <a:ext cx="5074920" cy="15544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9B3A3A"/>
                </a:solidFill>
                <a:latin typeface="Microsoft JhengHei"/>
              </a:rPr>
              <a:t>注意
容易受到極端數值影響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983480"/>
            <a:ext cx="1014984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232A30"/>
                </a:solidFill>
                <a:latin typeface="Microsoft JhengHei"/>
              </a:rPr>
              <a:t>本週重點不是「會不會算」，而是「知道這個數字能不能代表資料」。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一個極端值，可以把平均數拉走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2011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1">
                <a:solidFill>
                  <a:srgbClr val="193756"/>
                </a:solidFill>
                <a:latin typeface="Microsoft JhengHei"/>
              </a:rPr>
              <a:t>沒有 F
1,000｜1,200｜1,300｜1,400｜1,500
平均 = 1,280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212080" cy="2011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加入 F = 11,000
1,000｜1,200｜1,300｜1,400｜1,500｜11,000
平均 = 2,900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10332720" cy="9144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只多一筆資料，整組「平均」的樣貌就改變了。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核心概念 2｜中位數（Median）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1033272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把資料排序後，位在中間位置的數值。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1014984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232A30"/>
                </a:solidFill>
                <a:latin typeface="Microsoft JhengHei"/>
              </a:rPr>
              <a:t>1,000　1,200　1,300　1,400　1,500　11,000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3794760"/>
            <a:ext cx="7955279" cy="77724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中間兩個：1,300 與 1,400 → 中位數 1,350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100" b="1">
                <a:solidFill>
                  <a:srgbClr val="9B3A3A"/>
                </a:solidFill>
                <a:latin typeface="Microsoft JhengHei"/>
              </a:rPr>
              <a:t>中位數通常比較不容易被極端值拉動。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平均數 vs. 中位數｜沒有永遠最好的統計量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834640"/>
                <a:gridCol w="3931920"/>
              </a:tblGrid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情境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較有參考價值的指標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原因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公司估算整體薪資成本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平均數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所有薪資都會影響總成本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求職者想知道一般員工薪資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中位數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較不受少數極高薪資影響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5074920"/>
            <a:ext cx="1033272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統計量沒有永遠最好；要看你想回答什麼問題。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金融情境｜「平均報酬率 8%」聽起來如何？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463040"/>
          <a:ext cx="9966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554480"/>
                <a:gridCol w="1554480"/>
                <a:gridCol w="1554480"/>
                <a:gridCol w="155448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期間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報酬率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3%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4%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2%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3%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32A30"/>
                          </a:solidFill>
                          <a:latin typeface="Microsoft JhengHei"/>
                        </a:rPr>
                        <a:t>28%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3520440"/>
            <a:ext cx="10332720" cy="77724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JhengHei"/>
              </a:rPr>
              <a:t>算術平均報酬率 = 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33272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9B3A3A"/>
                </a:solidFill>
                <a:latin typeface="Microsoft JhengHei"/>
              </a:rPr>
              <a:t>問題：這個 8% 能不能完整描述這五期的表現？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23560"/>
            <a:ext cx="9966960" cy="4114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500" b="0">
                <a:solidFill>
                  <a:srgbClr val="646E76"/>
                </a:solidFill>
                <a:latin typeface="Microsoft JhengHei"/>
              </a:rPr>
              <a:t>本週只做判讀，不延伸到算術平均與幾何平均的比較。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核心概念 3｜最大值與最小值（Maximum / Minimum）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5074920" cy="2011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最大值
資料中最高的數值
可能代表高峰、極端或值得注意事件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17320"/>
            <a:ext cx="5074920" cy="2011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最小值
資料中最低的數值
可能代表低點、極端或值得注意事件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0520"/>
            <a:ext cx="1033272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232A30"/>
                </a:solidFill>
                <a:latin typeface="Microsoft JhengHei"/>
              </a:rPr>
              <a:t>平均 1,250 元｜中位數 680 元｜最大值 48,000 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9B3A3A"/>
                </a:solidFill>
                <a:latin typeface="Microsoft JhengHei"/>
              </a:rPr>
              <a:t>如果你是風險管理人員，哪一個數字最值得先看？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核心概念 4｜離群值（Outlier）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10332720" cy="10972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與大多數資料相比明顯不同、值得進一步注意的觀察值。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5074920" cy="16459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9B3A3A"/>
                </a:solidFill>
                <a:latin typeface="Microsoft JhengHei"/>
              </a:rPr>
              <a:t>年齡 = 235
可能是輸入錯誤
→ 回查原始資料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880360"/>
            <a:ext cx="5074920" cy="16459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2D785A"/>
                </a:solidFill>
                <a:latin typeface="Microsoft JhengHei"/>
              </a:rPr>
              <a:t>交易 = 48,000 元
也可能是真實交易
→ 先理解情境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166360"/>
            <a:ext cx="1014984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離群值 ≠ 錯誤值。第一個動作不是刪除，而是理解。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把前面四週串起來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828800" cy="82296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Week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280160"/>
            <a:ext cx="292608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異常交易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280160"/>
            <a:ext cx="539496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800" b="1">
                <a:solidFill>
                  <a:srgbClr val="232A30"/>
                </a:solidFill>
                <a:latin typeface="Microsoft JhengHei"/>
              </a:rPr>
              <a:t>不要急著下結論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828800" cy="82296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Week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423160"/>
            <a:ext cx="292608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年齡 235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423160"/>
            <a:ext cx="539496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800" b="1">
                <a:solidFill>
                  <a:srgbClr val="232A30"/>
                </a:solidFill>
                <a:latin typeface="Microsoft JhengHei"/>
              </a:rPr>
              <a:t>先查資料品質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828800" cy="82296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Week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3566160"/>
            <a:ext cx="292608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優惠者消費較高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566160"/>
            <a:ext cx="539496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800" b="1">
                <a:solidFill>
                  <a:srgbClr val="232A30"/>
                </a:solidFill>
                <a:latin typeface="Microsoft JhengHei"/>
              </a:rPr>
              <a:t>差異不代表因果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9160"/>
            <a:ext cx="1828800" cy="82296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Week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4709160"/>
            <a:ext cx="292608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800" b="1">
                <a:solidFill>
                  <a:srgbClr val="193756"/>
                </a:solidFill>
                <a:latin typeface="Microsoft JhengHei"/>
              </a:rPr>
              <a:t>平均數很高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709160"/>
            <a:ext cx="539496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800" b="1">
                <a:solidFill>
                  <a:srgbClr val="232A30"/>
                </a:solidFill>
                <a:latin typeface="Microsoft JhengHei"/>
              </a:rPr>
              <a:t>先看典型值與極端值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主要案例｜這家銀行的客戶真的很有錢嗎？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10332720" cy="7315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銀行報告：「本樣本客戶平均月收入為 72,000 元。」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3327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9B3A3A"/>
                </a:solidFill>
                <a:latin typeface="Microsoft JhengHei"/>
              </a:rPr>
              <a:t>如果只看到這句話，你會怎麼想像這群客戶？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17520" y="3383280"/>
          <a:ext cx="61264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017520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摘要指標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數值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平均數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72,000 元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中位數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48,000 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最小值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35,000 元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最大值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350,000 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同一群客戶，不同統計量說出不同故事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520440" cy="3474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平均數
72,000
受到高收入客戶影響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520440" cy="3474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400" b="1">
                <a:solidFill>
                  <a:srgbClr val="2D785A"/>
                </a:solidFill>
                <a:latin typeface="Microsoft JhengHei"/>
              </a:rPr>
              <a:t>中位數
48,000
較接近資料中間位置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325880"/>
            <a:ext cx="3520440" cy="3474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400" b="1">
                <a:solidFill>
                  <a:srgbClr val="9B3A3A"/>
                </a:solidFill>
                <a:latin typeface="Microsoft JhengHei"/>
              </a:rPr>
              <a:t>最大值
350,000
提醒我們有極端高值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232A30"/>
                </a:solidFill>
                <a:latin typeface="Microsoft JhengHei"/>
              </a:rPr>
              <a:t>問題不是「哪個數字是真的？」——它們都是真的，但回答的問題不同。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用圖看「大部分在哪裡」與「誰離得很遠」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3291840"/>
            <a:ext cx="9509760" cy="36576"/>
          </a:xfrm>
          <a:prstGeom prst="rect">
            <a:avLst/>
          </a:prstGeom>
          <a:solidFill>
            <a:srgbClr val="646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84248" y="3227832"/>
            <a:ext cx="128016" cy="128016"/>
          </a:xfrm>
          <a:prstGeom prst="ellipse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65760" y="3227832"/>
            <a:ext cx="128016" cy="128016"/>
          </a:xfrm>
          <a:prstGeom prst="ellipse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47272" y="3227832"/>
            <a:ext cx="128016" cy="128016"/>
          </a:xfrm>
          <a:prstGeom prst="ellipse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01613" y="3227832"/>
            <a:ext cx="128016" cy="128016"/>
          </a:xfrm>
          <a:prstGeom prst="ellipse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55955" y="3227832"/>
            <a:ext cx="128016" cy="128016"/>
          </a:xfrm>
          <a:prstGeom prst="ellipse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10296" y="3227832"/>
            <a:ext cx="128016" cy="128016"/>
          </a:xfrm>
          <a:prstGeom prst="ellipse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37467" y="3227832"/>
            <a:ext cx="128016" cy="128016"/>
          </a:xfrm>
          <a:prstGeom prst="ellipse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64638" y="3227832"/>
            <a:ext cx="128016" cy="128016"/>
          </a:xfrm>
          <a:prstGeom prst="ellipse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46150" y="3227832"/>
            <a:ext cx="128016" cy="128016"/>
          </a:xfrm>
          <a:prstGeom prst="ellipse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27662" y="3227832"/>
            <a:ext cx="128016" cy="128016"/>
          </a:xfrm>
          <a:prstGeom prst="ellipse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09175" y="3227832"/>
            <a:ext cx="128016" cy="128016"/>
          </a:xfrm>
          <a:prstGeom prst="ellipse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17858" y="3227832"/>
            <a:ext cx="128016" cy="128016"/>
          </a:xfrm>
          <a:prstGeom prst="ellipse">
            <a:avLst/>
          </a:prstGeom>
          <a:solidFill>
            <a:srgbClr val="316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924005" y="3227832"/>
            <a:ext cx="128016" cy="128016"/>
          </a:xfrm>
          <a:prstGeom prst="ellipse">
            <a:avLst/>
          </a:prstGeom>
          <a:solidFill>
            <a:srgbClr val="9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43032" y="3227832"/>
            <a:ext cx="128016" cy="128016"/>
          </a:xfrm>
          <a:prstGeom prst="ellipse">
            <a:avLst/>
          </a:prstGeom>
          <a:solidFill>
            <a:srgbClr val="9B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1371600"/>
            <a:ext cx="10332720" cy="7315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每一個點代表一位客戶的月收入（千元）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94760"/>
            <a:ext cx="274320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2D785A"/>
                </a:solidFill>
                <a:latin typeface="Microsoft JhengHei"/>
              </a:rPr>
              <a:t>多數客戶集中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794760"/>
            <a:ext cx="21031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800" b="1">
                <a:solidFill>
                  <a:srgbClr val="9B3A3A"/>
                </a:solidFill>
                <a:latin typeface="Microsoft JhengHei"/>
              </a:rPr>
              <a:t>350 明顯較遠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10332720" cy="6858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有時候「看分布」比只看一個平均數更有資訊。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學生任務｜誰比較能代表這群客戶？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任務 1
讀取平均、中位、最大、最小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521208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任務 2
判斷哪個較能描述「一般客戶」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39"/>
            <a:ext cx="521208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任務 3
找出值得注意的高值，先不急著刪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91839"/>
            <a:ext cx="5212080" cy="14630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任務 4
如果你是產品經理，還想知道什麼？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000" b="1">
                <a:solidFill>
                  <a:srgbClr val="9B3A3A"/>
                </a:solidFill>
                <a:latin typeface="Microsoft JhengHei"/>
              </a:rPr>
              <a:t>重點：每個判斷都要說「為什麼」。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單一變數，很難描述完整客戶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1460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年齡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463040"/>
            <a:ext cx="251460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職業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251460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資產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463040"/>
            <a:ext cx="251460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負債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251460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消費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017520"/>
            <a:ext cx="251460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投資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017520"/>
            <a:ext cx="251460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地區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232A30"/>
                </a:solidFill>
                <a:latin typeface="Microsoft JhengHei"/>
              </a:rPr>
              <a:t>收入很重要，但金融決策通常需要更多面向的資料。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4 的 AI｜資料分析助手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35640" cy="24688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700" b="0">
                <a:solidFill>
                  <a:srgbClr val="232A30"/>
                </a:solidFill>
                <a:latin typeface="Microsoft JhengHei"/>
              </a:rPr>
              <a:t>提示語範例
我是金融管理系一年級學生。某銀行客戶資料的平均月收入為72,000元，中位數為48,000元，最高月收入為350,000元。請用簡單方式說明這三個數字分別告訴我們什麼。不要推測資料中沒有提供的客戶背景。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51960"/>
            <a:ext cx="1033272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AI 的工作：幫我們解釋統計結果；人的工作：判斷解釋是否合理。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故意問 AI 一個容易過度解讀的問題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400" b="1">
                <a:solidFill>
                  <a:srgbClr val="193756"/>
                </a:solidFill>
                <a:latin typeface="Microsoft JhengHei"/>
              </a:rPr>
              <a:t>「平均收入 72,000 元，因此這家銀行的大多數客戶都是高收入族群，對嗎？」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33272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9B3A3A"/>
                </a:solidFill>
                <a:latin typeface="Microsoft JhengHei"/>
              </a:rPr>
              <a:t>最大的陷阱：把「平均數」當成「大多數人的典型狀況」。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251960"/>
            <a:ext cx="1014984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300" b="1">
                <a:solidFill>
                  <a:srgbClr val="232A30"/>
                </a:solidFill>
                <a:latin typeface="Microsoft JhengHei"/>
              </a:rPr>
              <a:t>如果中位數只有 48,000 元，就更應該停下來查資料分布與極端值。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三問｜現在開始查核「統計解釋」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371600"/>
            <a:ext cx="1014984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① AI 說了什麼？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697480"/>
            <a:ext cx="1014984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② 哪個統計數字支持它？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023360"/>
            <a:ext cx="1014984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③ 它有沒有把平均誤說成「大多數」？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40680"/>
            <a:ext cx="9966960" cy="4572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9B3A3A"/>
                </a:solidFill>
                <a:latin typeface="Microsoft JhengHei"/>
              </a:rPr>
              <a:t>查核 AI，不只是查資料來源，也要查它怎麼解讀數字。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本週核心原則｜平均 ≠ 典型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114300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JhengHei"/>
              </a:rPr>
              <a:t>平均 ≠ 典型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33272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平均數可以很有用，但它不是「大多數人」的同義詞。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43400"/>
            <a:ext cx="1033272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200" b="1">
                <a:solidFill>
                  <a:srgbClr val="232A30"/>
                </a:solidFill>
                <a:latin typeface="Microsoft JhengHei"/>
              </a:rPr>
              <a:t>看到平均數時，再問：中位數呢？最大／最小呢？資料長什麼樣子？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本週最小學習產出｜我的統計判讀卡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34440"/>
          <a:ext cx="103327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468880"/>
                <a:gridCol w="5120640"/>
              </a:tblGrid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指標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數值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它告訴我什麼？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平均數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中位數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最大值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最小值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193756"/>
                </a:solidFill>
                <a:latin typeface="Microsoft JhengHei"/>
              </a:rPr>
              <a:t>最能描述一般客戶的是：________　理由：________________________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1800" b="1">
                <a:solidFill>
                  <a:srgbClr val="9B3A3A"/>
                </a:solidFill>
                <a:latin typeface="Microsoft JhengHei"/>
              </a:rPr>
              <a:t>我發現的離群值：________　它一定是錯誤嗎？________________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快速檢核 1｜你會不會被「平均」騙到？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530352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600" b="1">
                <a:solidFill>
                  <a:srgbClr val="193756"/>
                </a:solidFill>
                <a:latin typeface="Microsoft JhengHei"/>
              </a:rPr>
              <a:t>Q1｜某公司平均月薪 85,000 元，因此大部分員工月薪都接近 85,000 元。
○ 正確　○ 錯誤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80160"/>
            <a:ext cx="5303520" cy="192024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600" b="1">
                <a:solidFill>
                  <a:srgbClr val="193756"/>
                </a:solidFill>
                <a:latin typeface="Microsoft JhengHei"/>
              </a:rPr>
              <a:t>Q2｜哪個統計量通常較不容易受到極端值影響？
A 平均數　B 中位數
C 最大值　D 總和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303520" cy="16002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500" b="1">
                <a:solidFill>
                  <a:srgbClr val="193756"/>
                </a:solidFill>
                <a:latin typeface="Microsoft JhengHei"/>
              </a:rPr>
              <a:t>Q3｜發現非常高的交易金額，第一步？
A 刪除　B 改成平均
C 了解背景與來源　D 讓 AI 決定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657600"/>
            <a:ext cx="5303520" cy="16002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l"/>
            <a:r>
              <a:rPr sz="1500" b="1">
                <a:solidFill>
                  <a:srgbClr val="193756"/>
                </a:solidFill>
                <a:latin typeface="Microsoft JhengHei"/>
              </a:rPr>
              <a:t>Q4｜離群值代表：
A 一定錯誤　B 一定詐欺
C 值得進一步了解　D 必須刪除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快速檢核 2｜抓出 AI 的統計誤讀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500" b="1">
                <a:solidFill>
                  <a:srgbClr val="9B3A3A"/>
                </a:solidFill>
                <a:latin typeface="Microsoft JhengHei"/>
              </a:rPr>
              <a:t>AI：「平均收入 72,000 元，所以大部分客戶收入約 72,000 元。」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最大的問題是什麼？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60520"/>
            <a:ext cx="10332720" cy="1051560"/>
          </a:xfrm>
          <a:prstGeom prst="roundRect">
            <a:avLst/>
          </a:prstGeom>
          <a:solidFill>
            <a:srgbClr val="316999"/>
          </a:solidFill>
          <a:ln>
            <a:solidFill>
              <a:srgbClr val="31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把平均數錯誤解釋成「大多數人的典型狀況」。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4 收束｜數字要放回資料裡理解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32688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平均數
整體平均水準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521208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中位數
資料中間位置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521208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最大／最小
極端位置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71800"/>
            <a:ext cx="5212080" cy="1188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離群值
值得進一步理解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332720" cy="64008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2800" b="1">
                <a:solidFill>
                  <a:srgbClr val="9B3A3A"/>
                </a:solidFill>
                <a:latin typeface="Microsoft JhengHei"/>
              </a:rPr>
              <a:t>Week 4｜平均 ≠ 典型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700" b="0">
                <a:solidFill>
                  <a:srgbClr val="646E76"/>
                </a:solidFill>
                <a:latin typeface="Microsoft JhengHei"/>
              </a:rPr>
              <a:t>下一步：如果 AI 幫我們做資料分析，我們要怎麼查核它？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