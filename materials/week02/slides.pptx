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375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1143000"/>
            <a:ext cx="10789920" cy="50292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2400" b="0">
                <a:solidFill>
                  <a:srgbClr val="FFFFFF"/>
                </a:solidFill>
                <a:latin typeface="Microsoft JhengHei"/>
              </a:rPr>
              <a:t>資料科學與大數據分析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874519"/>
            <a:ext cx="10789920" cy="100584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4200" b="1">
                <a:solidFill>
                  <a:srgbClr val="FFFFFF"/>
                </a:solidFill>
                <a:latin typeface="Microsoft JhengHei"/>
              </a:rPr>
              <a:t>Week 2｜先看懂資料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971800"/>
            <a:ext cx="10515600" cy="64008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2700" b="0">
                <a:solidFill>
                  <a:srgbClr val="DEE8F0"/>
                </a:solidFill>
                <a:latin typeface="Microsoft JhengHei"/>
              </a:rPr>
              <a:t>資料集、變數與資料品質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4160520"/>
            <a:ext cx="987552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 wrap="square"/>
          <a:lstStyle/>
          <a:p>
            <a:pPr algn="ctr"/>
            <a:r>
              <a:rPr sz="2800" b="1">
                <a:solidFill>
                  <a:srgbClr val="193756"/>
                </a:solidFill>
                <a:latin typeface="Microsoft JhengHei"/>
              </a:rPr>
              <a:t>拿到一份資料，我們第一件事應該做什麼？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2800" b="1">
                <a:solidFill>
                  <a:srgbClr val="193756"/>
                </a:solidFill>
                <a:latin typeface="Microsoft JhengHei"/>
              </a:rPr>
              <a:t>從 Week 1 往前走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932688"/>
            <a:ext cx="1143000" cy="45720"/>
          </a:xfrm>
          <a:prstGeom prst="rect">
            <a:avLst/>
          </a:prstGeom>
          <a:solidFill>
            <a:srgbClr val="C799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1005840"/>
            <a:ext cx="10972800" cy="36576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300" b="0">
                <a:solidFill>
                  <a:srgbClr val="646E76"/>
                </a:solidFill>
                <a:latin typeface="Microsoft JhengHei"/>
              </a:rPr>
              <a:t>有資料不等於有答案；這一週開始真正閱讀資料。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2057400"/>
            <a:ext cx="2619756" cy="914400"/>
          </a:xfrm>
          <a:prstGeom prst="roundRect">
            <a:avLst/>
          </a:prstGeom>
          <a:solidFill>
            <a:srgbClr val="316999"/>
          </a:solidFill>
          <a:ln>
            <a:solidFill>
              <a:srgbClr val="316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 wrap="square"/>
          <a:lstStyle/>
          <a:p>
            <a:pPr algn="ctr"/>
            <a:r>
              <a:rPr sz="1700" b="1">
                <a:solidFill>
                  <a:srgbClr val="FFFFFF"/>
                </a:solidFill>
                <a:latin typeface="Microsoft JhengHei"/>
              </a:rPr>
              <a:t>看見資料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14116" y="2331720"/>
            <a:ext cx="164592" cy="32004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800" b="1">
                <a:solidFill>
                  <a:srgbClr val="C79941"/>
                </a:solidFill>
                <a:latin typeface="Microsoft JhengHei"/>
              </a:rP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78708" y="2057400"/>
            <a:ext cx="2619756" cy="914400"/>
          </a:xfrm>
          <a:prstGeom prst="roundRect">
            <a:avLst/>
          </a:prstGeom>
          <a:solidFill>
            <a:srgbClr val="316999"/>
          </a:solidFill>
          <a:ln>
            <a:solidFill>
              <a:srgbClr val="316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 wrap="square"/>
          <a:lstStyle/>
          <a:p>
            <a:pPr algn="ctr"/>
            <a:r>
              <a:rPr sz="1700" b="1">
                <a:solidFill>
                  <a:srgbClr val="FFFFFF"/>
                </a:solidFill>
                <a:latin typeface="Microsoft JhengHei"/>
              </a:rPr>
              <a:t>理解資料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98464" y="2331720"/>
            <a:ext cx="164592" cy="32004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800" b="1">
                <a:solidFill>
                  <a:srgbClr val="C79941"/>
                </a:solidFill>
                <a:latin typeface="Microsoft JhengHei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63056" y="2057400"/>
            <a:ext cx="2619756" cy="914400"/>
          </a:xfrm>
          <a:prstGeom prst="roundRect">
            <a:avLst/>
          </a:prstGeom>
          <a:solidFill>
            <a:srgbClr val="316999"/>
          </a:solidFill>
          <a:ln>
            <a:solidFill>
              <a:srgbClr val="316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 wrap="square"/>
          <a:lstStyle/>
          <a:p>
            <a:pPr algn="ctr"/>
            <a:r>
              <a:rPr sz="1700" b="1">
                <a:solidFill>
                  <a:srgbClr val="FFFFFF"/>
                </a:solidFill>
                <a:latin typeface="Microsoft JhengHei"/>
              </a:rPr>
              <a:t>檢查資料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82812" y="2331720"/>
            <a:ext cx="164592" cy="32004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800" b="1">
                <a:solidFill>
                  <a:srgbClr val="C79941"/>
                </a:solidFill>
                <a:latin typeface="Microsoft JhengHei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47404" y="2057400"/>
            <a:ext cx="2619756" cy="914400"/>
          </a:xfrm>
          <a:prstGeom prst="roundRect">
            <a:avLst/>
          </a:prstGeom>
          <a:solidFill>
            <a:srgbClr val="316999"/>
          </a:solidFill>
          <a:ln>
            <a:solidFill>
              <a:srgbClr val="316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 wrap="square"/>
          <a:lstStyle/>
          <a:p>
            <a:pPr algn="ctr"/>
            <a:r>
              <a:rPr sz="1700" b="1">
                <a:solidFill>
                  <a:srgbClr val="FFFFFF"/>
                </a:solidFill>
                <a:latin typeface="Microsoft JhengHei"/>
              </a:rPr>
              <a:t>提出問題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4023360"/>
            <a:ext cx="10332720" cy="91440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 wrap="square"/>
          <a:lstStyle/>
          <a:p>
            <a:pPr algn="ctr"/>
            <a:r>
              <a:rPr sz="2700" b="1">
                <a:solidFill>
                  <a:srgbClr val="193756"/>
                </a:solidFill>
                <a:latin typeface="Microsoft JhengHei"/>
              </a:rPr>
              <a:t>不要一拿到資料就計算、畫圖或丟給 AI。
先問：這份資料到底在記錄什麼？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r"/>
            <a:r>
              <a:rPr sz="1000" b="0">
                <a:solidFill>
                  <a:srgbClr val="646E76"/>
                </a:solidFill>
                <a:latin typeface="Microsoft JhengHei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2800" b="1">
                <a:solidFill>
                  <a:srgbClr val="193756"/>
                </a:solidFill>
                <a:latin typeface="Microsoft JhengHei"/>
              </a:rPr>
              <a:t>本週核心問題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932688"/>
            <a:ext cx="1143000" cy="45720"/>
          </a:xfrm>
          <a:prstGeom prst="rect">
            <a:avLst/>
          </a:prstGeom>
          <a:solidFill>
            <a:srgbClr val="C799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1645920"/>
            <a:ext cx="10332720" cy="105156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 wrap="square"/>
          <a:lstStyle/>
          <a:p>
            <a:pPr algn="ctr"/>
            <a:r>
              <a:rPr sz="3400" b="1">
                <a:solidFill>
                  <a:srgbClr val="193756"/>
                </a:solidFill>
                <a:latin typeface="Microsoft JhengHei"/>
              </a:rPr>
              <a:t>拿到一份資料，我們第一件事應該做什麼？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337560"/>
            <a:ext cx="9966960" cy="73152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2300" b="1">
                <a:solidFill>
                  <a:srgbClr val="232A30"/>
                </a:solidFill>
                <a:latin typeface="Microsoft JhengHei"/>
              </a:rPr>
              <a:t>A｜先算平均數　 B｜先畫圖　 C｜先問 AI　 D｜先理解資料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846320"/>
            <a:ext cx="9418320" cy="54864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800" b="0">
                <a:solidFill>
                  <a:srgbClr val="646E76"/>
                </a:solidFill>
                <a:latin typeface="Microsoft JhengHei"/>
              </a:rPr>
              <a:t>先選一個答案；下課前再回答一次。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r"/>
            <a:r>
              <a:rPr sz="1000" b="0">
                <a:solidFill>
                  <a:srgbClr val="646E76"/>
                </a:solidFill>
                <a:latin typeface="Microsoft JhengHei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2800" b="1">
                <a:solidFill>
                  <a:srgbClr val="193756"/>
                </a:solidFill>
                <a:latin typeface="Microsoft JhengHei"/>
              </a:rPr>
              <a:t>案例｜一份行動支付消費資料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932688"/>
            <a:ext cx="1143000" cy="45720"/>
          </a:xfrm>
          <a:prstGeom prst="rect">
            <a:avLst/>
          </a:prstGeom>
          <a:solidFill>
            <a:srgbClr val="C799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20040" y="1371600"/>
          <a:ext cx="11567160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1097280"/>
                <a:gridCol w="1828800"/>
                <a:gridCol w="1828800"/>
                <a:gridCol w="2468880"/>
                <a:gridCol w="2788920"/>
              </a:tblGrid>
              <a:tr h="65532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Microsoft JhengHei"/>
                        </a:rPr>
                        <a:t>客戶編號</a:t>
                      </a:r>
                    </a:p>
                  </a:txBody>
                  <a:tcPr anchor="ctr">
                    <a:solidFill>
                      <a:srgbClr val="19375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Microsoft JhengHei"/>
                        </a:rPr>
                        <a:t>年齡</a:t>
                      </a:r>
                    </a:p>
                  </a:txBody>
                  <a:tcPr anchor="ctr">
                    <a:solidFill>
                      <a:srgbClr val="19375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Microsoft JhengHei"/>
                        </a:rPr>
                        <a:t>消費類別</a:t>
                      </a:r>
                    </a:p>
                  </a:txBody>
                  <a:tcPr anchor="ctr">
                    <a:solidFill>
                      <a:srgbClr val="19375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Microsoft JhengHei"/>
                        </a:rPr>
                        <a:t>消費金額</a:t>
                      </a:r>
                    </a:p>
                  </a:txBody>
                  <a:tcPr anchor="ctr">
                    <a:solidFill>
                      <a:srgbClr val="19375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Microsoft JhengHei"/>
                        </a:rPr>
                        <a:t>支付方式</a:t>
                      </a:r>
                    </a:p>
                  </a:txBody>
                  <a:tcPr anchor="ctr">
                    <a:solidFill>
                      <a:srgbClr val="19375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Microsoft JhengHei"/>
                        </a:rPr>
                        <a:t>是否使用優惠</a:t>
                      </a:r>
                    </a:p>
                  </a:txBody>
                  <a:tcPr anchor="ctr">
                    <a:solidFill>
                      <a:srgbClr val="193756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2A30"/>
                          </a:solidFill>
                          <a:latin typeface="Microsoft JhengHei"/>
                        </a:rPr>
                        <a:t>C001</a:t>
                      </a:r>
                    </a:p>
                  </a:txBody>
                  <a:tcPr anchor="ctr">
                    <a:solidFill>
                      <a:srgbClr val="EF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2A30"/>
                          </a:solidFill>
                          <a:latin typeface="Microsoft JhengHei"/>
                        </a:rPr>
                        <a:t>19</a:t>
                      </a:r>
                    </a:p>
                  </a:txBody>
                  <a:tcPr anchor="ctr">
                    <a:solidFill>
                      <a:srgbClr val="EF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2A30"/>
                          </a:solidFill>
                          <a:latin typeface="Microsoft JhengHei"/>
                        </a:rPr>
                        <a:t>餐飲</a:t>
                      </a:r>
                    </a:p>
                  </a:txBody>
                  <a:tcPr anchor="ctr">
                    <a:solidFill>
                      <a:srgbClr val="EF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2A30"/>
                          </a:solidFill>
                          <a:latin typeface="Microsoft JhengHei"/>
                        </a:rPr>
                        <a:t>180</a:t>
                      </a:r>
                    </a:p>
                  </a:txBody>
                  <a:tcPr anchor="ctr">
                    <a:solidFill>
                      <a:srgbClr val="EF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2A30"/>
                          </a:solidFill>
                          <a:latin typeface="Microsoft JhengHei"/>
                        </a:rPr>
                        <a:t>行動支付</a:t>
                      </a:r>
                    </a:p>
                  </a:txBody>
                  <a:tcPr anchor="ctr">
                    <a:solidFill>
                      <a:srgbClr val="EF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2A30"/>
                          </a:solidFill>
                          <a:latin typeface="Microsoft JhengHei"/>
                        </a:rPr>
                        <a:t>是</a:t>
                      </a:r>
                    </a:p>
                  </a:txBody>
                  <a:tcPr anchor="ctr">
                    <a:solidFill>
                      <a:srgbClr val="EFF5F9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2A30"/>
                          </a:solidFill>
                          <a:latin typeface="Microsoft JhengHei"/>
                        </a:rPr>
                        <a:t>C002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2A30"/>
                          </a:solidFill>
                          <a:latin typeface="Microsoft JhengHei"/>
                        </a:rPr>
                        <a:t>22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2A30"/>
                          </a:solidFill>
                          <a:latin typeface="Microsoft JhengHei"/>
                        </a:rPr>
                        <a:t>交通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2A30"/>
                          </a:solidFill>
                          <a:latin typeface="Microsoft JhengHei"/>
                        </a:rPr>
                        <a:t>45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2A30"/>
                          </a:solidFill>
                          <a:latin typeface="Microsoft JhengHei"/>
                        </a:rPr>
                        <a:t>信用卡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2A30"/>
                          </a:solidFill>
                          <a:latin typeface="Microsoft JhengHei"/>
                        </a:rPr>
                        <a:t>否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2A30"/>
                          </a:solidFill>
                          <a:latin typeface="Microsoft JhengHei"/>
                        </a:rPr>
                        <a:t>C003</a:t>
                      </a:r>
                    </a:p>
                  </a:txBody>
                  <a:tcPr anchor="ctr">
                    <a:solidFill>
                      <a:srgbClr val="EF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2A30"/>
                          </a:solidFill>
                          <a:latin typeface="Microsoft JhengHei"/>
                        </a:rPr>
                        <a:t>20</a:t>
                      </a:r>
                    </a:p>
                  </a:txBody>
                  <a:tcPr anchor="ctr">
                    <a:solidFill>
                      <a:srgbClr val="EF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2A30"/>
                          </a:solidFill>
                          <a:latin typeface="Microsoft JhengHei"/>
                        </a:rPr>
                        <a:t>娛樂</a:t>
                      </a:r>
                    </a:p>
                  </a:txBody>
                  <a:tcPr anchor="ctr">
                    <a:solidFill>
                      <a:srgbClr val="EF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2A30"/>
                          </a:solidFill>
                          <a:latin typeface="Microsoft JhengHei"/>
                        </a:rPr>
                        <a:t>350</a:t>
                      </a:r>
                    </a:p>
                  </a:txBody>
                  <a:tcPr anchor="ctr">
                    <a:solidFill>
                      <a:srgbClr val="EF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2A30"/>
                          </a:solidFill>
                          <a:latin typeface="Microsoft JhengHei"/>
                        </a:rPr>
                        <a:t>行動支付</a:t>
                      </a:r>
                    </a:p>
                  </a:txBody>
                  <a:tcPr anchor="ctr">
                    <a:solidFill>
                      <a:srgbClr val="EF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2A30"/>
                          </a:solidFill>
                          <a:latin typeface="Microsoft JhengHei"/>
                        </a:rPr>
                        <a:t>是</a:t>
                      </a:r>
                    </a:p>
                  </a:txBody>
                  <a:tcPr anchor="ctr">
                    <a:solidFill>
                      <a:srgbClr val="EFF5F9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2A30"/>
                          </a:solidFill>
                          <a:latin typeface="Microsoft JhengHei"/>
                        </a:rPr>
                        <a:t>C004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2A30"/>
                          </a:solidFill>
                          <a:latin typeface="Microsoft JhengHei"/>
                        </a:rPr>
                        <a:t>21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2A30"/>
                          </a:solidFill>
                          <a:latin typeface="Microsoft JhengHei"/>
                        </a:rPr>
                        <a:t>餐飲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2A30"/>
                          </a:solidFill>
                          <a:latin typeface="Microsoft JhengHei"/>
                        </a:rPr>
                        <a:t>220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2A30"/>
                          </a:solidFill>
                          <a:latin typeface="Microsoft JhengHei"/>
                        </a:rPr>
                        <a:t>現金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2A30"/>
                          </a:solidFill>
                          <a:latin typeface="Microsoft JhengHei"/>
                        </a:rPr>
                        <a:t>否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2A30"/>
                          </a:solidFill>
                          <a:latin typeface="Microsoft JhengHei"/>
                        </a:rPr>
                        <a:t>C005</a:t>
                      </a:r>
                    </a:p>
                  </a:txBody>
                  <a:tcPr anchor="ctr">
                    <a:solidFill>
                      <a:srgbClr val="EF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2A30"/>
                          </a:solidFill>
                          <a:latin typeface="Microsoft JhengHei"/>
                        </a:rPr>
                        <a:t>19</a:t>
                      </a:r>
                    </a:p>
                  </a:txBody>
                  <a:tcPr anchor="ctr">
                    <a:solidFill>
                      <a:srgbClr val="EF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2A30"/>
                          </a:solidFill>
                          <a:latin typeface="Microsoft JhengHei"/>
                        </a:rPr>
                        <a:t>購物</a:t>
                      </a:r>
                    </a:p>
                  </a:txBody>
                  <a:tcPr anchor="ctr">
                    <a:solidFill>
                      <a:srgbClr val="EF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2A30"/>
                          </a:solidFill>
                          <a:latin typeface="Microsoft JhengHei"/>
                        </a:rPr>
                        <a:t>1,280</a:t>
                      </a:r>
                    </a:p>
                  </a:txBody>
                  <a:tcPr anchor="ctr">
                    <a:solidFill>
                      <a:srgbClr val="EF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2A30"/>
                          </a:solidFill>
                          <a:latin typeface="Microsoft JhengHei"/>
                        </a:rPr>
                        <a:t>信用卡</a:t>
                      </a:r>
                    </a:p>
                  </a:txBody>
                  <a:tcPr anchor="ctr">
                    <a:solidFill>
                      <a:srgbClr val="EF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2A30"/>
                          </a:solidFill>
                          <a:latin typeface="Microsoft JhengHei"/>
                        </a:rPr>
                        <a:t>是</a:t>
                      </a:r>
                    </a:p>
                  </a:txBody>
                  <a:tcPr anchor="ctr">
                    <a:solidFill>
                      <a:srgbClr val="EFF5F9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914400" y="5486400"/>
            <a:ext cx="10332720" cy="50292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2100" b="1">
                <a:solidFill>
                  <a:srgbClr val="193756"/>
                </a:solidFill>
                <a:latin typeface="Microsoft JhengHei"/>
              </a:rPr>
              <a:t>先不計算：你看得懂這張表在記錄什麼嗎？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r"/>
            <a:r>
              <a:rPr sz="1000" b="0">
                <a:solidFill>
                  <a:srgbClr val="646E76"/>
                </a:solidFill>
                <a:latin typeface="Microsoft JhengHei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2800" b="1">
                <a:solidFill>
                  <a:srgbClr val="193756"/>
                </a:solidFill>
                <a:latin typeface="Microsoft JhengHei"/>
              </a:rPr>
              <a:t>資料集（Dataset）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932688"/>
            <a:ext cx="1143000" cy="45720"/>
          </a:xfrm>
          <a:prstGeom prst="rect">
            <a:avLst/>
          </a:prstGeom>
          <a:solidFill>
            <a:srgbClr val="C799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1005840"/>
            <a:ext cx="10972800" cy="36576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300" b="0">
                <a:solidFill>
                  <a:srgbClr val="646E76"/>
                </a:solidFill>
                <a:latin typeface="Microsoft JhengHei"/>
              </a:rPr>
              <a:t>資料集是一組有組織的資料紀錄。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08760"/>
            <a:ext cx="5074920" cy="320040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 wrap="square"/>
          <a:lstStyle/>
          <a:p>
            <a:pPr algn="ctr"/>
            <a:r>
              <a:rPr sz="2700" b="1">
                <a:solidFill>
                  <a:srgbClr val="193756"/>
                </a:solidFill>
                <a:latin typeface="Microsoft JhengHei"/>
              </a:rPr>
              <a:t>每一列
通常是一個觀察值
（Observation）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508760"/>
            <a:ext cx="5074920" cy="320040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 wrap="square"/>
          <a:lstStyle/>
          <a:p>
            <a:pPr algn="ctr"/>
            <a:r>
              <a:rPr sz="2700" b="1">
                <a:solidFill>
                  <a:srgbClr val="193756"/>
                </a:solidFill>
                <a:latin typeface="Microsoft JhengHei"/>
              </a:rPr>
              <a:t>每一欄
通常是一個變數
（Variable）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5166360"/>
            <a:ext cx="9966960" cy="50292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2200" b="1">
                <a:solidFill>
                  <a:srgbClr val="9B3A3A"/>
                </a:solidFill>
                <a:latin typeface="Microsoft JhengHei"/>
              </a:rPr>
              <a:t>閱讀資料的第一步：先確認「一列代表什麼」。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r"/>
            <a:r>
              <a:rPr sz="1000" b="0">
                <a:solidFill>
                  <a:srgbClr val="646E76"/>
                </a:solidFill>
                <a:latin typeface="Microsoft JhengHei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2800" b="1">
                <a:solidFill>
                  <a:srgbClr val="193756"/>
                </a:solidFill>
                <a:latin typeface="Microsoft JhengHei"/>
              </a:rPr>
              <a:t>觀察值（Observation）：一列代表誰或什麼？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932688"/>
            <a:ext cx="1143000" cy="45720"/>
          </a:xfrm>
          <a:prstGeom prst="rect">
            <a:avLst/>
          </a:prstGeom>
          <a:solidFill>
            <a:srgbClr val="C799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2960" y="1508760"/>
            <a:ext cx="10561320" cy="96012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 wrap="square"/>
          <a:lstStyle/>
          <a:p>
            <a:pPr algn="ctr"/>
            <a:r>
              <a:rPr sz="2500" b="1">
                <a:solidFill>
                  <a:srgbClr val="193756"/>
                </a:solidFill>
                <a:latin typeface="Microsoft JhengHei"/>
              </a:rPr>
              <a:t>一列可能代表：人、交易、商品、公司、日期或事件。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332720" cy="73152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2200" b="0">
                <a:solidFill>
                  <a:srgbClr val="232A30"/>
                </a:solidFill>
                <a:latin typeface="Microsoft JhengHei"/>
              </a:rPr>
              <a:t>在這份行動支付資料中：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011680" y="3794760"/>
            <a:ext cx="8138160" cy="1051560"/>
          </a:xfrm>
          <a:prstGeom prst="roundRect">
            <a:avLst/>
          </a:prstGeom>
          <a:solidFill>
            <a:srgbClr val="316999"/>
          </a:solidFill>
          <a:ln>
            <a:solidFill>
              <a:srgbClr val="316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 wrap="square"/>
          <a:lstStyle/>
          <a:p>
            <a:pPr algn="ctr"/>
            <a:r>
              <a:rPr sz="3000" b="1">
                <a:solidFill>
                  <a:srgbClr val="FFFFFF"/>
                </a:solidFill>
                <a:latin typeface="Microsoft JhengHei"/>
              </a:rPr>
              <a:t>一列 = 一位客戶的一次消費紀錄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r"/>
            <a:r>
              <a:rPr sz="1000" b="0">
                <a:solidFill>
                  <a:srgbClr val="646E76"/>
                </a:solidFill>
                <a:latin typeface="Microsoft JhengHei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2800" b="1">
                <a:solidFill>
                  <a:srgbClr val="193756"/>
                </a:solidFill>
                <a:latin typeface="Microsoft JhengHei"/>
              </a:rPr>
              <a:t>變數（Variable）：每一欄描述什麼？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932688"/>
            <a:ext cx="1143000" cy="45720"/>
          </a:xfrm>
          <a:prstGeom prst="rect">
            <a:avLst/>
          </a:prstGeom>
          <a:solidFill>
            <a:srgbClr val="C799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143000" y="1325880"/>
          <a:ext cx="9921240" cy="480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6629400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Microsoft JhengHei"/>
                        </a:rPr>
                        <a:t>變數</a:t>
                      </a:r>
                    </a:p>
                  </a:txBody>
                  <a:tcPr anchor="ctr">
                    <a:solidFill>
                      <a:srgbClr val="19375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Microsoft JhengHei"/>
                        </a:rPr>
                        <a:t>它描述的特徵</a:t>
                      </a:r>
                    </a:p>
                  </a:txBody>
                  <a:tcPr anchor="ctr">
                    <a:solidFill>
                      <a:srgbClr val="193756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32A30"/>
                          </a:solidFill>
                          <a:latin typeface="Microsoft JhengHei"/>
                        </a:rPr>
                        <a:t>客戶編號</a:t>
                      </a:r>
                    </a:p>
                  </a:txBody>
                  <a:tcPr anchor="ctr">
                    <a:solidFill>
                      <a:srgbClr val="EF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32A30"/>
                          </a:solidFill>
                          <a:latin typeface="Microsoft JhengHei"/>
                        </a:rPr>
                        <a:t>辨識紀錄對象</a:t>
                      </a:r>
                    </a:p>
                  </a:txBody>
                  <a:tcPr anchor="ctr">
                    <a:solidFill>
                      <a:srgbClr val="EFF5F9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32A30"/>
                          </a:solidFill>
                          <a:latin typeface="Microsoft JhengHei"/>
                        </a:rPr>
                        <a:t>年齡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32A30"/>
                          </a:solidFill>
                          <a:latin typeface="Microsoft JhengHei"/>
                        </a:rPr>
                        <a:t>客戶年齡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32A30"/>
                          </a:solidFill>
                          <a:latin typeface="Microsoft JhengHei"/>
                        </a:rPr>
                        <a:t>消費類別</a:t>
                      </a:r>
                    </a:p>
                  </a:txBody>
                  <a:tcPr anchor="ctr">
                    <a:solidFill>
                      <a:srgbClr val="EF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32A30"/>
                          </a:solidFill>
                          <a:latin typeface="Microsoft JhengHei"/>
                        </a:rPr>
                        <a:t>這次消費屬於哪一類</a:t>
                      </a:r>
                    </a:p>
                  </a:txBody>
                  <a:tcPr anchor="ctr">
                    <a:solidFill>
                      <a:srgbClr val="EFF5F9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32A30"/>
                          </a:solidFill>
                          <a:latin typeface="Microsoft JhengHei"/>
                        </a:rPr>
                        <a:t>消費金額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32A30"/>
                          </a:solidFill>
                          <a:latin typeface="Microsoft JhengHei"/>
                        </a:rPr>
                        <a:t>這次消費多少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32A30"/>
                          </a:solidFill>
                          <a:latin typeface="Microsoft JhengHei"/>
                        </a:rPr>
                        <a:t>支付方式</a:t>
                      </a:r>
                    </a:p>
                  </a:txBody>
                  <a:tcPr anchor="ctr">
                    <a:solidFill>
                      <a:srgbClr val="EF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32A30"/>
                          </a:solidFill>
                          <a:latin typeface="Microsoft JhengHei"/>
                        </a:rPr>
                        <a:t>使用哪一種付款方式</a:t>
                      </a:r>
                    </a:p>
                  </a:txBody>
                  <a:tcPr anchor="ctr">
                    <a:solidFill>
                      <a:srgbClr val="EFF5F9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32A30"/>
                          </a:solidFill>
                          <a:latin typeface="Microsoft JhengHei"/>
                        </a:rPr>
                        <a:t>是否使用優惠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32A30"/>
                          </a:solidFill>
                          <a:latin typeface="Microsoft JhengHei"/>
                        </a:rPr>
                        <a:t>是否使用促銷／優惠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r"/>
            <a:r>
              <a:rPr sz="1000" b="0">
                <a:solidFill>
                  <a:srgbClr val="646E76"/>
                </a:solidFill>
                <a:latin typeface="Microsoft JhengHei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2800" b="1">
                <a:solidFill>
                  <a:srgbClr val="193756"/>
                </a:solidFill>
                <a:latin typeface="Microsoft JhengHei"/>
              </a:rPr>
              <a:t>資料類型：第一週先分兩大類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932688"/>
            <a:ext cx="1143000" cy="45720"/>
          </a:xfrm>
          <a:prstGeom prst="rect">
            <a:avLst/>
          </a:prstGeom>
          <a:solidFill>
            <a:srgbClr val="C799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1508760"/>
            <a:ext cx="5029200" cy="324612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 wrap="square"/>
          <a:lstStyle/>
          <a:p>
            <a:pPr algn="ctr"/>
            <a:r>
              <a:rPr sz="2200" b="1">
                <a:solidFill>
                  <a:srgbClr val="193756"/>
                </a:solidFill>
                <a:latin typeface="Microsoft JhengHei"/>
              </a:rPr>
              <a:t>類別資料
（Categorical Data）
回答「是哪一類？」
例如：支付方式、地區、消費類別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55080" y="1508760"/>
            <a:ext cx="5029200" cy="324612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 wrap="square"/>
          <a:lstStyle/>
          <a:p>
            <a:pPr algn="ctr"/>
            <a:r>
              <a:rPr sz="2200" b="1">
                <a:solidFill>
                  <a:srgbClr val="193756"/>
                </a:solidFill>
                <a:latin typeface="Microsoft JhengHei"/>
              </a:rPr>
              <a:t>數值資料
（Numerical Data）
回答「多少？」
例如：年齡、消費金額、交易次數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5257800"/>
            <a:ext cx="9875520" cy="45720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800" b="0">
                <a:solidFill>
                  <a:srgbClr val="646E76"/>
                </a:solidFill>
                <a:latin typeface="Microsoft JhengHei"/>
              </a:rPr>
              <a:t>本週先掌握意義，不急著背完整的統計測量尺度。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r"/>
            <a:r>
              <a:rPr sz="1000" b="0">
                <a:solidFill>
                  <a:srgbClr val="646E76"/>
                </a:solidFill>
                <a:latin typeface="Microsoft JhengHei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2800" b="1">
                <a:solidFill>
                  <a:srgbClr val="193756"/>
                </a:solidFill>
                <a:latin typeface="Microsoft JhengHei"/>
              </a:rPr>
              <a:t>看到數字，就是數值資料嗎？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932688"/>
            <a:ext cx="1143000" cy="45720"/>
          </a:xfrm>
          <a:prstGeom prst="rect">
            <a:avLst/>
          </a:prstGeom>
          <a:solidFill>
            <a:srgbClr val="C799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828800" y="1463040"/>
          <a:ext cx="850392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640"/>
                <a:gridCol w="2834640"/>
                <a:gridCol w="2834640"/>
              </a:tblGrid>
              <a:tr h="571500"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FFFFFF"/>
                          </a:solidFill>
                          <a:latin typeface="Microsoft JhengHei"/>
                        </a:rPr>
                        <a:t>客戶編號</a:t>
                      </a:r>
                    </a:p>
                  </a:txBody>
                  <a:tcPr anchor="ctr">
                    <a:solidFill>
                      <a:srgbClr val="19375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FFFFFF"/>
                          </a:solidFill>
                          <a:latin typeface="Microsoft JhengHei"/>
                        </a:rPr>
                        <a:t>郵遞區號</a:t>
                      </a:r>
                    </a:p>
                  </a:txBody>
                  <a:tcPr anchor="ctr">
                    <a:solidFill>
                      <a:srgbClr val="19375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FFFFFF"/>
                          </a:solidFill>
                          <a:latin typeface="Microsoft JhengHei"/>
                        </a:rPr>
                        <a:t>會員等級</a:t>
                      </a:r>
                    </a:p>
                  </a:txBody>
                  <a:tcPr anchor="ctr">
                    <a:solidFill>
                      <a:srgbClr val="193756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232A30"/>
                          </a:solidFill>
                          <a:latin typeface="Microsoft JhengHei"/>
                        </a:rPr>
                        <a:t>C001</a:t>
                      </a:r>
                    </a:p>
                  </a:txBody>
                  <a:tcPr anchor="ctr">
                    <a:solidFill>
                      <a:srgbClr val="EF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232A30"/>
                          </a:solidFill>
                          <a:latin typeface="Microsoft JhengHei"/>
                        </a:rPr>
                        <a:t>700</a:t>
                      </a:r>
                    </a:p>
                  </a:txBody>
                  <a:tcPr anchor="ctr">
                    <a:solidFill>
                      <a:srgbClr val="EF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232A30"/>
                          </a:solidFill>
                          <a:latin typeface="Microsoft JhengHei"/>
                        </a:rPr>
                        <a:t>1</a:t>
                      </a:r>
                    </a:p>
                  </a:txBody>
                  <a:tcPr anchor="ctr">
                    <a:solidFill>
                      <a:srgbClr val="EFF5F9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232A30"/>
                          </a:solidFill>
                          <a:latin typeface="Microsoft JhengHei"/>
                        </a:rPr>
                        <a:t>C002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232A30"/>
                          </a:solidFill>
                          <a:latin typeface="Microsoft JhengHei"/>
                        </a:rPr>
                        <a:t>800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232A30"/>
                          </a:solidFill>
                          <a:latin typeface="Microsoft JhengHei"/>
                        </a:rP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232A30"/>
                          </a:solidFill>
                          <a:latin typeface="Microsoft JhengHei"/>
                        </a:rPr>
                        <a:t>C003</a:t>
                      </a:r>
                    </a:p>
                  </a:txBody>
                  <a:tcPr anchor="ctr">
                    <a:solidFill>
                      <a:srgbClr val="EF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232A30"/>
                          </a:solidFill>
                          <a:latin typeface="Microsoft JhengHei"/>
                        </a:rPr>
                        <a:t>701</a:t>
                      </a:r>
                    </a:p>
                  </a:txBody>
                  <a:tcPr anchor="ctr">
                    <a:solidFill>
                      <a:srgbClr val="EF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232A30"/>
                          </a:solidFill>
                          <a:latin typeface="Microsoft JhengHei"/>
                        </a:rPr>
                        <a:t>3</a:t>
                      </a:r>
                    </a:p>
                  </a:txBody>
                  <a:tcPr anchor="ctr">
                    <a:solidFill>
                      <a:srgbClr val="EFF5F9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914400" y="4160520"/>
            <a:ext cx="10332720" cy="73152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2400" b="1">
                <a:solidFill>
                  <a:srgbClr val="9B3A3A"/>
                </a:solidFill>
                <a:latin typeface="Microsoft JhengHei"/>
              </a:rPr>
              <a:t>郵遞區號 800 並不是比 700「多」100。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074920"/>
            <a:ext cx="10332720" cy="73152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2300" b="1">
                <a:solidFill>
                  <a:srgbClr val="193756"/>
                </a:solidFill>
                <a:latin typeface="Microsoft JhengHei"/>
              </a:rPr>
              <a:t>資料長得像數字，不代表它的意義就是「數量」。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r"/>
            <a:r>
              <a:rPr sz="1000" b="0">
                <a:solidFill>
                  <a:srgbClr val="646E76"/>
                </a:solidFill>
                <a:latin typeface="Microsoft JhengHei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2800" b="1">
                <a:solidFill>
                  <a:srgbClr val="193756"/>
                </a:solidFill>
                <a:latin typeface="Microsoft JhengHei"/>
              </a:rPr>
              <a:t>接著看資料品質（Data Quality）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932688"/>
            <a:ext cx="1143000" cy="45720"/>
          </a:xfrm>
          <a:prstGeom prst="rect">
            <a:avLst/>
          </a:prstGeom>
          <a:solidFill>
            <a:srgbClr val="C799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1005840"/>
            <a:ext cx="10972800" cy="36576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300" b="0">
                <a:solidFill>
                  <a:srgbClr val="646E76"/>
                </a:solidFill>
                <a:latin typeface="Microsoft JhengHei"/>
              </a:rPr>
              <a:t>資料很多，不代表資料可以直接拿來分析。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143000" y="1371600"/>
          <a:ext cx="992124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011680"/>
                <a:gridCol w="2560320"/>
                <a:gridCol w="3337560"/>
              </a:tblGrid>
              <a:tr h="627017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Microsoft JhengHei"/>
                        </a:rPr>
                        <a:t>客戶</a:t>
                      </a:r>
                    </a:p>
                  </a:txBody>
                  <a:tcPr anchor="ctr">
                    <a:solidFill>
                      <a:srgbClr val="19375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Microsoft JhengHei"/>
                        </a:rPr>
                        <a:t>年齡</a:t>
                      </a:r>
                    </a:p>
                  </a:txBody>
                  <a:tcPr anchor="ctr">
                    <a:solidFill>
                      <a:srgbClr val="19375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Microsoft JhengHei"/>
                        </a:rPr>
                        <a:t>消費金額</a:t>
                      </a:r>
                    </a:p>
                  </a:txBody>
                  <a:tcPr anchor="ctr">
                    <a:solidFill>
                      <a:srgbClr val="19375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Microsoft JhengHei"/>
                        </a:rPr>
                        <a:t>支付方式</a:t>
                      </a:r>
                    </a:p>
                  </a:txBody>
                  <a:tcPr anchor="ctr">
                    <a:solidFill>
                      <a:srgbClr val="193756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32A30"/>
                          </a:solidFill>
                          <a:latin typeface="Microsoft JhengHei"/>
                        </a:rPr>
                        <a:t>A</a:t>
                      </a:r>
                    </a:p>
                  </a:txBody>
                  <a:tcPr anchor="ctr">
                    <a:solidFill>
                      <a:srgbClr val="EF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32A30"/>
                          </a:solidFill>
                          <a:latin typeface="Microsoft JhengHei"/>
                        </a:rPr>
                        <a:t>20</a:t>
                      </a:r>
                    </a:p>
                  </a:txBody>
                  <a:tcPr anchor="ctr">
                    <a:solidFill>
                      <a:srgbClr val="EF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32A30"/>
                          </a:solidFill>
                          <a:latin typeface="Microsoft JhengHei"/>
                        </a:rPr>
                        <a:t>350</a:t>
                      </a:r>
                    </a:p>
                  </a:txBody>
                  <a:tcPr anchor="ctr">
                    <a:solidFill>
                      <a:srgbClr val="EF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32A30"/>
                          </a:solidFill>
                          <a:latin typeface="Microsoft JhengHei"/>
                        </a:rPr>
                        <a:t>信用卡</a:t>
                      </a:r>
                    </a:p>
                  </a:txBody>
                  <a:tcPr anchor="ctr">
                    <a:solidFill>
                      <a:srgbClr val="EFF5F9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32A30"/>
                          </a:solidFill>
                          <a:latin typeface="Microsoft JhengHei"/>
                        </a:rPr>
                        <a:t>B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32A30"/>
                          </a:solidFill>
                          <a:latin typeface="Microsoft JhengHei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32A30"/>
                          </a:solidFill>
                          <a:latin typeface="Microsoft JhengHei"/>
                        </a:rPr>
                        <a:t>480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32A30"/>
                          </a:solidFill>
                          <a:latin typeface="Microsoft JhengHei"/>
                        </a:rPr>
                        <a:t>行動支付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32A30"/>
                          </a:solidFill>
                          <a:latin typeface="Microsoft JhengHei"/>
                        </a:rPr>
                        <a:t>C</a:t>
                      </a:r>
                    </a:p>
                  </a:txBody>
                  <a:tcPr anchor="ctr">
                    <a:solidFill>
                      <a:srgbClr val="EF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32A30"/>
                          </a:solidFill>
                          <a:latin typeface="Microsoft JhengHei"/>
                        </a:rPr>
                        <a:t>19</a:t>
                      </a:r>
                    </a:p>
                  </a:txBody>
                  <a:tcPr anchor="ctr">
                    <a:solidFill>
                      <a:srgbClr val="EF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32A30"/>
                          </a:solidFill>
                          <a:latin typeface="Microsoft JhengHei"/>
                        </a:rPr>
                        <a:t>-250</a:t>
                      </a:r>
                    </a:p>
                  </a:txBody>
                  <a:tcPr anchor="ctr">
                    <a:solidFill>
                      <a:srgbClr val="EF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32A30"/>
                          </a:solidFill>
                          <a:latin typeface="Microsoft JhengHei"/>
                        </a:rPr>
                        <a:t>現金</a:t>
                      </a:r>
                    </a:p>
                  </a:txBody>
                  <a:tcPr anchor="ctr">
                    <a:solidFill>
                      <a:srgbClr val="EFF5F9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32A30"/>
                          </a:solidFill>
                          <a:latin typeface="Microsoft JhengHei"/>
                        </a:rPr>
                        <a:t>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32A30"/>
                          </a:solidFill>
                          <a:latin typeface="Microsoft JhengHei"/>
                        </a:rPr>
                        <a:t>19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32A30"/>
                          </a:solidFill>
                          <a:latin typeface="Microsoft JhengHei"/>
                        </a:rPr>
                        <a:t>-250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32A30"/>
                          </a:solidFill>
                          <a:latin typeface="Microsoft JhengHei"/>
                        </a:rPr>
                        <a:t>現金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32A30"/>
                          </a:solidFill>
                          <a:latin typeface="Microsoft JhengHei"/>
                        </a:rPr>
                        <a:t>D</a:t>
                      </a:r>
                    </a:p>
                  </a:txBody>
                  <a:tcPr anchor="ctr">
                    <a:solidFill>
                      <a:srgbClr val="EF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32A30"/>
                          </a:solidFill>
                          <a:latin typeface="Microsoft JhengHei"/>
                        </a:rPr>
                        <a:t>235</a:t>
                      </a:r>
                    </a:p>
                  </a:txBody>
                  <a:tcPr anchor="ctr">
                    <a:solidFill>
                      <a:srgbClr val="EF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32A30"/>
                          </a:solidFill>
                          <a:latin typeface="Microsoft JhengHei"/>
                        </a:rPr>
                        <a:t>720</a:t>
                      </a:r>
                    </a:p>
                  </a:txBody>
                  <a:tcPr anchor="ctr">
                    <a:solidFill>
                      <a:srgbClr val="EF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32A30"/>
                          </a:solidFill>
                          <a:latin typeface="Microsoft JhengHei"/>
                        </a:rPr>
                        <a:t>Mobile Pay</a:t>
                      </a:r>
                    </a:p>
                  </a:txBody>
                  <a:tcPr anchor="ctr">
                    <a:solidFill>
                      <a:srgbClr val="EFF5F9"/>
                    </a:solidFill>
                  </a:tcPr>
                </a:tc>
              </a:tr>
              <a:tr h="627018"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32A30"/>
                          </a:solidFill>
                          <a:latin typeface="Microsoft JhengHei"/>
                        </a:rPr>
                        <a:t>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32A30"/>
                          </a:solidFill>
                          <a:latin typeface="Microsoft JhengHei"/>
                        </a:rPr>
                        <a:t>21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32A30"/>
                          </a:solidFill>
                          <a:latin typeface="Microsoft JhengHei"/>
                        </a:rPr>
                        <a:t>1,200元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32A30"/>
                          </a:solidFill>
                          <a:latin typeface="Microsoft JhengHei"/>
                        </a:rPr>
                        <a:t>行動支付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188720" y="5897880"/>
            <a:ext cx="9784080" cy="36576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2000" b="1">
                <a:solidFill>
                  <a:srgbClr val="193756"/>
                </a:solidFill>
                <a:latin typeface="Microsoft JhengHei"/>
              </a:rPr>
              <a:t>你看到了哪些「怪怪的」地方？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r"/>
            <a:r>
              <a:rPr sz="1000" b="0">
                <a:solidFill>
                  <a:srgbClr val="646E76"/>
                </a:solidFill>
                <a:latin typeface="Microsoft JhengHe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2800" b="1">
                <a:solidFill>
                  <a:srgbClr val="193756"/>
                </a:solidFill>
                <a:latin typeface="Microsoft JhengHei"/>
              </a:rPr>
              <a:t>資料品質問題 ①｜遺漏值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932688"/>
            <a:ext cx="1143000" cy="45720"/>
          </a:xfrm>
          <a:prstGeom prst="rect">
            <a:avLst/>
          </a:prstGeom>
          <a:solidFill>
            <a:srgbClr val="C799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1508760"/>
            <a:ext cx="10332720" cy="105156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 wrap="square"/>
          <a:lstStyle/>
          <a:p>
            <a:pPr algn="ctr"/>
            <a:r>
              <a:rPr sz="2800" b="1">
                <a:solidFill>
                  <a:srgbClr val="193756"/>
                </a:solidFill>
                <a:latin typeface="Microsoft JhengHei"/>
              </a:rPr>
              <a:t>客戶 B 的「年齡」沒有資料。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063240"/>
            <a:ext cx="9966960" cy="73152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2200" b="0">
                <a:solidFill>
                  <a:srgbClr val="232A30"/>
                </a:solidFill>
                <a:latin typeface="Microsoft JhengHei"/>
              </a:rPr>
              <a:t>遺漏值（Missing Value）＝某個應有的資料欄位沒有紀錄。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4251960"/>
            <a:ext cx="9784080" cy="91440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2300" b="1">
                <a:solidFill>
                  <a:srgbClr val="9B3A3A"/>
                </a:solidFill>
                <a:latin typeface="Microsoft JhengHei"/>
              </a:rPr>
              <a:t>看到空白，不要立刻猜一個值補上。
先理解：為什麼缺？能不能查回來？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r"/>
            <a:r>
              <a:rPr sz="1000" b="0">
                <a:solidFill>
                  <a:srgbClr val="646E76"/>
                </a:solidFill>
                <a:latin typeface="Microsoft JhengHe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2800" b="1">
                <a:solidFill>
                  <a:srgbClr val="193756"/>
                </a:solidFill>
                <a:latin typeface="Microsoft JhengHei"/>
              </a:rPr>
              <a:t>資料品質問題 ②｜重複資料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932688"/>
            <a:ext cx="1143000" cy="45720"/>
          </a:xfrm>
          <a:prstGeom prst="rect">
            <a:avLst/>
          </a:prstGeom>
          <a:solidFill>
            <a:srgbClr val="C799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1508760"/>
            <a:ext cx="10332720" cy="105156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 wrap="square"/>
          <a:lstStyle/>
          <a:p>
            <a:pPr algn="ctr"/>
            <a:r>
              <a:rPr sz="2800" b="1">
                <a:solidFill>
                  <a:srgbClr val="193756"/>
                </a:solidFill>
                <a:latin typeface="Microsoft JhengHei"/>
              </a:rPr>
              <a:t>客戶 C 出現兩筆完全相同的紀錄。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017520"/>
            <a:ext cx="9966960" cy="73152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2500" b="1">
                <a:solidFill>
                  <a:srgbClr val="232A30"/>
                </a:solidFill>
                <a:latin typeface="Microsoft JhengHei"/>
              </a:rPr>
              <a:t>是不是一定要刪掉其中一筆？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43000" y="4160520"/>
            <a:ext cx="9875520" cy="105156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 wrap="square"/>
          <a:lstStyle/>
          <a:p>
            <a:pPr algn="ctr"/>
            <a:r>
              <a:rPr sz="2300" b="1">
                <a:solidFill>
                  <a:srgbClr val="9B3A3A"/>
                </a:solidFill>
                <a:latin typeface="Microsoft JhengHei"/>
              </a:rPr>
              <a:t>不一定。可能真的買了兩次相同金額。
還需要交易時間、交易編號等資訊確認。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r"/>
            <a:r>
              <a:rPr sz="1000" b="0">
                <a:solidFill>
                  <a:srgbClr val="646E76"/>
                </a:solidFill>
                <a:latin typeface="Microsoft JhengHe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2800" b="1">
                <a:solidFill>
                  <a:srgbClr val="193756"/>
                </a:solidFill>
                <a:latin typeface="Microsoft JhengHei"/>
              </a:rPr>
              <a:t>資料品質問題 ③｜不合理值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932688"/>
            <a:ext cx="1143000" cy="45720"/>
          </a:xfrm>
          <a:prstGeom prst="rect">
            <a:avLst/>
          </a:prstGeom>
          <a:solidFill>
            <a:srgbClr val="C799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1417320"/>
            <a:ext cx="5074920" cy="182880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 wrap="square"/>
          <a:lstStyle/>
          <a:p>
            <a:pPr algn="ctr"/>
            <a:r>
              <a:rPr sz="2800" b="1">
                <a:solidFill>
                  <a:srgbClr val="193756"/>
                </a:solidFill>
                <a:latin typeface="Microsoft JhengHei"/>
              </a:rPr>
              <a:t>年齡 = 235
高度值得懷疑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55080" y="1417320"/>
            <a:ext cx="5074920" cy="182880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 wrap="square"/>
          <a:lstStyle/>
          <a:p>
            <a:pPr algn="ctr"/>
            <a:r>
              <a:rPr sz="2800" b="1">
                <a:solidFill>
                  <a:srgbClr val="193756"/>
                </a:solidFill>
                <a:latin typeface="Microsoft JhengHei"/>
              </a:rPr>
              <a:t>消費金額 = -250
不一定是錯誤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3703320"/>
            <a:ext cx="498348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 wrap="square"/>
          <a:lstStyle/>
          <a:p>
            <a:pPr algn="ctr"/>
            <a:r>
              <a:rPr sz="2000" b="0">
                <a:solidFill>
                  <a:srgbClr val="232A30"/>
                </a:solidFill>
                <a:latin typeface="Microsoft JhengHei"/>
              </a:rPr>
              <a:t>235 可能是「胖手指」誤輸：
一次按到 2、3 等相鄰鍵。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3703320"/>
            <a:ext cx="498348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 wrap="square"/>
          <a:lstStyle/>
          <a:p>
            <a:pPr algn="ctr"/>
            <a:r>
              <a:rPr sz="2000" b="0">
                <a:solidFill>
                  <a:srgbClr val="232A30"/>
                </a:solidFill>
                <a:latin typeface="Microsoft JhengHei"/>
              </a:rPr>
              <a:t>-250 可能代表退款、退貨
或沖銷紀錄。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5532120"/>
            <a:ext cx="9875520" cy="45720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2100" b="1">
                <a:solidFill>
                  <a:srgbClr val="9B3A3A"/>
                </a:solidFill>
                <a:latin typeface="Microsoft JhengHei"/>
              </a:rPr>
              <a:t>異常 ≠ 錯誤；先理解資料情境，再決定怎麼處理。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r"/>
            <a:r>
              <a:rPr sz="1000" b="0">
                <a:solidFill>
                  <a:srgbClr val="646E76"/>
                </a:solidFill>
                <a:latin typeface="Microsoft JhengHe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2800" b="1">
                <a:solidFill>
                  <a:srgbClr val="193756"/>
                </a:solidFill>
                <a:latin typeface="Microsoft JhengHei"/>
              </a:rPr>
              <a:t>資料品質問題 ④｜格式不一致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932688"/>
            <a:ext cx="1143000" cy="45720"/>
          </a:xfrm>
          <a:prstGeom prst="rect">
            <a:avLst/>
          </a:prstGeom>
          <a:solidFill>
            <a:srgbClr val="C799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68680" y="1417320"/>
            <a:ext cx="5029200" cy="196596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 wrap="square"/>
          <a:lstStyle/>
          <a:p>
            <a:pPr algn="ctr"/>
            <a:r>
              <a:rPr sz="2600" b="1">
                <a:solidFill>
                  <a:srgbClr val="193756"/>
                </a:solidFill>
                <a:latin typeface="Microsoft JhengHei"/>
              </a:rPr>
              <a:t>行動支付
vs.
Mobile Pay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417320"/>
            <a:ext cx="5029200" cy="196596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 wrap="square"/>
          <a:lstStyle/>
          <a:p>
            <a:pPr algn="ctr"/>
            <a:r>
              <a:rPr sz="2600" b="1">
                <a:solidFill>
                  <a:srgbClr val="193756"/>
                </a:solidFill>
                <a:latin typeface="Microsoft JhengHei"/>
              </a:rPr>
              <a:t>1200
vs.
1,200元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977639"/>
            <a:ext cx="10332720" cy="82296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2300" b="1">
                <a:solidFill>
                  <a:srgbClr val="232A30"/>
                </a:solidFill>
                <a:latin typeface="Microsoft JhengHei"/>
              </a:rPr>
              <a:t>看起來意思相同，但格式不同，後續統計與分類可能出問題。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5166360"/>
            <a:ext cx="9784080" cy="50292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2100" b="1">
                <a:solidFill>
                  <a:srgbClr val="193756"/>
                </a:solidFill>
                <a:latin typeface="Microsoft JhengHei"/>
              </a:rPr>
              <a:t>資料分析前，常需要先把表示方式整理一致。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r"/>
            <a:r>
              <a:rPr sz="1000" b="0">
                <a:solidFill>
                  <a:srgbClr val="646E76"/>
                </a:solidFill>
                <a:latin typeface="Microsoft JhengHe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2800" b="1">
                <a:solidFill>
                  <a:srgbClr val="193756"/>
                </a:solidFill>
                <a:latin typeface="Microsoft JhengHei"/>
              </a:rPr>
              <a:t>拿到資料，先問五件事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932688"/>
            <a:ext cx="1143000" cy="45720"/>
          </a:xfrm>
          <a:prstGeom prst="rect">
            <a:avLst/>
          </a:prstGeom>
          <a:solidFill>
            <a:srgbClr val="C799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1005840"/>
            <a:ext cx="10972800" cy="36576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300" b="0">
                <a:solidFill>
                  <a:srgbClr val="646E76"/>
                </a:solidFill>
                <a:latin typeface="Microsoft JhengHei"/>
              </a:rPr>
              <a:t>這張「資料閱讀五問」之後還會反覆使用。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51560" y="1325880"/>
            <a:ext cx="10058400" cy="713232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 wrap="square"/>
          <a:lstStyle/>
          <a:p>
            <a:pPr algn="l"/>
            <a:r>
              <a:rPr sz="2000" b="1">
                <a:solidFill>
                  <a:srgbClr val="193756"/>
                </a:solidFill>
                <a:latin typeface="Microsoft JhengHei"/>
              </a:rPr>
              <a:t>① 一列代表什麼？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r"/>
            <a:r>
              <a:rPr sz="1000" b="0">
                <a:solidFill>
                  <a:srgbClr val="646E76"/>
                </a:solidFill>
                <a:latin typeface="Microsoft JhengHei"/>
              </a:rPr>
              <a:t>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51560" y="2258568"/>
            <a:ext cx="10058400" cy="713232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 wrap="square"/>
          <a:lstStyle/>
          <a:p>
            <a:pPr algn="l"/>
            <a:r>
              <a:rPr sz="2000" b="1">
                <a:solidFill>
                  <a:srgbClr val="193756"/>
                </a:solidFill>
                <a:latin typeface="Microsoft JhengHei"/>
              </a:rPr>
              <a:t>② 一欄代表什麼？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r"/>
            <a:r>
              <a:rPr sz="1000" b="0">
                <a:solidFill>
                  <a:srgbClr val="646E76"/>
                </a:solidFill>
                <a:latin typeface="Microsoft JhengHei"/>
              </a:rPr>
              <a:t>15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51560" y="3191256"/>
            <a:ext cx="10058400" cy="713232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 wrap="square"/>
          <a:lstStyle/>
          <a:p>
            <a:pPr algn="l"/>
            <a:r>
              <a:rPr sz="2000" b="1">
                <a:solidFill>
                  <a:srgbClr val="193756"/>
                </a:solidFill>
                <a:latin typeface="Microsoft JhengHei"/>
              </a:rPr>
              <a:t>③ 每個變數是什麼類型？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r"/>
            <a:r>
              <a:rPr sz="1000" b="0">
                <a:solidFill>
                  <a:srgbClr val="646E76"/>
                </a:solidFill>
                <a:latin typeface="Microsoft JhengHei"/>
              </a:rPr>
              <a:t>15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51560" y="4123944"/>
            <a:ext cx="10058400" cy="713232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 wrap="square"/>
          <a:lstStyle/>
          <a:p>
            <a:pPr algn="l"/>
            <a:r>
              <a:rPr sz="2000" b="1">
                <a:solidFill>
                  <a:srgbClr val="193756"/>
                </a:solidFill>
                <a:latin typeface="Microsoft JhengHei"/>
              </a:rPr>
              <a:t>④ 有沒有缺漏、重複或不合理資料？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r"/>
            <a:r>
              <a:rPr sz="1000" b="0">
                <a:solidFill>
                  <a:srgbClr val="646E76"/>
                </a:solidFill>
                <a:latin typeface="Microsoft JhengHei"/>
              </a:rPr>
              <a:t>15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51560" y="5056632"/>
            <a:ext cx="10058400" cy="713232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 wrap="square"/>
          <a:lstStyle/>
          <a:p>
            <a:pPr algn="l"/>
            <a:r>
              <a:rPr sz="2000" b="1">
                <a:solidFill>
                  <a:srgbClr val="193756"/>
                </a:solidFill>
                <a:latin typeface="Microsoft JhengHei"/>
              </a:rPr>
              <a:t>⑤ 這份資料足以回答我的問題嗎？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r"/>
            <a:r>
              <a:rPr sz="1000" b="0">
                <a:solidFill>
                  <a:srgbClr val="646E76"/>
                </a:solidFill>
                <a:latin typeface="Microsoft JhengHe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2800" b="1">
                <a:solidFill>
                  <a:srgbClr val="193756"/>
                </a:solidFill>
                <a:latin typeface="Microsoft JhengHei"/>
              </a:rPr>
              <a:t>學生任務｜替資料做第一次健康檢查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932688"/>
            <a:ext cx="1143000" cy="45720"/>
          </a:xfrm>
          <a:prstGeom prst="rect">
            <a:avLst/>
          </a:prstGeom>
          <a:solidFill>
            <a:srgbClr val="C799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1508760"/>
            <a:ext cx="5166360" cy="141732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 wrap="square"/>
          <a:lstStyle/>
          <a:p>
            <a:pPr algn="ctr"/>
            <a:r>
              <a:rPr sz="2000" b="1">
                <a:solidFill>
                  <a:srgbClr val="193756"/>
                </a:solidFill>
                <a:latin typeface="Microsoft JhengHei"/>
              </a:rPr>
              <a:t>任務 A
一列代表什麼？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508760"/>
            <a:ext cx="5166360" cy="141732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 wrap="square"/>
          <a:lstStyle/>
          <a:p>
            <a:pPr algn="ctr"/>
            <a:r>
              <a:rPr sz="2000" b="1">
                <a:solidFill>
                  <a:srgbClr val="193756"/>
                </a:solidFill>
                <a:latin typeface="Microsoft JhengHei"/>
              </a:rPr>
              <a:t>任務 B
哪些是類別／數值資料？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3383279"/>
            <a:ext cx="5166360" cy="141732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 wrap="square"/>
          <a:lstStyle/>
          <a:p>
            <a:pPr algn="ctr"/>
            <a:r>
              <a:rPr sz="2000" b="1">
                <a:solidFill>
                  <a:srgbClr val="193756"/>
                </a:solidFill>
                <a:latin typeface="Microsoft JhengHei"/>
              </a:rPr>
              <a:t>任務 C
找出至少三個資料品質問題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3383279"/>
            <a:ext cx="5166360" cy="141732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 wrap="square"/>
          <a:lstStyle/>
          <a:p>
            <a:pPr algn="ctr"/>
            <a:r>
              <a:rPr sz="2000" b="1">
                <a:solidFill>
                  <a:srgbClr val="193756"/>
                </a:solidFill>
                <a:latin typeface="Microsoft JhengHei"/>
              </a:rPr>
              <a:t>任務 D
哪些能直接修正？哪些必須查證？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486400"/>
            <a:ext cx="9966960" cy="45720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900" b="0">
                <a:solidFill>
                  <a:srgbClr val="646E76"/>
                </a:solidFill>
                <a:latin typeface="Microsoft JhengHei"/>
              </a:rPr>
              <a:t>重點不是「找最多錯誤」，而是說明你的判斷依據。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r"/>
            <a:r>
              <a:rPr sz="1000" b="0">
                <a:solidFill>
                  <a:srgbClr val="646E76"/>
                </a:solidFill>
                <a:latin typeface="Microsoft JhengHe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2800" b="1">
                <a:solidFill>
                  <a:srgbClr val="193756"/>
                </a:solidFill>
                <a:latin typeface="Microsoft JhengHei"/>
              </a:rPr>
              <a:t>這份資料可以回答哪些金融／商管問題？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932688"/>
            <a:ext cx="1143000" cy="45720"/>
          </a:xfrm>
          <a:prstGeom prst="rect">
            <a:avLst/>
          </a:prstGeom>
          <a:solidFill>
            <a:srgbClr val="C799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05840" y="1463040"/>
            <a:ext cx="10149840" cy="91440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 wrap="square"/>
          <a:lstStyle/>
          <a:p>
            <a:pPr algn="ctr"/>
            <a:r>
              <a:rPr sz="2300" b="1">
                <a:solidFill>
                  <a:srgbClr val="193756"/>
                </a:solidFill>
                <a:latin typeface="Microsoft JhengHei"/>
              </a:rPr>
              <a:t>哪些客戶較常使用行動支付？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5840" y="2697480"/>
            <a:ext cx="10149840" cy="91440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 wrap="square"/>
          <a:lstStyle/>
          <a:p>
            <a:pPr algn="ctr"/>
            <a:r>
              <a:rPr sz="2300" b="1">
                <a:solidFill>
                  <a:srgbClr val="193756"/>
                </a:solidFill>
                <a:latin typeface="Microsoft JhengHei"/>
              </a:rPr>
              <a:t>不同消費類別的金額是否不同？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5840" y="3931920"/>
            <a:ext cx="10149840" cy="91440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 wrap="square"/>
          <a:lstStyle/>
          <a:p>
            <a:pPr algn="ctr"/>
            <a:r>
              <a:rPr sz="2300" b="1">
                <a:solidFill>
                  <a:srgbClr val="193756"/>
                </a:solidFill>
                <a:latin typeface="Microsoft JhengHei"/>
              </a:rPr>
              <a:t>使用優惠的人是否消費較多？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5440680"/>
            <a:ext cx="9875520" cy="45720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2000" b="1">
                <a:solidFill>
                  <a:srgbClr val="9B3A3A"/>
                </a:solidFill>
                <a:latin typeface="Microsoft JhengHei"/>
              </a:rPr>
              <a:t>今天先提出問題；下一階段才開始真正探索資料。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r"/>
            <a:r>
              <a:rPr sz="1000" b="0">
                <a:solidFill>
                  <a:srgbClr val="646E76"/>
                </a:solidFill>
                <a:latin typeface="Microsoft JhengHe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2800" b="1">
                <a:solidFill>
                  <a:srgbClr val="193756"/>
                </a:solidFill>
                <a:latin typeface="Microsoft JhengHei"/>
              </a:rPr>
              <a:t>Week 2 的 AI：資料理解助手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932688"/>
            <a:ext cx="1143000" cy="45720"/>
          </a:xfrm>
          <a:prstGeom prst="rect">
            <a:avLst/>
          </a:prstGeom>
          <a:solidFill>
            <a:srgbClr val="C799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1280160"/>
            <a:ext cx="10835640" cy="242316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 wrap="square"/>
          <a:lstStyle/>
          <a:p>
            <a:pPr algn="l"/>
            <a:r>
              <a:rPr sz="1700" b="0">
                <a:solidFill>
                  <a:srgbClr val="232A30"/>
                </a:solidFill>
                <a:latin typeface="Microsoft JhengHei"/>
              </a:rPr>
              <a:t>提示語範例
「我是金融管理系一年級學生，正在學習閱讀資料。某份行動支付資料包含：客戶編號、年齡、消費類別、消費金額、支付方式、是否使用優惠。請逐一說明每個欄位可能代表什麼，並判斷較適合視為類別資料或數值資料。若資訊不足，請明確指出無法確定，不要自行假設。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4160520"/>
            <a:ext cx="10149840" cy="77724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2400" b="1">
                <a:solidFill>
                  <a:srgbClr val="193756"/>
                </a:solidFill>
                <a:latin typeface="Microsoft JhengHei"/>
              </a:rPr>
              <a:t>今天多學一個 AI 協作原則：不知道，就說不知道。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r"/>
            <a:r>
              <a:rPr sz="1000" b="0">
                <a:solidFill>
                  <a:srgbClr val="646E76"/>
                </a:solidFill>
                <a:latin typeface="Microsoft JhengHe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2800" b="1">
                <a:solidFill>
                  <a:srgbClr val="193756"/>
                </a:solidFill>
                <a:latin typeface="Microsoft JhengHei"/>
              </a:rPr>
              <a:t>故意測試 AI：它會不會「補完整故事」？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932688"/>
            <a:ext cx="1143000" cy="45720"/>
          </a:xfrm>
          <a:prstGeom prst="rect">
            <a:avLst/>
          </a:prstGeom>
          <a:solidFill>
            <a:srgbClr val="C799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1417320"/>
            <a:ext cx="10332720" cy="82296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 wrap="square"/>
          <a:lstStyle/>
          <a:p>
            <a:pPr algn="ctr"/>
            <a:r>
              <a:rPr sz="2500" b="1">
                <a:solidFill>
                  <a:srgbClr val="193756"/>
                </a:solidFill>
                <a:latin typeface="Microsoft JhengHei"/>
              </a:rPr>
              <a:t>資料只有一個欄位：會員等級 = 1、2、3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32720" cy="105156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2700" b="1">
                <a:solidFill>
                  <a:srgbClr val="9B3A3A"/>
                </a:solidFill>
                <a:latin typeface="Microsoft JhengHei"/>
              </a:rPr>
              <a:t>AI：「1 = 黃金會員、2 = 白金會員、3 = 鑽石會員。」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251960"/>
            <a:ext cx="10332720" cy="73152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2700" b="1">
                <a:solidFill>
                  <a:srgbClr val="232A30"/>
                </a:solidFill>
                <a:latin typeface="Microsoft JhengHei"/>
              </a:rPr>
              <a:t>資料真的有告訴 AI 這件事嗎？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5349240"/>
            <a:ext cx="9966960" cy="50292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2500" b="1">
                <a:solidFill>
                  <a:srgbClr val="9B3A3A"/>
                </a:solidFill>
                <a:latin typeface="Microsoft JhengHei"/>
              </a:rPr>
              <a:t>合理 ≠ 有根據。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r"/>
            <a:r>
              <a:rPr sz="1000" b="0">
                <a:solidFill>
                  <a:srgbClr val="646E76"/>
                </a:solidFill>
                <a:latin typeface="Microsoft JhengHei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2800" b="1">
                <a:solidFill>
                  <a:srgbClr val="193756"/>
                </a:solidFill>
                <a:latin typeface="Microsoft JhengHei"/>
              </a:rPr>
              <a:t>AI 能分析，不等於資料就可以交給 AI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932688"/>
            <a:ext cx="1143000" cy="45720"/>
          </a:xfrm>
          <a:prstGeom prst="rect">
            <a:avLst/>
          </a:prstGeom>
          <a:solidFill>
            <a:srgbClr val="C799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1417320"/>
            <a:ext cx="10332720" cy="91440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 wrap="square"/>
          <a:lstStyle/>
          <a:p>
            <a:pPr algn="ctr"/>
            <a:r>
              <a:rPr sz="2700" b="1">
                <a:solidFill>
                  <a:srgbClr val="193756"/>
                </a:solidFill>
                <a:latin typeface="Microsoft JhengHei"/>
              </a:rPr>
              <a:t>真實客戶資料，可以直接貼給公開生成式 AI 嗎？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332720" cy="132588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2400" b="1">
                <a:solidFill>
                  <a:srgbClr val="9B3A3A"/>
                </a:solidFill>
                <a:latin typeface="Microsoft JhengHei"/>
              </a:rPr>
              <a:t>姓名、帳號、身分資訊、交易明細等敏感資料
不應任意輸入公開生成式 AI 工具。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4800600"/>
            <a:ext cx="10149840" cy="73152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2300" b="1">
                <a:solidFill>
                  <a:srgbClr val="232A30"/>
                </a:solidFill>
                <a:latin typeface="Microsoft JhengHei"/>
              </a:rPr>
              <a:t>先確認資料是否適合分享，再談 AI 能不能幫忙。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r"/>
            <a:r>
              <a:rPr sz="1000" b="0">
                <a:solidFill>
                  <a:srgbClr val="646E76"/>
                </a:solidFill>
                <a:latin typeface="Microsoft JhengHei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2800" b="1">
                <a:solidFill>
                  <a:srgbClr val="193756"/>
                </a:solidFill>
                <a:latin typeface="Microsoft JhengHei"/>
              </a:rPr>
              <a:t>我的第一張「資料健檢表」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932688"/>
            <a:ext cx="1143000" cy="45720"/>
          </a:xfrm>
          <a:prstGeom prst="rect">
            <a:avLst/>
          </a:prstGeom>
          <a:solidFill>
            <a:srgbClr val="C799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097280" y="1280160"/>
          <a:ext cx="9966960" cy="4983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5852160"/>
              </a:tblGrid>
              <a:tr h="711925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Microsoft JhengHei"/>
                        </a:rPr>
                        <a:t>檢查項目</a:t>
                      </a:r>
                    </a:p>
                  </a:txBody>
                  <a:tcPr anchor="ctr">
                    <a:solidFill>
                      <a:srgbClr val="19375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Microsoft JhengHei"/>
                        </a:rPr>
                        <a:t>我的判斷</a:t>
                      </a:r>
                    </a:p>
                  </a:txBody>
                  <a:tcPr anchor="ctr">
                    <a:solidFill>
                      <a:srgbClr val="193756"/>
                    </a:solidFill>
                  </a:tcPr>
                </a:tc>
              </a:tr>
              <a:tr h="711925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2A30"/>
                          </a:solidFill>
                          <a:latin typeface="Microsoft JhengHei"/>
                        </a:rPr>
                        <a:t>一列代表什麼？</a:t>
                      </a:r>
                    </a:p>
                  </a:txBody>
                  <a:tcPr anchor="ctr">
                    <a:solidFill>
                      <a:srgbClr val="EF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anchor="ctr">
                    <a:solidFill>
                      <a:srgbClr val="EFF5F9"/>
                    </a:solidFill>
                  </a:tcPr>
                </a:tc>
              </a:tr>
              <a:tr h="711925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2A30"/>
                          </a:solidFill>
                          <a:latin typeface="Microsoft JhengHei"/>
                        </a:rPr>
                        <a:t>主要變數有哪些？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11925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2A30"/>
                          </a:solidFill>
                          <a:latin typeface="Microsoft JhengHei"/>
                        </a:rPr>
                        <a:t>哪些是類別／數值資料？</a:t>
                      </a:r>
                    </a:p>
                  </a:txBody>
                  <a:tcPr anchor="ctr">
                    <a:solidFill>
                      <a:srgbClr val="EF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anchor="ctr">
                    <a:solidFill>
                      <a:srgbClr val="EFF5F9"/>
                    </a:solidFill>
                  </a:tcPr>
                </a:tc>
              </a:tr>
              <a:tr h="711925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2A30"/>
                          </a:solidFill>
                          <a:latin typeface="Microsoft JhengHei"/>
                        </a:rPr>
                        <a:t>發現哪些資料問題？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11925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2A30"/>
                          </a:solidFill>
                          <a:latin typeface="Microsoft JhengHei"/>
                        </a:rPr>
                        <a:t>哪些需要進一步查證？</a:t>
                      </a:r>
                    </a:p>
                  </a:txBody>
                  <a:tcPr anchor="ctr">
                    <a:solidFill>
                      <a:srgbClr val="EF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anchor="ctr">
                    <a:solidFill>
                      <a:srgbClr val="EFF5F9"/>
                    </a:solidFill>
                  </a:tcPr>
                </a:tc>
              </a:tr>
              <a:tr h="71193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2A30"/>
                          </a:solidFill>
                          <a:latin typeface="Microsoft JhengHei"/>
                        </a:rPr>
                        <a:t>這份資料可能回答什麼問題？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r"/>
            <a:r>
              <a:rPr sz="1000" b="0">
                <a:solidFill>
                  <a:srgbClr val="646E76"/>
                </a:solidFill>
                <a:latin typeface="Microsoft JhengHei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2800" b="1">
                <a:solidFill>
                  <a:srgbClr val="193756"/>
                </a:solidFill>
                <a:latin typeface="Microsoft JhengHei"/>
              </a:rPr>
              <a:t>快速檢核｜你真的看懂資料了嗎？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932688"/>
            <a:ext cx="1143000" cy="45720"/>
          </a:xfrm>
          <a:prstGeom prst="rect">
            <a:avLst/>
          </a:prstGeom>
          <a:solidFill>
            <a:srgbClr val="C799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1188720"/>
            <a:ext cx="5440680" cy="182880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 wrap="square"/>
          <a:lstStyle/>
          <a:p>
            <a:pPr algn="l"/>
            <a:r>
              <a:rPr sz="1600" b="1">
                <a:solidFill>
                  <a:srgbClr val="193756"/>
                </a:solidFill>
                <a:latin typeface="Microsoft JhengHei"/>
              </a:rPr>
              <a:t>Q1｜一份交易資料中，每一列通常代表：
A 一個變數　B 一個觀察值
C 一種資料類型　D 一個 AI 模型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72200" y="1188720"/>
            <a:ext cx="5349240" cy="182880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 wrap="square"/>
          <a:lstStyle/>
          <a:p>
            <a:pPr algn="l"/>
            <a:r>
              <a:rPr sz="1600" b="1">
                <a:solidFill>
                  <a:srgbClr val="193756"/>
                </a:solidFill>
                <a:latin typeface="Microsoft JhengHei"/>
              </a:rPr>
              <a:t>Q2｜郵遞區號 700、701、800 看起來是數字，因此適合計算平均值。
○ 正確　○ 錯誤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3337560"/>
            <a:ext cx="5440680" cy="182880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 wrap="square"/>
          <a:lstStyle/>
          <a:p>
            <a:pPr algn="l"/>
            <a:r>
              <a:rPr sz="1600" b="1">
                <a:solidFill>
                  <a:srgbClr val="193756"/>
                </a:solidFill>
                <a:latin typeface="Microsoft JhengHei"/>
              </a:rPr>
              <a:t>Q3｜兩筆資料完全相同，最適當的是：
A 一定刪除　B 全部刪除
C 先確認是否真重複　D 請 AI 選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3337560"/>
            <a:ext cx="5349240" cy="182880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 wrap="square"/>
          <a:lstStyle/>
          <a:p>
            <a:pPr algn="l"/>
            <a:r>
              <a:rPr sz="1600" b="1">
                <a:solidFill>
                  <a:srgbClr val="193756"/>
                </a:solidFill>
                <a:latin typeface="Microsoft JhengHei"/>
              </a:rPr>
              <a:t>Q4｜交易金額 -500 元：
A 一定錯　B 一定詐欺
C 可能是退款，需了解定義　D 改成 500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r"/>
            <a:r>
              <a:rPr sz="1000" b="0">
                <a:solidFill>
                  <a:srgbClr val="646E76"/>
                </a:solidFill>
                <a:latin typeface="Microsoft JhengHei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2800" b="1">
                <a:solidFill>
                  <a:srgbClr val="193756"/>
                </a:solidFill>
                <a:latin typeface="Microsoft JhengHei"/>
              </a:rPr>
              <a:t>AI 快速檢核｜合理 ≠ 有根據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932688"/>
            <a:ext cx="1143000" cy="45720"/>
          </a:xfrm>
          <a:prstGeom prst="rect">
            <a:avLst/>
          </a:prstGeom>
          <a:solidFill>
            <a:srgbClr val="C799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1417320"/>
            <a:ext cx="10332720" cy="100584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 wrap="square"/>
          <a:lstStyle/>
          <a:p>
            <a:pPr algn="ctr"/>
            <a:r>
              <a:rPr sz="2900" b="1">
                <a:solidFill>
                  <a:srgbClr val="9B3A3A"/>
                </a:solidFill>
                <a:latin typeface="Microsoft JhengHei"/>
              </a:rPr>
              <a:t>AI：「會員等級 3 一定代表鑽石會員。」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71800"/>
            <a:ext cx="10332720" cy="73152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2400" b="1">
                <a:solidFill>
                  <a:srgbClr val="232A30"/>
                </a:solidFill>
                <a:latin typeface="Microsoft JhengHei"/>
              </a:rPr>
              <a:t>但資料說明中沒有定義會員等級。你應該怎麼做？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" y="4251960"/>
            <a:ext cx="9966960" cy="105156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 wrap="square"/>
          <a:lstStyle/>
          <a:p>
            <a:pPr algn="ctr"/>
            <a:r>
              <a:rPr sz="2500" b="1">
                <a:solidFill>
                  <a:srgbClr val="193756"/>
                </a:solidFill>
                <a:latin typeface="Microsoft JhengHei"/>
              </a:rPr>
              <a:t>查閱資料定義，不把 AI 自行補充的意義當成事實。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r"/>
            <a:r>
              <a:rPr sz="1000" b="0">
                <a:solidFill>
                  <a:srgbClr val="646E76"/>
                </a:solidFill>
                <a:latin typeface="Microsoft JhengHei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2800" b="1">
                <a:solidFill>
                  <a:srgbClr val="193756"/>
                </a:solidFill>
                <a:latin typeface="Microsoft JhengHei"/>
              </a:rPr>
              <a:t>再回答一次：拿到資料，第一件事是什麼？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932688"/>
            <a:ext cx="1143000" cy="45720"/>
          </a:xfrm>
          <a:prstGeom prst="rect">
            <a:avLst/>
          </a:prstGeom>
          <a:solidFill>
            <a:srgbClr val="C799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94360" y="1645920"/>
            <a:ext cx="2062886" cy="914400"/>
          </a:xfrm>
          <a:prstGeom prst="roundRect">
            <a:avLst/>
          </a:prstGeom>
          <a:solidFill>
            <a:srgbClr val="316999"/>
          </a:solidFill>
          <a:ln>
            <a:solidFill>
              <a:srgbClr val="316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 wrap="square"/>
          <a:lstStyle/>
          <a:p>
            <a:pPr algn="ctr"/>
            <a:r>
              <a:rPr sz="1700" b="1">
                <a:solidFill>
                  <a:srgbClr val="FFFFFF"/>
                </a:solidFill>
                <a:latin typeface="Microsoft JhengHei"/>
              </a:rPr>
              <a:t>一列是誰？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57246" y="1920240"/>
            <a:ext cx="164592" cy="32004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800" b="1">
                <a:solidFill>
                  <a:srgbClr val="C79941"/>
                </a:solidFill>
                <a:latin typeface="Microsoft JhengHei"/>
              </a:rPr>
              <a:t>→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821838" y="1645920"/>
            <a:ext cx="2062886" cy="914400"/>
          </a:xfrm>
          <a:prstGeom prst="roundRect">
            <a:avLst/>
          </a:prstGeom>
          <a:solidFill>
            <a:srgbClr val="316999"/>
          </a:solidFill>
          <a:ln>
            <a:solidFill>
              <a:srgbClr val="316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 wrap="square"/>
          <a:lstStyle/>
          <a:p>
            <a:pPr algn="ctr"/>
            <a:r>
              <a:rPr sz="1700" b="1">
                <a:solidFill>
                  <a:srgbClr val="FFFFFF"/>
                </a:solidFill>
                <a:latin typeface="Microsoft JhengHei"/>
              </a:rPr>
              <a:t>一欄是什麼？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84724" y="1920240"/>
            <a:ext cx="164592" cy="32004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800" b="1">
                <a:solidFill>
                  <a:srgbClr val="C79941"/>
                </a:solidFill>
                <a:latin typeface="Microsoft JhengHei"/>
              </a:rP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9316" y="1645920"/>
            <a:ext cx="2062886" cy="914400"/>
          </a:xfrm>
          <a:prstGeom prst="roundRect">
            <a:avLst/>
          </a:prstGeom>
          <a:solidFill>
            <a:srgbClr val="316999"/>
          </a:solidFill>
          <a:ln>
            <a:solidFill>
              <a:srgbClr val="316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 wrap="square"/>
          <a:lstStyle/>
          <a:p>
            <a:pPr algn="ctr"/>
            <a:r>
              <a:rPr sz="1700" b="1">
                <a:solidFill>
                  <a:srgbClr val="FFFFFF"/>
                </a:solidFill>
                <a:latin typeface="Microsoft JhengHei"/>
              </a:rPr>
              <a:t>資料類型？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12203" y="1920240"/>
            <a:ext cx="164592" cy="32004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800" b="1">
                <a:solidFill>
                  <a:srgbClr val="C79941"/>
                </a:solidFill>
                <a:latin typeface="Microsoft JhengHei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76795" y="1645920"/>
            <a:ext cx="2062886" cy="914400"/>
          </a:xfrm>
          <a:prstGeom prst="roundRect">
            <a:avLst/>
          </a:prstGeom>
          <a:solidFill>
            <a:srgbClr val="316999"/>
          </a:solidFill>
          <a:ln>
            <a:solidFill>
              <a:srgbClr val="316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 wrap="square"/>
          <a:lstStyle/>
          <a:p>
            <a:pPr algn="ctr"/>
            <a:r>
              <a:rPr sz="1700" b="1">
                <a:solidFill>
                  <a:srgbClr val="FFFFFF"/>
                </a:solidFill>
                <a:latin typeface="Microsoft JhengHei"/>
              </a:rPr>
              <a:t>資料有問題？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39681" y="1920240"/>
            <a:ext cx="164592" cy="32004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800" b="1">
                <a:solidFill>
                  <a:srgbClr val="C79941"/>
                </a:solidFill>
                <a:latin typeface="Microsoft JhengHei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504273" y="1645920"/>
            <a:ext cx="2062886" cy="914400"/>
          </a:xfrm>
          <a:prstGeom prst="roundRect">
            <a:avLst/>
          </a:prstGeom>
          <a:solidFill>
            <a:srgbClr val="316999"/>
          </a:solidFill>
          <a:ln>
            <a:solidFill>
              <a:srgbClr val="316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 wrap="square"/>
          <a:lstStyle/>
          <a:p>
            <a:pPr algn="ctr"/>
            <a:r>
              <a:rPr sz="1700" b="1">
                <a:solidFill>
                  <a:srgbClr val="FFFFFF"/>
                </a:solidFill>
                <a:latin typeface="Microsoft JhengHei"/>
              </a:rPr>
              <a:t>資料能回答什麼？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3703320"/>
            <a:ext cx="10332720" cy="91440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 wrap="square"/>
          <a:lstStyle/>
          <a:p>
            <a:pPr algn="ctr"/>
            <a:r>
              <a:rPr sz="2600" b="1">
                <a:solidFill>
                  <a:srgbClr val="193756"/>
                </a:solidFill>
                <a:latin typeface="Microsoft JhengHei"/>
              </a:rPr>
              <a:t>先理解資料，再決定要不要計算、畫圖、分析或請 AI 協助。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5074920"/>
            <a:ext cx="9875520" cy="64008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2100" b="1">
                <a:solidFill>
                  <a:srgbClr val="9B3A3A"/>
                </a:solidFill>
                <a:latin typeface="Microsoft JhengHei"/>
              </a:rPr>
              <a:t>Week 1：精確 ≠ 可靠　｜　Week 2：合理 ≠ 有根據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r"/>
            <a:r>
              <a:rPr sz="1000" b="0">
                <a:solidFill>
                  <a:srgbClr val="646E76"/>
                </a:solidFill>
                <a:latin typeface="Microsoft JhengHei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2800" b="1">
                <a:solidFill>
                  <a:srgbClr val="193756"/>
                </a:solidFill>
                <a:latin typeface="Microsoft JhengHei"/>
              </a:rPr>
              <a:t>M1 收束｜我們已經建立兩個基本習慣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932688"/>
            <a:ext cx="1143000" cy="45720"/>
          </a:xfrm>
          <a:prstGeom prst="rect">
            <a:avLst/>
          </a:prstGeom>
          <a:solidFill>
            <a:srgbClr val="C799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2960" y="1463040"/>
            <a:ext cx="5074920" cy="310896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 wrap="square"/>
          <a:lstStyle/>
          <a:p>
            <a:pPr algn="ctr"/>
            <a:r>
              <a:rPr sz="2300" b="1">
                <a:solidFill>
                  <a:srgbClr val="193756"/>
                </a:solidFill>
                <a:latin typeface="Microsoft JhengHei"/>
              </a:rPr>
              <a:t>Week 1
看見資料 → 提出問題
資料／AI 不可盲信
精確 ≠ 可靠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463040"/>
            <a:ext cx="5074920" cy="310896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 wrap="square"/>
          <a:lstStyle/>
          <a:p>
            <a:pPr algn="ctr"/>
            <a:r>
              <a:rPr sz="2300" b="1">
                <a:solidFill>
                  <a:srgbClr val="193756"/>
                </a:solidFill>
                <a:latin typeface="Microsoft JhengHei"/>
              </a:rPr>
              <a:t>Week 2
看懂資料 → 檢查品質
AI 不可自行補故事
合理 ≠ 有根據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" y="5120640"/>
            <a:ext cx="9966960" cy="594360"/>
          </a:xfrm>
          <a:prstGeom prst="roundRect">
            <a:avLst/>
          </a:prstGeom>
          <a:solidFill>
            <a:srgbClr val="316999"/>
          </a:solidFill>
          <a:ln>
            <a:solidFill>
              <a:srgbClr val="316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 wrap="square"/>
          <a:lstStyle/>
          <a:p>
            <a:pPr algn="ctr"/>
            <a:r>
              <a:rPr sz="2300" b="1">
                <a:solidFill>
                  <a:srgbClr val="FFFFFF"/>
                </a:solidFill>
                <a:latin typeface="Microsoft JhengHei"/>
              </a:rPr>
              <a:t>下一步：看懂資料之後，開始真正探索資料。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r"/>
            <a:r>
              <a:rPr sz="1000" b="0">
                <a:solidFill>
                  <a:srgbClr val="646E76"/>
                </a:solidFill>
                <a:latin typeface="Microsoft JhengHei"/>
              </a:rPr>
              <a:t>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