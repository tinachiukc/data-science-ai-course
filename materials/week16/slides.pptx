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107899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  <a:latin typeface="Microsoft JhengHei"/>
              </a:rPr>
              <a:t>資料科學與大數據分析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JhengHei"/>
              </a:rPr>
              <a:t>Week 16｜金融 × 資料 ×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1078992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900" b="0">
                <a:solidFill>
                  <a:srgbClr val="DEE8F0"/>
                </a:solidFill>
                <a:latin typeface="Microsoft JhengHei"/>
              </a:rPr>
              <a:t>學生作品成果發表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16052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用資料與 AI，提出有證據、有邊界、說得清楚的金融／商管判斷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今天不是再上一個新單元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747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646E76"/>
                </a:solidFill>
                <a:latin typeface="Microsoft JhengHei"/>
              </a:rPr>
              <a:t>不再新增
統計方法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280160"/>
            <a:ext cx="34747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646E76"/>
                </a:solidFill>
                <a:latin typeface="Microsoft JhengHei"/>
              </a:rPr>
              <a:t>不再新增
AI 工具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0144" y="1280160"/>
            <a:ext cx="34747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646E76"/>
                </a:solidFill>
                <a:latin typeface="Microsoft JhengHei"/>
              </a:rPr>
              <a:t>不再新增
程式技巧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3327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3100" b="1">
                <a:solidFill>
                  <a:srgbClr val="2D785A"/>
                </a:solidFill>
                <a:latin typeface="Microsoft JhengHei"/>
              </a:rPr>
              <a:t>今天要做的是：展示＋說明＋提問＋反思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92040"/>
            <a:ext cx="10332720" cy="5943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9B3A3A"/>
                </a:solidFill>
                <a:latin typeface="Microsoft JhengHei"/>
              </a:rPr>
              <a:t>把 Week 6～15 累積的能力正式組裝成作品。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成果發表不是「專題競賽」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143000"/>
          <a:ext cx="106527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080760"/>
              </a:tblGrid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不是比什麼？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真正要看什麼？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Python 多不多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問題能不能被資料回答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AI 用得多不多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AI 是否有揭露、查核與人類判斷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模型複不複雜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分析方法是否真的回答問題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資料量大不大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資料是否適合且來源清楚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簡報漂不漂亮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證據、邊界與溝通是否清楚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9B3A3A"/>
                </a:solidFill>
                <a:latin typeface="Microsoft JhengHei"/>
              </a:rPr>
              <a:t>複雜 ≠ 高分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作品題目｜金融與商管問題都可以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2900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93756"/>
                </a:solidFill>
                <a:latin typeface="Microsoft JhengHei"/>
              </a:rPr>
              <a:t>銀行與支付
信用卡、行動支付、電子支付、客戶行為、優惠活動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234440"/>
            <a:ext cx="342900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93756"/>
                </a:solidFill>
                <a:latin typeface="Microsoft JhengHei"/>
              </a:rPr>
              <a:t>投資與市場
ETF、市場成交、投資績效、金融商品比較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234440"/>
            <a:ext cx="342900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93756"/>
                </a:solidFill>
                <a:latin typeface="Microsoft JhengHei"/>
              </a:rPr>
              <a:t>金融風險
信用風險、防詐、交易異常、風險與報酬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54680"/>
            <a:ext cx="342900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2D785A"/>
                </a:solidFill>
                <a:latin typeface="Microsoft JhengHei"/>
              </a:rPr>
              <a:t>消費金融
消費行為、支付方式、金融服務使用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154680"/>
            <a:ext cx="342900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2D785A"/>
                </a:solidFill>
                <a:latin typeface="Microsoft JhengHei"/>
              </a:rPr>
              <a:t>FinTech
數位金融服務、AI 金融應用、平台資料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9B3A3A"/>
                </a:solidFill>
                <a:latin typeface="Microsoft JhengHei"/>
              </a:rPr>
              <a:t>重點不是題目多炫，而是：問題能不能被資料回答。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正式成果｜五張核心投影片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097280"/>
          <a:ext cx="108356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92440"/>
              </a:tblGrid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Slide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要回答的問題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1｜我的問題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我想回答什麼金融／商管問題？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2｜我的資料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資料從哪裡來？哪些欄位與範圍重要？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3｜我的分析與結果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我怎麼分析？看到什麼？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4｜我的判斷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Benchmark、意涵、限制／不確定性、目前建議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5｜我的 AI 協作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AI 幫了什麼？我查核什麼？哪個建議沒採用？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Slide 1｜我的問題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先說金融／商管情境，再說資料問題。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5074920" cy="15544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232A30"/>
                </a:solidFill>
                <a:latin typeface="Microsoft JhengHei"/>
              </a:rPr>
              <a:t>情境問題
銀行希望了解年輕客戶的支付行為。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560320"/>
            <a:ext cx="5074920" cy="15544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2D785A"/>
                </a:solidFill>
                <a:latin typeface="Microsoft JhengHei"/>
              </a:rPr>
              <a:t>資料問題
在本資料中，不同年齡層的行動支付使用比例是否不同？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1033272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000" b="1">
                <a:solidFill>
                  <a:srgbClr val="9B3A3A"/>
                </a:solidFill>
                <a:latin typeface="Microsoft JhengHei"/>
              </a:rPr>
              <a:t>想問 ≠ 能回答：問題要清楚到知道需要什麼資料。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Slide 2｜我的資料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3429000" cy="1188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93756"/>
                </a:solidFill>
                <a:latin typeface="Microsoft JhengHei"/>
              </a:rPr>
              <a:t>資料來源
政府／金融公開資訊／公開市場／課程／模擬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188720"/>
            <a:ext cx="3429000" cy="1188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資料期間
哪一年？哪幾個月？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188720"/>
            <a:ext cx="3429000" cy="1188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重要欄位
哪些真的回答問題？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033272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600" b="1">
                <a:solidFill>
                  <a:srgbClr val="9B3A3A"/>
                </a:solidFill>
                <a:latin typeface="Microsoft JhengHei"/>
              </a:rPr>
              <a:t>若使用模擬資料，必須清楚標示「模擬資料」。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97680"/>
            <a:ext cx="1033272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232A30"/>
                </a:solidFill>
                <a:latin typeface="Microsoft JhengHei"/>
              </a:rPr>
              <a:t>不要把模擬資料說成真實銀行客戶資料。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327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2D785A"/>
                </a:solidFill>
                <a:latin typeface="Microsoft JhengHei"/>
              </a:rPr>
              <a:t>資料多 ≠ 資料有用。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Slide 3｜我的分析與結果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5074920" cy="1920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我怎麼分析？
計數｜平均／中位數｜分組比較｜時間比較｜長條圖｜折線圖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34440"/>
            <a:ext cx="5074920" cy="1920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2D785A"/>
                </a:solidFill>
                <a:latin typeface="Microsoft JhengHei"/>
              </a:rPr>
              <a:t>我看到什麼？
用「資料顯示……」說明結果，不是「AI 說……」。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33272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600" b="1">
                <a:solidFill>
                  <a:srgbClr val="9B3A3A"/>
                </a:solidFill>
                <a:latin typeface="Microsoft JhengHei"/>
              </a:rPr>
              <a:t>分析方法要能提供回答原問題所需要的證據。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074920"/>
            <a:ext cx="10332720" cy="4572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有算 ≠ 有回答。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Slide 4｜我的判斷：整份作品最重要的一張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525780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1｜Benchmark
跟誰比？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25780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2｜金融／管理意涵
結果代表什麼？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54679"/>
            <a:ext cx="525780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2D785A"/>
                </a:solidFill>
                <a:latin typeface="Microsoft JhengHei"/>
              </a:rPr>
              <a:t>3｜限制／不確定性
目前還不能知道什麼？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154679"/>
            <a:ext cx="525780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2D785A"/>
                </a:solidFill>
                <a:latin typeface="Microsoft JhengHei"/>
              </a:rPr>
              <a:t>4｜目前建議
根據現有證據，我怎麼判斷？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9B3A3A"/>
                </a:solidFill>
                <a:latin typeface="Microsoft JhengHei"/>
              </a:rPr>
              <a:t>有證據、有比較、有邊界，才形成專業判斷。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Slide 5｜我的 AI 協作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188720"/>
          <a:ext cx="1083563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726679"/>
              </a:tblGrid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要回答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例子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AI 幫了什麼？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形成問題、建議資料、分析方法、解釋圖表、檢查結論、修改文字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我查核了什麼？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數字、來源、計算、推論、語氣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AI 哪裡有問題？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多收個資、無關分析、過度因果、假來源、語氣太強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哪個 AI 建議沒採用？為什麼？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用證據與課堂原則說明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9B3A3A"/>
                </a:solidFill>
                <a:latin typeface="Microsoft JhengHei"/>
              </a:rPr>
              <a:t>AI 用得多 ≠ AI 用得好。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作品附件｜AI 協作與查核紀錄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556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5669280"/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階段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AI 協助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我的查核／判斷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問題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建議問題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刪除不能由資料回答的問題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資料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建議欄位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刪除不必要個資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分析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建議方法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刪除無法回答問題的方法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結果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協助解釋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修正過度因果推論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來源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提供來源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回原始來源查核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溝通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協助改寫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刪除過強用語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口頭報告｜沿著一條清楚的線說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051560"/>
            <a:ext cx="10149840" cy="4892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2000" b="1">
                <a:solidFill>
                  <a:srgbClr val="193756"/>
                </a:solidFill>
                <a:latin typeface="Microsoft JhengHei"/>
              </a:rPr>
              <a:t>我們想知道……
我們使用……資料……
我們採用……方式分析……
我們發現……
和……比較之後……
這可能代表……
但是目前不能確定……
所以我們目前建議……
AI 在……協助我們，但……由我們自己查核／決定。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9B3A3A"/>
                </a:solidFill>
                <a:latin typeface="Microsoft JhengHei"/>
              </a:rPr>
              <a:t>說得清楚 ≠ 說得誇大。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建議發表時間與分工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5074920" cy="15087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900" b="1">
                <a:solidFill>
                  <a:srgbClr val="193756"/>
                </a:solidFill>
                <a:latin typeface="Microsoft JhengHei"/>
              </a:rPr>
              <a:t>每組報告
5～6 分鐘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34440"/>
            <a:ext cx="5074920" cy="15087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900" b="1">
                <a:solidFill>
                  <a:srgbClr val="2D785A"/>
                </a:solidFill>
                <a:latin typeface="Microsoft JhengHei"/>
              </a:rPr>
              <a:t>Q&amp;A
2～3 分鐘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300" b="1">
                <a:solidFill>
                  <a:srgbClr val="232A30"/>
                </a:solidFill>
                <a:latin typeface="Microsoft JhengHei"/>
              </a:rPr>
              <a:t>建議 2～4 人小組；每位成員都要能說明自己的參與。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103327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9B3A3A"/>
                </a:solidFill>
                <a:latin typeface="Microsoft JhengHei"/>
              </a:rPr>
              <a:t>每位學生另交「個人 AI 協作反思單」，保留個人學習證據。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Q&amp;A｜不是抓錯，而是檢查證據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74720" cy="2057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A｜證據問題
你這個判斷是根據哪個資料？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417320"/>
            <a:ext cx="3474720" cy="2057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B｜邊界問題
目前還缺什麼資料？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417320"/>
            <a:ext cx="3474720" cy="2057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D785A"/>
                </a:solidFill>
                <a:latin typeface="Microsoft JhengHei"/>
              </a:rPr>
              <a:t>C｜AI 問題
AI 幫了什麼？你怎麼確認它沒有說錯？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33272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500" b="1">
                <a:solidFill>
                  <a:srgbClr val="9B3A3A"/>
                </a:solidFill>
                <a:latin typeface="Microsoft JhengHei"/>
              </a:rPr>
              <a:t>能回答「不知道／目前不足以判斷」也可以是專業答案。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232A30"/>
                </a:solidFill>
                <a:latin typeface="Microsoft JhengHei"/>
              </a:rPr>
              <a:t>前提是能說明還缺什麼證據。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同儕也要參與｜成果發表觀察卡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80160"/>
          <a:ext cx="103327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589520"/>
              </a:tblGrid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我聽什麼？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我要記什麼？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問題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我聽懂的金融／商管問題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證據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我覺得最有證據的一個發現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提問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我還想問的一件事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這組有沒有說明 AI 怎麼使用與查核？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400" b="1">
                <a:solidFill>
                  <a:srgbClr val="2D785A"/>
                </a:solidFill>
                <a:latin typeface="Microsoft JhengHei"/>
              </a:rPr>
              <a:t>台下不是等待上台，而是繼續練習資料判讀。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成果發表 Rubric｜100 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051560"/>
          <a:ext cx="850392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2103120"/>
              </a:tblGrid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評量面向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配分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問題定義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15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資料選擇與來源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分析方法與結果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20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證據、Benchmark 與金融／管理判斷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AI 協作與查核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20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溝通與回答問題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總分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100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AI 使用規則｜允許，而且鼓勵；但必須負責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25780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1｜揭露
用了什麼？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34440"/>
            <a:ext cx="525780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2｜查核
不能直接相信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08960"/>
            <a:ext cx="525780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2D785A"/>
                </a:solidFill>
                <a:latin typeface="Microsoft JhengHei"/>
              </a:rPr>
              <a:t>3｜負責
最後內容由學生確認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108960"/>
            <a:ext cx="525780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2D785A"/>
                </a:solidFill>
                <a:latin typeface="Microsoft JhengHei"/>
              </a:rPr>
              <a:t>4｜能說明
問到圖／結論時，學生能解釋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1065276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400" b="1">
                <a:solidFill>
                  <a:srgbClr val="9B3A3A"/>
                </a:solidFill>
                <a:latin typeface="Microsoft JhengHei"/>
              </a:rPr>
              <a:t>無法說明的 AI 產出，不視為已完成的個人學習成果。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最後一張｜你要展示的不是「AI 有多厲害」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10332720" cy="7315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193756"/>
                </a:solidFill>
                <a:latin typeface="Microsoft JhengHei"/>
              </a:rPr>
              <a:t>而是：你怎麼成為一個能對資料分析負責的人。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2316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看懂資料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242316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問對問題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59" y="242316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找對資料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42316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選對分析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242316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D785A"/>
                </a:solidFill>
                <a:latin typeface="Microsoft JhengHei"/>
              </a:rPr>
              <a:t>查核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D785A"/>
                </a:solidFill>
                <a:latin typeface="Microsoft JhengHei"/>
              </a:rPr>
              <a:t>比較 Benchmark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365760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D785A"/>
                </a:solidFill>
                <a:latin typeface="Microsoft JhengHei"/>
              </a:rPr>
              <a:t>權衡風險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365760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D785A"/>
                </a:solidFill>
                <a:latin typeface="Microsoft JhengHei"/>
              </a:rPr>
              <a:t>查來源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65760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D785A"/>
                </a:solidFill>
                <a:latin typeface="Microsoft JhengHei"/>
              </a:rPr>
              <a:t>負責任溝通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100" b="1">
                <a:solidFill>
                  <a:srgbClr val="9B3A3A"/>
                </a:solidFill>
                <a:latin typeface="Microsoft JhengHei"/>
              </a:rPr>
              <a:t>Week 16｜我能完成並說明一個「金融 × 資料 × AI」作品。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