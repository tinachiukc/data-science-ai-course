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300" b="0">
                <a:solidFill>
                  <a:srgbClr val="FFFFFF"/>
                </a:solidFill>
                <a:latin typeface="Microsoft JhengHei"/>
              </a:rPr>
              <a:t>資料科學與大數據分析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64208"/>
            <a:ext cx="107899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icrosoft JhengHei"/>
              </a:rPr>
              <a:t>Week 12｜沒有完美答案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700" b="0">
                <a:solidFill>
                  <a:srgbClr val="DEE8F0"/>
                </a:solidFill>
                <a:latin typeface="Microsoft JhengHei"/>
              </a:rPr>
              <a:t>風險、權衡與不確定性下的金融決策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10789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當沒有一個方案在所有方面都最好時，我們怎麼做決定？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M4 三週整合｜從證據走到有條件的決策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5120640"/>
              </a:tblGrid>
              <a:tr h="937259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週次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核心句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決策問題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937259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有證據 ≠ 能決策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我要用什麼準則？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937259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有數字 ≠ 有意義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我要跟什麼比較？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3726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12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最佳 ≠ 無風險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我願意接受什麼權衡與不確定性？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39496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9B3A3A"/>
                </a:solidFill>
                <a:latin typeface="Microsoft JhengHei"/>
              </a:rPr>
              <a:t>證據＋準則＋Benchmark＋風險＋權衡＋不確定性 → 有邊界的決策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開場｜如果你有 100 萬元，哪個方案最好？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280160"/>
          <a:ext cx="1033272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212080"/>
                <a:gridCol w="3108960"/>
              </a:tblGrid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一年後可能結果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第一印象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約 103 萬，結果相對穩定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約 90～125 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約 70～150 萬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32A30"/>
                          </a:solidFill>
                          <a:latin typeface="Microsoft JhengHei"/>
                        </a:rPr>
                        <a:t>？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5029200"/>
            <a:ext cx="1033272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500" b="1">
                <a:solidFill>
                  <a:srgbClr val="9B3A3A"/>
                </a:solidFill>
                <a:latin typeface="Microsoft JhengHei"/>
              </a:rPr>
              <a:t>有人選 A、有人選 B、有人選 C——為什麼？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1｜權衡（Trade-off）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得到某些好處的同時，可能必須接受其他代價。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34290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報酬 ↔ 風險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606040"/>
            <a:ext cx="34290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成長 ↔ 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2606040"/>
            <a:ext cx="34290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核准率 ↔ 違約風險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94760"/>
            <a:ext cx="34290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防詐嚴格 ↔ 客戶便利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794760"/>
            <a:ext cx="34290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32A30"/>
                </a:solidFill>
                <a:latin typeface="Microsoft JhengHei"/>
              </a:rPr>
              <a:t>優惠力度 ↔ 活動成本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700" b="1">
                <a:solidFill>
                  <a:srgbClr val="9B3A3A"/>
                </a:solidFill>
                <a:latin typeface="Microsoft JhengHei"/>
              </a:rPr>
              <a:t>決策不是找「每個指標都贏」的答案，而是在重要目標之間取捨。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2｜風險（Risk）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實際結果可能比我們希望的結果差。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43200"/>
            <a:ext cx="2560320" cy="13258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投資
價格可能下跌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743200"/>
            <a:ext cx="2560320" cy="13258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貸款
客戶可能違約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2743200"/>
            <a:ext cx="2560320" cy="13258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信用卡
交易可能是詐欺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743200"/>
            <a:ext cx="2560320" cy="13258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232A30"/>
                </a:solidFill>
                <a:latin typeface="Microsoft JhengHei"/>
              </a:rPr>
              <a:t>促銷
成本可能高於新增收益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9B3A3A"/>
                </a:solidFill>
                <a:latin typeface="Microsoft JhengHei"/>
              </a:rPr>
              <a:t>風險 ≠ 壞事一定發生；風險是存在不利結果的可能。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3｜不確定性（Uncertainty）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8686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>
                <a:solidFill>
                  <a:srgbClr val="193756"/>
                </a:solidFill>
                <a:latin typeface="Microsoft JhengHei"/>
              </a:rPr>
              <a:t>我們無法完全知道未來會發生什麼。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0749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32A30"/>
                </a:solidFill>
                <a:latin typeface="Microsoft JhengHei"/>
              </a:rPr>
              <a:t>風險 Risk
知道有不利結果的可能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43200"/>
            <a:ext cx="5074920" cy="15087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232A30"/>
                </a:solidFill>
                <a:latin typeface="Microsoft JhengHei"/>
              </a:rPr>
              <a:t>不確定性 Uncertainty
無法完全知道結果會如何發展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2D785A"/>
                </a:solidFill>
                <a:latin typeface="Microsoft JhengHei"/>
              </a:rPr>
              <a:t>資料可以降低部分不確定性，但不能把未來變成確定。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時代尤其要記得｜預測 ≠ 未來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10972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「模型／AI 預測方案 A 未來將帶來……」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3100" b="1">
                <a:solidFill>
                  <a:srgbClr val="9B3A3A"/>
                </a:solidFill>
                <a:latin typeface="Microsoft JhengHei"/>
              </a:rPr>
              <a:t>預測是決策資訊，不是未來保證。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4340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2D785A"/>
                </a:solidFill>
                <a:latin typeface="Microsoft JhengHei"/>
              </a:rPr>
              <a:t>要追問：預測依據什麼資料？哪些條件可能改變？如果結果不如預期呢？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12 核心句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332720" cy="13258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9B3A3A"/>
                </a:solidFill>
                <a:latin typeface="Microsoft JhengHei"/>
              </a:rPr>
              <a:t>最佳 ≠ 無風險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資料可以幫助我們做決策，但不能消除未來的不確定性。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327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800" b="1">
                <a:solidFill>
                  <a:srgbClr val="2D785A"/>
                </a:solidFill>
                <a:latin typeface="Microsoft JhengHei"/>
              </a:rPr>
              <a:t>好的決策不是「保證不會錯」，而是知道自己接受了什麼風險與代價。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主要案例｜銀行防詐策略：越嚴格越好嗎？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377440"/>
                <a:gridCol w="2377440"/>
                <a:gridCol w="2377440"/>
              </a:tblGrid>
              <a:tr h="84124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 A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 B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 C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攔截可疑交易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70%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85%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95%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正常交易被誤擋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每月作業成本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20 萬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35 萬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60 萬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客戶申訴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15 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38 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95 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53212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500" b="1">
                <a:solidFill>
                  <a:srgbClr val="9B3A3A"/>
                </a:solidFill>
                <a:latin typeface="Microsoft JhengHei"/>
              </a:rPr>
              <a:t>如果只看「攔截率」，C 最好；但決策真的只看這一個指標嗎？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每個方案都「贏」在不同地方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34440"/>
          <a:ext cx="106527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89120"/>
                <a:gridCol w="4434840"/>
              </a:tblGrid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代價／風險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誤擋低、成本低、申訴少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攔截效果較弱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攔截效果提高，代價居中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仍有誤擋與成本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攔截率最高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誤擋、成本、申訴都最高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4068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先看 Trade-off，再談「選哪個」。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核心工具｜決策權衡四問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① 我得到什麼？
Benefit｜好處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2588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② 我要付出什麼？
Cost｜代價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0040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③ 我可能承擔什麼風險？
Risk｜不利結果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00400"/>
            <a:ext cx="5257800" cy="14173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900" b="1">
                <a:solidFill>
                  <a:srgbClr val="193756"/>
                </a:solidFill>
                <a:latin typeface="Microsoft JhengHei"/>
              </a:rPr>
              <a:t>④ 哪些事情目前還不知道？
Uncertainty｜未知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好處 → 代價 → 風險 → 未知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1｜先不要選方案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33272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請先完成每個方案的「優點／代價／風險」，再決定。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22860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3108960"/>
                <a:gridCol w="3291840"/>
              </a:tblGrid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我得到什麼？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我要付出什麼？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可能風險／未知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2｜角色不同，願意接受的 Trade-off 也不同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280160"/>
          <a:ext cx="10058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5760720"/>
              </a:tblGrid>
              <a:tr h="7680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可能比較重視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風控主管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詐欺攔截、損失控制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客服主管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誤擋、申訴、客戶體驗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財務主管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成本、效益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高階主管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32A30"/>
                          </a:solidFill>
                          <a:latin typeface="Microsoft JhengHei"/>
                        </a:rPr>
                        <a:t>多項目標的整體權衡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394960"/>
            <a:ext cx="10332720" cy="5029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900" b="1">
                <a:solidFill>
                  <a:srgbClr val="9B3A3A"/>
                </a:solidFill>
                <a:latin typeface="Microsoft JhengHei"/>
              </a:rPr>
              <a:t>沒有角色可以只看自己最在意的一個數字就結束。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兩種錯都叫「錯」，但代價可能不同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錯誤 A
詐欺交易沒有攔到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25880"/>
            <a:ext cx="50749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錯誤 B
正常交易被誤擋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400" b="1">
                <a:solidFill>
                  <a:srgbClr val="232A30"/>
                </a:solidFill>
                <a:latin typeface="Microsoft JhengHei"/>
              </a:rPr>
              <a:t>哪一種錯比較嚴重？不能只靠「準不準」回答。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00600"/>
            <a:ext cx="1033272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還要問：錯的時候，對銀行與客戶造成什麼後果？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本週不需要機器學習術語，也能做重要判斷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8229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9B3A3A"/>
                </a:solidFill>
                <a:latin typeface="Microsoft JhengHei"/>
              </a:rPr>
              <a:t>我們不教：False Positive、False Negative、Precision、Recall。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10058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193756"/>
                </a:solidFill>
                <a:latin typeface="Microsoft JhengHei"/>
              </a:rPr>
              <a:t>只建立一個金融現場很重要的習慣：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069080"/>
            <a:ext cx="1033272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900" b="1">
                <a:solidFill>
                  <a:srgbClr val="2D785A"/>
                </a:solidFill>
                <a:latin typeface="Microsoft JhengHei"/>
              </a:rPr>
              <a:t>不是只問「準不準」，還要問「錯的代價是什麼」。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第二案例｜貸款核准：越保守越安全嗎？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234440"/>
          <a:ext cx="10332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560320"/>
                <a:gridCol w="2834640"/>
                <a:gridCol w="2834640"/>
              </a:tblGrid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方案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核准率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預估違約率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預估收益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A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35%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1.5%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低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3.5%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C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80%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7.0%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32A30"/>
                          </a:solidFill>
                          <a:latin typeface="Microsoft JhengHei"/>
                        </a:rPr>
                        <a:t>高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800600"/>
            <a:ext cx="10332720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193756"/>
                </a:solidFill>
                <a:latin typeface="Microsoft JhengHei"/>
              </a:rPr>
              <a:t>A 風險低但可能放棄業務；C 收益機會高但違約風險也高。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23560"/>
            <a:ext cx="10332720" cy="320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400" b="1">
                <a:solidFill>
                  <a:srgbClr val="9B3A3A"/>
                </a:solidFill>
                <a:latin typeface="Microsoft JhengHei"/>
              </a:rPr>
              <a:t>又是一個權衡，而不是找唯一最大值。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第三案例｜同樣是投資，不同人一定選一樣嗎？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5074920" cy="17373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投資 A
預期報酬 6%
可能範圍 4%～8%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280160"/>
            <a:ext cx="5074920" cy="17373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投資 B
預期報酬 12%
可能範圍 −10%～25%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500" b="1">
                <a:solidFill>
                  <a:srgbClr val="9B3A3A"/>
                </a:solidFill>
                <a:latin typeface="Microsoft JhengHei"/>
              </a:rPr>
              <a:t>退休族與 25 歲投資人一定會做相同選擇嗎？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57200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2D785A"/>
                </a:solidFill>
                <a:latin typeface="Microsoft JhengHei"/>
              </a:rPr>
              <a:t>決策還和需求、期限與風險承受程度有關。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Week 12 AI｜先請 AI 選一個防詐方案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698480" cy="28803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600" b="0">
                <a:solidFill>
                  <a:srgbClr val="232A30"/>
                </a:solidFill>
                <a:latin typeface="Microsoft JhengHei"/>
              </a:rPr>
              <a:t>提示語 1
銀行有三個信用卡防詐方案：A 攔截可疑交易 70%、正常交易誤擋 2%、每月成本 20 萬元、客戶申訴 15 件；B 分別為 85%、6%、35 萬元、38 件；C 為 95%、15%、60 萬元、95 件。請選一個方案並說明理由。不要自行加入題目沒有提供的資料。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193756"/>
                </a:solidFill>
                <a:latin typeface="Microsoft JhengHei"/>
              </a:rPr>
              <a:t>先用 Week 10 的 AI 決策查核四問檢查它。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再升一級｜要求 AI 反駁自己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80160"/>
            <a:ext cx="10561320" cy="13258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193756"/>
                </a:solidFill>
                <a:latin typeface="Microsoft JhengHei"/>
              </a:rPr>
              <a:t>提示語 2
「請站在反對你剛才建議的立場，指出至少三個可能的風險、代價或你沒有充分考慮的因素。」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37560"/>
            <a:ext cx="10332720" cy="73152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600" b="1">
                <a:solidFill>
                  <a:srgbClr val="2D785A"/>
                </a:solidFill>
                <a:latin typeface="Microsoft JhengHei"/>
              </a:rPr>
              <a:t>AI 不只是答案產生器，也可以成為「反方挑戰者」。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434840"/>
            <a:ext cx="103327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目的不是叫 AI 自相矛盾，而是逼出原建議可能忽略的面向。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AI 協作能力｜M4 的成熟版本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43000"/>
          <a:ext cx="10835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00400"/>
                <a:gridCol w="553212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階段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AI 角色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學生的工作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解說者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理解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分析助手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使用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M3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被查核的分析助手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驗證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M4 W10–11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決策助手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質疑準則與 Benchmark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M4 W12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決策助手＋反方挑戰者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32A30"/>
                          </a:solidFill>
                          <a:latin typeface="Microsoft JhengHei"/>
                        </a:rPr>
                        <a:t>比較正反證據與 Trade-off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學生任務 3｜先支持，再反對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000" b="1">
                <a:solidFill>
                  <a:srgbClr val="193756"/>
                </a:solidFill>
                <a:latin typeface="Microsoft JhengHei"/>
              </a:rPr>
              <a:t>第一段｜我支持 ______ 方案，因為……（必須引用資料證據）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000" b="1">
                <a:solidFill>
                  <a:srgbClr val="9B3A3A"/>
                </a:solidFill>
                <a:latin typeface="Microsoft JhengHei"/>
              </a:rPr>
              <a:t>第二段｜但反對這個方案的人可能會說……（至少兩項）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29000"/>
            <a:ext cx="10561320" cy="7772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000" b="1">
                <a:solidFill>
                  <a:srgbClr val="2D785A"/>
                </a:solidFill>
                <a:latin typeface="Microsoft JhengHei"/>
              </a:rPr>
              <a:t>第三段｜因此，我目前的判斷是……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32720" cy="6858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300" b="1">
                <a:solidFill>
                  <a:srgbClr val="232A30"/>
                </a:solidFill>
                <a:latin typeface="Microsoft JhengHei"/>
              </a:rPr>
              <a:t>目標：從「我選 B」升級成「在什麼條件下，我支持 B」。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核心概念 4｜有條件的建議（Conditional Recommendation）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61320" cy="100584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700" b="1">
                <a:solidFill>
                  <a:srgbClr val="9B3A3A"/>
                </a:solidFill>
                <a:latin typeface="Microsoft JhengHei"/>
              </a:rPr>
              <a:t>不是：「B 是最佳方案。」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97480"/>
            <a:ext cx="10561320" cy="1828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而是：
「如果銀行目前最重視在提升防詐效果的同時控制誤擋與成本，我會優先考慮 B；但若詐欺損失突然大幅增加，決策準則可能需要重新調整。」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800" b="1">
                <a:solidFill>
                  <a:srgbClr val="2D785A"/>
                </a:solidFill>
                <a:latin typeface="Microsoft JhengHei"/>
              </a:rPr>
              <a:t>把「條件」說清楚，判斷才有邊界。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學生可以直接使用的決策句型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25880"/>
            <a:ext cx="10332720" cy="292608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300" b="1">
                <a:solidFill>
                  <a:srgbClr val="193756"/>
                </a:solidFill>
                <a:latin typeface="Microsoft JhengHei"/>
              </a:rPr>
              <a:t>如果 __________________________，
而且目前資料顯示 __________________________，
我目前會支持 __________________；
但如果 __________________ 改變，我會重新評估。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00600"/>
            <a:ext cx="1033272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100" b="1">
                <a:solidFill>
                  <a:srgbClr val="9B3A3A"/>
                </a:solidFill>
                <a:latin typeface="Microsoft JhengHei"/>
              </a:rPr>
              <a:t>這不是模稜兩可，而是把決策成立的條件說清楚。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W16 第六步｜作品加入「限制／不確定性」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11567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737360"/>
                <a:gridCol w="1645920"/>
                <a:gridCol w="1965960"/>
              </a:tblGrid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問題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分析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Benchmark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意涵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限制／不確定性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W6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W7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W8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W11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W10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32A30"/>
                          </a:solidFill>
                          <a:latin typeface="Microsoft JhengHei"/>
                        </a:rPr>
                        <a:t>Week 12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794760"/>
            <a:ext cx="10561320" cy="105156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193756"/>
                </a:solidFill>
                <a:latin typeface="Microsoft JhengHei"/>
              </a:rPr>
              <a:t>學生最後一定要回答：
「我的分析還不能告訴我們什麼？」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600" b="1">
                <a:solidFill>
                  <a:srgbClr val="2D785A"/>
                </a:solidFill>
                <a:latin typeface="Microsoft JhengHei"/>
              </a:rPr>
              <a:t>限制不是報告的缺點清單，而是負責任地界定結論。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本週最小學習產出｜風險—權衡決策卡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51560"/>
          <a:ext cx="109728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680960"/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欄位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我的內容</a:t>
                      </a:r>
                    </a:p>
                  </a:txBody>
                  <a:tcPr anchor="ctr">
                    <a:solidFill>
                      <a:srgbClr val="193756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決策問題／方案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最重視的準則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好處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代價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可能風險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目前不知道的事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AI 建議／反方意見</a:t>
                      </a:r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EFF5F9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A30"/>
                          </a:solidFill>
                          <a:latin typeface="Microsoft JhengHei"/>
                        </a:rPr>
                        <a:t>我的有條件建議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快速檢核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Q1｜防詐攔截率最高的方案，一定是最佳方案。　○ 對　○ 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84832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Q2｜風險是：A 壞事一定發生　B 存在不利結果的可能　C 資料一定錯　D AI 一定失敗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26664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Q3｜資料分析可以完全消除未來不確定性。　○ 對　○ 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68496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Q4｜方案各有優缺點時：A 只看最大值　B 讓 AI 決定　C 依準則權衡　D 選最貴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10328"/>
            <a:ext cx="10698480" cy="6858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193756"/>
                </a:solidFill>
                <a:latin typeface="Microsoft JhengHei"/>
              </a:rPr>
              <a:t>Q5｜要求 AI 反駁自己的建議，可以幫助我們看到什麼？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本週刻意不教｜重週 ≠ 技術更多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期望值公式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98648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機率分布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02936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變異數／標準差計算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7224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Value at Risk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11512" y="132588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Sharpe Ratio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效用函數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Decision Tree 演算法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Confusion Matrix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7224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Precision / Recall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11512" y="2651760"/>
            <a:ext cx="2057400" cy="91440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32A30"/>
                </a:solidFill>
                <a:latin typeface="Microsoft JhengHei"/>
              </a:rPr>
              <a:t>最佳化模型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000" b="1">
                <a:solidFill>
                  <a:srgbClr val="193756"/>
                </a:solidFill>
                <a:latin typeface="Microsoft JhengHei"/>
              </a:rPr>
              <a:t>這週的「重」在於：學生必須同時處理彼此衝突的證據，並說明自己願意接受什麼代價、風險與未知。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943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800" b="1">
                <a:solidFill>
                  <a:srgbClr val="193756"/>
                </a:solidFill>
                <a:latin typeface="Microsoft JhengHei"/>
              </a:rPr>
              <a:t>M4 收束｜證據 → 比較 → 權衡 → 有條件的決策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914400"/>
            <a:ext cx="1143000" cy="45720"/>
          </a:xfrm>
          <a:prstGeom prst="rect">
            <a:avLst/>
          </a:prstGeom>
          <a:solidFill>
            <a:srgbClr val="C79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Week 10｜有證據 ≠ 能決策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40280"/>
            <a:ext cx="103327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193756"/>
                </a:solidFill>
                <a:latin typeface="Microsoft JhengHei"/>
              </a:rPr>
              <a:t>Week 11｜有數字 ≠ 有意義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46120"/>
            <a:ext cx="10332720" cy="731520"/>
          </a:xfrm>
          <a:prstGeom prst="roundRect">
            <a:avLst/>
          </a:prstGeom>
          <a:solidFill>
            <a:srgbClr val="EFF5F9"/>
          </a:solidFill>
          <a:ln>
            <a:solidFill>
              <a:srgbClr val="EF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9B3A3A"/>
                </a:solidFill>
                <a:latin typeface="Microsoft JhengHei"/>
              </a:rPr>
              <a:t>Week 12｜最佳 ≠ 無風險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8686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2200" b="1">
                <a:solidFill>
                  <a:srgbClr val="2D785A"/>
                </a:solidFill>
                <a:latin typeface="Microsoft JhengHei"/>
              </a:rPr>
              <a:t>好的金融資料判斷：說得出我為什麼這樣選，也說得出我的判斷在什麼條件下才成立。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201168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/>
            <a:r>
              <a:rPr sz="1000" b="0">
                <a:solidFill>
                  <a:srgbClr val="646E76"/>
                </a:solidFill>
                <a:latin typeface="Microsoft JhengHei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