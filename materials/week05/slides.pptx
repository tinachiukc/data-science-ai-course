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37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051560"/>
            <a:ext cx="10789920" cy="45720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l"/>
            <a:r>
              <a:rPr sz="2300" b="0">
                <a:solidFill>
                  <a:srgbClr val="FFFFFF"/>
                </a:solidFill>
                <a:latin typeface="Microsoft JhengHei"/>
              </a:rPr>
              <a:t>資料科學與大數據分析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83080"/>
            <a:ext cx="10789920" cy="91440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Microsoft JhengHei"/>
              </a:rPr>
              <a:t>Week 5｜AI 說得對嗎？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788920"/>
            <a:ext cx="10789920" cy="59436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l"/>
            <a:r>
              <a:rPr sz="2700" b="0">
                <a:solidFill>
                  <a:srgbClr val="DEE8F0"/>
                </a:solidFill>
                <a:latin typeface="Microsoft JhengHei"/>
              </a:rPr>
              <a:t>資料分析結果的查核與驗證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4069080"/>
            <a:ext cx="106984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2500" b="1">
                <a:solidFill>
                  <a:srgbClr val="193756"/>
                </a:solidFill>
                <a:latin typeface="Microsoft JhengHei"/>
              </a:rPr>
              <a:t>AI 給我一份看起來很專業的分析，我怎麼知道它是對的？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Week 5｜第一次把前四週能力組裝起來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1645920" cy="658368"/>
          </a:xfrm>
          <a:prstGeom prst="roundRect">
            <a:avLst/>
          </a:prstGeom>
          <a:solidFill>
            <a:srgbClr val="316999"/>
          </a:solidFill>
          <a:ln>
            <a:solidFill>
              <a:srgbClr val="316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W1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97480" y="1234440"/>
            <a:ext cx="8503920" cy="658368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2000" b="1">
                <a:solidFill>
                  <a:srgbClr val="193756"/>
                </a:solidFill>
                <a:latin typeface="Microsoft JhengHei"/>
              </a:rPr>
              <a:t>精確 ≠ 可靠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1645920" cy="658368"/>
          </a:xfrm>
          <a:prstGeom prst="roundRect">
            <a:avLst/>
          </a:prstGeom>
          <a:solidFill>
            <a:srgbClr val="316999"/>
          </a:solidFill>
          <a:ln>
            <a:solidFill>
              <a:srgbClr val="316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W2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2148840"/>
            <a:ext cx="8503920" cy="658368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2000" b="1">
                <a:solidFill>
                  <a:srgbClr val="193756"/>
                </a:solidFill>
                <a:latin typeface="Microsoft JhengHei"/>
              </a:rPr>
              <a:t>合理 ≠ 有根據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63240"/>
            <a:ext cx="1645920" cy="658368"/>
          </a:xfrm>
          <a:prstGeom prst="roundRect">
            <a:avLst/>
          </a:prstGeom>
          <a:solidFill>
            <a:srgbClr val="316999"/>
          </a:solidFill>
          <a:ln>
            <a:solidFill>
              <a:srgbClr val="316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W3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3063240"/>
            <a:ext cx="8503920" cy="658368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2000" b="1">
                <a:solidFill>
                  <a:srgbClr val="193756"/>
                </a:solidFill>
                <a:latin typeface="Microsoft JhengHei"/>
              </a:rPr>
              <a:t>看到差異 ≠ 找到原因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77639"/>
            <a:ext cx="1645920" cy="658368"/>
          </a:xfrm>
          <a:prstGeom prst="roundRect">
            <a:avLst/>
          </a:prstGeom>
          <a:solidFill>
            <a:srgbClr val="316999"/>
          </a:solidFill>
          <a:ln>
            <a:solidFill>
              <a:srgbClr val="316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W4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97480" y="3977639"/>
            <a:ext cx="8503920" cy="658368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2000" b="1">
                <a:solidFill>
                  <a:srgbClr val="193756"/>
                </a:solidFill>
                <a:latin typeface="Microsoft JhengHei"/>
              </a:rPr>
              <a:t>平均 ≠ 典型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892040"/>
            <a:ext cx="1645920" cy="658368"/>
          </a:xfrm>
          <a:prstGeom prst="roundRect">
            <a:avLst/>
          </a:prstGeom>
          <a:solidFill>
            <a:srgbClr val="316999"/>
          </a:solidFill>
          <a:ln>
            <a:solidFill>
              <a:srgbClr val="316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W5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97480" y="4892040"/>
            <a:ext cx="8503920" cy="658368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2000" b="1">
                <a:solidFill>
                  <a:srgbClr val="193756"/>
                </a:solidFill>
                <a:latin typeface="Microsoft JhengHei"/>
              </a:rPr>
              <a:t>AI 分析 ≠ 分析證據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開場｜這份 AI 報告看起來很專業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280160"/>
            <a:ext cx="10652760" cy="32918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l"/>
            <a:r>
              <a:rPr sz="2000" b="0">
                <a:solidFill>
                  <a:srgbClr val="232A30"/>
                </a:solidFill>
                <a:latin typeface="Microsoft JhengHei"/>
              </a:rPr>
              <a:t>根據資料，使用優惠的客戶平均消費金額較高，因此可以確認優惠活動有效提升消費。此外，19～22歲客戶明顯偏好行動支付，顯示年輕消費者接受金融科技的程度較高。由於平均消費金額為1,850元，可推論大多數客戶每次消費約為1,850元。因此建議公司增加年輕客戶的優惠預算，預期可提高營收約20%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983480"/>
            <a:ext cx="10332720" cy="77724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ctr"/>
            <a:r>
              <a:rPr sz="2900" b="1">
                <a:solidFill>
                  <a:srgbClr val="9B3A3A"/>
                </a:solidFill>
                <a:latin typeface="Microsoft JhengHei"/>
              </a:rPr>
              <a:t>哪一句，你最先想查？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今天不是「抓 AI 犯錯大會」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417320"/>
            <a:ext cx="10332720" cy="10515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2900" b="1">
                <a:solidFill>
                  <a:srgbClr val="193756"/>
                </a:solidFill>
                <a:latin typeface="Microsoft JhengHei"/>
              </a:rPr>
              <a:t>AI 的答案不是終點，而是一份需要被驗證的分析草稿。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063240"/>
            <a:ext cx="3154680" cy="13716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2200" b="1">
                <a:solidFill>
                  <a:srgbClr val="193756"/>
                </a:solidFill>
                <a:latin typeface="Microsoft JhengHei"/>
              </a:rPr>
              <a:t>AI
提出答案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3063240"/>
            <a:ext cx="3154680" cy="13716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2200" b="1">
                <a:solidFill>
                  <a:srgbClr val="2D785A"/>
                </a:solidFill>
                <a:latin typeface="Microsoft JhengHei"/>
              </a:rPr>
              <a:t>人
確認證據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3063240"/>
            <a:ext cx="3154680" cy="13716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2200" b="1">
                <a:solidFill>
                  <a:srgbClr val="9B3A3A"/>
                </a:solidFill>
                <a:latin typeface="Microsoft JhengHei"/>
              </a:rPr>
              <a:t>最後
形成判斷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核心工具｜AI 資料分析「五查」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188720"/>
            <a:ext cx="1417320" cy="685800"/>
          </a:xfrm>
          <a:prstGeom prst="roundRect">
            <a:avLst/>
          </a:prstGeom>
          <a:solidFill>
            <a:srgbClr val="316999"/>
          </a:solidFill>
          <a:ln>
            <a:solidFill>
              <a:srgbClr val="316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第一查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1188720"/>
            <a:ext cx="182880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1800" b="1">
                <a:solidFill>
                  <a:srgbClr val="193756"/>
                </a:solidFill>
                <a:latin typeface="Microsoft JhengHei"/>
              </a:rPr>
              <a:t>查資料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188720"/>
            <a:ext cx="717804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l"/>
            <a:r>
              <a:rPr sz="1800" b="0">
                <a:solidFill>
                  <a:srgbClr val="232A30"/>
                </a:solidFill>
                <a:latin typeface="Microsoft JhengHei"/>
              </a:rPr>
              <a:t>AI 用的資料真的存在嗎？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1417320" cy="685800"/>
          </a:xfrm>
          <a:prstGeom prst="roundRect">
            <a:avLst/>
          </a:prstGeom>
          <a:solidFill>
            <a:srgbClr val="316999"/>
          </a:solidFill>
          <a:ln>
            <a:solidFill>
              <a:srgbClr val="316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第二查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2148840"/>
            <a:ext cx="182880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1800" b="1">
                <a:solidFill>
                  <a:srgbClr val="193756"/>
                </a:solidFill>
                <a:latin typeface="Microsoft JhengHei"/>
              </a:rPr>
              <a:t>查計算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148840"/>
            <a:ext cx="717804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l"/>
            <a:r>
              <a:rPr sz="1800" b="0">
                <a:solidFill>
                  <a:srgbClr val="232A30"/>
                </a:solidFill>
                <a:latin typeface="Microsoft JhengHei"/>
              </a:rPr>
              <a:t>數字真的算對嗎？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108960"/>
            <a:ext cx="1417320" cy="685800"/>
          </a:xfrm>
          <a:prstGeom prst="roundRect">
            <a:avLst/>
          </a:prstGeom>
          <a:solidFill>
            <a:srgbClr val="316999"/>
          </a:solidFill>
          <a:ln>
            <a:solidFill>
              <a:srgbClr val="316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第三查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86000" y="3108960"/>
            <a:ext cx="182880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1800" b="1">
                <a:solidFill>
                  <a:srgbClr val="193756"/>
                </a:solidFill>
                <a:latin typeface="Microsoft JhengHei"/>
              </a:rPr>
              <a:t>查解釋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3108960"/>
            <a:ext cx="717804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l"/>
            <a:r>
              <a:rPr sz="1800" b="0">
                <a:solidFill>
                  <a:srgbClr val="232A30"/>
                </a:solidFill>
                <a:latin typeface="Microsoft JhengHei"/>
              </a:rPr>
              <a:t>AI 對數字的解釋合理嗎？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069080"/>
            <a:ext cx="1417320" cy="685800"/>
          </a:xfrm>
          <a:prstGeom prst="roundRect">
            <a:avLst/>
          </a:prstGeom>
          <a:solidFill>
            <a:srgbClr val="316999"/>
          </a:solidFill>
          <a:ln>
            <a:solidFill>
              <a:srgbClr val="316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第四查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0" y="4069080"/>
            <a:ext cx="182880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1800" b="1">
                <a:solidFill>
                  <a:srgbClr val="193756"/>
                </a:solidFill>
                <a:latin typeface="Microsoft JhengHei"/>
              </a:rPr>
              <a:t>查推論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4069080"/>
            <a:ext cx="717804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l"/>
            <a:r>
              <a:rPr sz="1800" b="0">
                <a:solidFill>
                  <a:srgbClr val="232A30"/>
                </a:solidFill>
                <a:latin typeface="Microsoft JhengHei"/>
              </a:rPr>
              <a:t>資料真的支持這個結論嗎？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029200"/>
            <a:ext cx="1417320" cy="685800"/>
          </a:xfrm>
          <a:prstGeom prst="roundRect">
            <a:avLst/>
          </a:prstGeom>
          <a:solidFill>
            <a:srgbClr val="316999"/>
          </a:solidFill>
          <a:ln>
            <a:solidFill>
              <a:srgbClr val="316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第五查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86000" y="5029200"/>
            <a:ext cx="182880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1800" b="1">
                <a:solidFill>
                  <a:srgbClr val="193756"/>
                </a:solidFill>
                <a:latin typeface="Microsoft JhengHei"/>
              </a:rPr>
              <a:t>查建議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5029200"/>
            <a:ext cx="717804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l"/>
            <a:r>
              <a:rPr sz="1800" b="0">
                <a:solidFill>
                  <a:srgbClr val="232A30"/>
                </a:solidFill>
                <a:latin typeface="Microsoft JhengHei"/>
              </a:rPr>
              <a:t>建議有足夠證據嗎？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第一查｜查資料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417320"/>
            <a:ext cx="10332720" cy="10515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2700" b="1">
                <a:solidFill>
                  <a:srgbClr val="193756"/>
                </a:solidFill>
                <a:latin typeface="Microsoft JhengHei"/>
              </a:rPr>
              <a:t>AI 用到的欄位、資料筆數、變數，真的在原始資料裡嗎？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54680"/>
            <a:ext cx="10332720" cy="132588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ctr"/>
            <a:r>
              <a:rPr sz="2400" b="1">
                <a:solidFill>
                  <a:srgbClr val="9B3A3A"/>
                </a:solidFill>
                <a:latin typeface="Microsoft JhengHei"/>
              </a:rPr>
              <a:t>小心：看錯欄位、自己補資料、忽略缺漏或異常值。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983480"/>
            <a:ext cx="9966960" cy="64008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ctr"/>
            <a:r>
              <a:rPr sz="2100" b="1">
                <a:solidFill>
                  <a:srgbClr val="232A30"/>
                </a:solidFill>
                <a:latin typeface="Microsoft JhengHei"/>
              </a:rPr>
              <a:t>查核不是懷疑一切，而是讓結論有證據。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第二查｜查計算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417320"/>
            <a:ext cx="10332720" cy="10515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2700" b="1">
                <a:solidFill>
                  <a:srgbClr val="193756"/>
                </a:solidFill>
                <a:latin typeface="Microsoft JhengHei"/>
              </a:rPr>
              <a:t>平均數、中位數、次數、比例、最大／最小，真的算對嗎？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54680"/>
            <a:ext cx="10332720" cy="132588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ctr"/>
            <a:r>
              <a:rPr sz="2400" b="1">
                <a:solidFill>
                  <a:srgbClr val="9B3A3A"/>
                </a:solidFill>
                <a:latin typeface="Microsoft JhengHei"/>
              </a:rPr>
              <a:t>先用你已經會理解的基本統計驗證，不需要複雜模型。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983480"/>
            <a:ext cx="9966960" cy="64008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ctr"/>
            <a:r>
              <a:rPr sz="2100" b="1">
                <a:solidFill>
                  <a:srgbClr val="232A30"/>
                </a:solidFill>
                <a:latin typeface="Microsoft JhengHei"/>
              </a:rPr>
              <a:t>查核不是懷疑一切，而是讓結論有證據。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第三查｜查解釋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417320"/>
            <a:ext cx="10332720" cy="10515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2700" b="1">
                <a:solidFill>
                  <a:srgbClr val="193756"/>
                </a:solidFill>
                <a:latin typeface="Microsoft JhengHei"/>
              </a:rPr>
              <a:t>數字算對，不代表解釋一定對。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54680"/>
            <a:ext cx="10332720" cy="132588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ctr"/>
            <a:r>
              <a:rPr sz="2400" b="1">
                <a:solidFill>
                  <a:srgbClr val="9B3A3A"/>
                </a:solidFill>
                <a:latin typeface="Microsoft JhengHei"/>
              </a:rPr>
              <a:t>平均 1,850 元 ≠ 大多數人都花 1,850 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983480"/>
            <a:ext cx="9966960" cy="64008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ctr"/>
            <a:r>
              <a:rPr sz="2100" b="1">
                <a:solidFill>
                  <a:srgbClr val="232A30"/>
                </a:solidFill>
                <a:latin typeface="Microsoft JhengHei"/>
              </a:rPr>
              <a:t>查核不是懷疑一切，而是讓結論有證據。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第四查｜查推論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417320"/>
            <a:ext cx="10332720" cy="10515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2700" b="1">
                <a:solidFill>
                  <a:srgbClr val="193756"/>
                </a:solidFill>
                <a:latin typeface="Microsoft JhengHei"/>
              </a:rPr>
              <a:t>資料呈現差異，不代表已證明原因。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54680"/>
            <a:ext cx="10332720" cy="132588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ctr"/>
            <a:r>
              <a:rPr sz="2400" b="1">
                <a:solidFill>
                  <a:srgbClr val="9B3A3A"/>
                </a:solidFill>
                <a:latin typeface="Microsoft JhengHei"/>
              </a:rPr>
              <a:t>使用優惠者消費較高 ≠ 優惠造成消費增加。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983480"/>
            <a:ext cx="9966960" cy="64008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ctr"/>
            <a:r>
              <a:rPr sz="2100" b="1">
                <a:solidFill>
                  <a:srgbClr val="232A30"/>
                </a:solidFill>
                <a:latin typeface="Microsoft JhengHei"/>
              </a:rPr>
              <a:t>查核不是懷疑一切，而是讓結論有證據。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第五查｜查建議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417320"/>
            <a:ext cx="10332720" cy="10515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2700" b="1">
                <a:solidFill>
                  <a:srgbClr val="193756"/>
                </a:solidFill>
                <a:latin typeface="Microsoft JhengHei"/>
              </a:rPr>
              <a:t>建議中的數字與效果，有沒有資料或計算依據？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54680"/>
            <a:ext cx="10332720" cy="132588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ctr"/>
            <a:r>
              <a:rPr sz="2400" b="1">
                <a:solidFill>
                  <a:srgbClr val="9B3A3A"/>
                </a:solidFill>
                <a:latin typeface="Microsoft JhengHei"/>
              </a:rPr>
              <a:t>「營收可提升 20%」——20% 從哪裡來？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983480"/>
            <a:ext cx="9966960" cy="64008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ctr"/>
            <a:r>
              <a:rPr sz="2100" b="1">
                <a:solidFill>
                  <a:srgbClr val="232A30"/>
                </a:solidFill>
                <a:latin typeface="Microsoft JhengHei"/>
              </a:rPr>
              <a:t>查核不是懷疑一切，而是讓結論有證據。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四種句子｜越往下，越需要證據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280160"/>
          <a:ext cx="10972800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5486400"/>
                <a:gridCol w="3566160"/>
              </a:tblGrid>
              <a:tr h="81381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層次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例子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需要的證據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813816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資料事實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資料中有 24 筆交易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直接由資料確認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813816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分析結果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使用優惠者平均消費較高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計算／比較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13816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可能解釋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優惠可能與較高消費有關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更多背景與分析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813816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決策建議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考慮進一步測試優惠策略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分析＋情境＋驗證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623560"/>
            <a:ext cx="10332720" cy="41148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ctr"/>
            <a:r>
              <a:rPr sz="1700" b="1">
                <a:solidFill>
                  <a:srgbClr val="9B3A3A"/>
                </a:solidFill>
                <a:latin typeface="Microsoft JhengHei"/>
              </a:rPr>
              <a:t>「可以描述」不等於「可以解釋」；「可以解釋」也不等於「可以直接決策」。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正式案例｜行動支付優惠真的有效嗎？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280160"/>
            <a:ext cx="10332720" cy="7315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2300" b="1">
                <a:solidFill>
                  <a:srgbClr val="193756"/>
                </a:solidFill>
                <a:latin typeface="Microsoft JhengHei"/>
              </a:rPr>
              <a:t>同一份資料＋同一份 AI 分析，所有同學查核相同內容。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834640" y="2423160"/>
          <a:ext cx="6492240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383280"/>
              </a:tblGrid>
              <a:tr h="45066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欄位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例子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45066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客戶編號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C001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45066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年齡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066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消費類別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餐飲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45066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消費金額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180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066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支付方式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行動支付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450672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是否使用優惠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A30"/>
                          </a:solidFill>
                          <a:latin typeface="Microsoft JhengHei"/>
                        </a:rPr>
                        <a:t>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為什麼第一次正式作業不用「每人隨機問 AI」？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5074920" cy="21031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2200" b="1">
                <a:solidFill>
                  <a:srgbClr val="9B3A3A"/>
                </a:solidFill>
                <a:latin typeface="Microsoft JhengHei"/>
              </a:rPr>
              <a:t>每個人拿到不同 AI 回答
→ 很難公平比較查核能力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371600"/>
            <a:ext cx="5074920" cy="21031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2200" b="1">
                <a:solidFill>
                  <a:srgbClr val="2D785A"/>
                </a:solidFill>
                <a:latin typeface="Microsoft JhengHei"/>
              </a:rPr>
              <a:t>所有人查同一份 AI 報告
→ 真正評量學生的判斷與證據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7724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我們評的不是「誰遇到比較笨的 AI」，而是「誰能用資料查核」。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AI 分析報告 A｜五個敘述，有真、有假、有半對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143000"/>
            <a:ext cx="640080" cy="685800"/>
          </a:xfrm>
          <a:prstGeom prst="roundRect">
            <a:avLst/>
          </a:prstGeom>
          <a:solidFill>
            <a:srgbClr val="316999"/>
          </a:solidFill>
          <a:ln>
            <a:solidFill>
              <a:srgbClr val="316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1143000"/>
            <a:ext cx="704088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l"/>
            <a:r>
              <a:rPr sz="1600" b="0">
                <a:solidFill>
                  <a:srgbClr val="232A30"/>
                </a:solidFill>
                <a:latin typeface="Microsoft JhengHei"/>
              </a:rPr>
              <a:t>本資料共有 24 筆交易。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32520" y="1143000"/>
            <a:ext cx="265176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1500" b="1">
                <a:solidFill>
                  <a:srgbClr val="2D785A"/>
                </a:solidFill>
                <a:latin typeface="Microsoft JhengHei"/>
              </a:rPr>
              <a:t>可能正確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640080" cy="685800"/>
          </a:xfrm>
          <a:prstGeom prst="roundRect">
            <a:avLst/>
          </a:prstGeom>
          <a:solidFill>
            <a:srgbClr val="316999"/>
          </a:solidFill>
          <a:ln>
            <a:solidFill>
              <a:srgbClr val="316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2103120"/>
            <a:ext cx="704088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l"/>
            <a:r>
              <a:rPr sz="1600" b="0">
                <a:solidFill>
                  <a:srgbClr val="232A30"/>
                </a:solidFill>
                <a:latin typeface="Microsoft JhengHei"/>
              </a:rPr>
              <a:t>使用優惠者平均消費高於未使用優惠者。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32520" y="2103120"/>
            <a:ext cx="265176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1500" b="1">
                <a:solidFill>
                  <a:srgbClr val="2D785A"/>
                </a:solidFill>
                <a:latin typeface="Microsoft JhengHei"/>
              </a:rPr>
              <a:t>可能正確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63240"/>
            <a:ext cx="640080" cy="685800"/>
          </a:xfrm>
          <a:prstGeom prst="roundRect">
            <a:avLst/>
          </a:prstGeom>
          <a:solidFill>
            <a:srgbClr val="316999"/>
          </a:solidFill>
          <a:ln>
            <a:solidFill>
              <a:srgbClr val="316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3063240"/>
            <a:ext cx="704088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l"/>
            <a:r>
              <a:rPr sz="1600" b="0">
                <a:solidFill>
                  <a:srgbClr val="232A30"/>
                </a:solidFill>
                <a:latin typeface="Microsoft JhengHei"/>
              </a:rPr>
              <a:t>因此證明優惠造成消費增加。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32520" y="3063240"/>
            <a:ext cx="265176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1500" b="1">
                <a:solidFill>
                  <a:srgbClr val="9B3A3A"/>
                </a:solidFill>
                <a:latin typeface="Microsoft JhengHei"/>
              </a:rPr>
              <a:t>過度推論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023360"/>
            <a:ext cx="640080" cy="685800"/>
          </a:xfrm>
          <a:prstGeom prst="roundRect">
            <a:avLst/>
          </a:prstGeom>
          <a:solidFill>
            <a:srgbClr val="316999"/>
          </a:solidFill>
          <a:ln>
            <a:solidFill>
              <a:srgbClr val="316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63040" y="4023360"/>
            <a:ext cx="704088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l"/>
            <a:r>
              <a:rPr sz="1600" b="0">
                <a:solidFill>
                  <a:srgbClr val="232A30"/>
                </a:solidFill>
                <a:latin typeface="Microsoft JhengHei"/>
              </a:rPr>
              <a:t>大部分客戶每次消費約 1,850 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32520" y="4023360"/>
            <a:ext cx="265176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1500" b="1">
                <a:solidFill>
                  <a:srgbClr val="9B3A3A"/>
                </a:solidFill>
                <a:latin typeface="Microsoft JhengHei"/>
              </a:rPr>
              <a:t>可能誤讀平均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83480"/>
            <a:ext cx="640080" cy="685800"/>
          </a:xfrm>
          <a:prstGeom prst="roundRect">
            <a:avLst/>
          </a:prstGeom>
          <a:solidFill>
            <a:srgbClr val="316999"/>
          </a:solidFill>
          <a:ln>
            <a:solidFill>
              <a:srgbClr val="316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63040" y="4983480"/>
            <a:ext cx="704088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l"/>
            <a:r>
              <a:rPr sz="1600" b="0">
                <a:solidFill>
                  <a:srgbClr val="232A30"/>
                </a:solidFill>
                <a:latin typeface="Microsoft JhengHei"/>
              </a:rPr>
              <a:t>增加優惠預算可使營收提升 20%。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4983480"/>
            <a:ext cx="265176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1500" b="1">
                <a:solidFill>
                  <a:srgbClr val="9B3A3A"/>
                </a:solidFill>
                <a:latin typeface="Microsoft JhengHei"/>
              </a:rPr>
              <a:t>無依據精確數字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查核不是只寫「對／錯」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17320"/>
          <a:ext cx="112014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554480"/>
                <a:gridCol w="2743200"/>
                <a:gridCol w="4160520"/>
              </a:tblGrid>
              <a:tr h="14173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AI 敘述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我的判斷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證據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我的修正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141732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C｜優惠造成消費增加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有疑問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只有群體差異，沒有因果證據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目前資料顯示兩組消費有差異，但不能判定優惠造成差異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4709160"/>
            <a:ext cx="10332720" cy="77724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ctr"/>
            <a:r>
              <a:rPr sz="3000" b="1">
                <a:solidFill>
                  <a:srgbClr val="193756"/>
                </a:solidFill>
                <a:latin typeface="Microsoft JhengHei"/>
              </a:rPr>
              <a:t>判斷 → 找證據 → 修正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把 AI 的句子「修成比較可信」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5303520" cy="20116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2300" b="1">
                <a:solidFill>
                  <a:srgbClr val="9B3A3A"/>
                </a:solidFill>
                <a:latin typeface="Microsoft JhengHei"/>
              </a:rPr>
              <a:t>AI 原句
「優惠活動有效提升消費。」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325880"/>
            <a:ext cx="5303520" cy="20116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1900" b="1">
                <a:solidFill>
                  <a:srgbClr val="2D785A"/>
                </a:solidFill>
                <a:latin typeface="Microsoft JhengHei"/>
              </a:rPr>
              <a:t>較好的修正
「在目前資料中，使用優惠者的消費金額較高，但尚不能判定優惠造成消費增加。」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51960"/>
            <a:ext cx="10332720" cy="77724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目標不是證明 AI 很差，而是把分析修到「證據支持得住」。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AI 可以幫忙查 AI 嗎？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325880"/>
            <a:ext cx="1033272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2700" b="1">
                <a:solidFill>
                  <a:srgbClr val="2D785A"/>
                </a:solidFill>
                <a:latin typeface="Microsoft JhengHei"/>
              </a:rPr>
              <a:t>可以。你可以請另一個 AI 找出可能的過度推論。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82296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ctr"/>
            <a:r>
              <a:rPr sz="2900" b="1">
                <a:solidFill>
                  <a:srgbClr val="9B3A3A"/>
                </a:solidFill>
                <a:latin typeface="Microsoft JhengHei"/>
              </a:rPr>
              <a:t>但是，最後仍必須回到原始資料。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069080"/>
            <a:ext cx="10332720" cy="10515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3000" b="1">
                <a:solidFill>
                  <a:srgbClr val="193756"/>
                </a:solidFill>
                <a:latin typeface="Microsoft JhengHei"/>
              </a:rPr>
              <a:t>AI 可以協助查核，但 AI 不能取代證據。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正式作業｜AI 資料分析查核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5212080" cy="15087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1800" b="1">
                <a:solidFill>
                  <a:srgbClr val="193756"/>
                </a:solidFill>
                <a:latin typeface="Microsoft JhengHei"/>
              </a:rPr>
              <a:t>Part A｜資料健檢
一列／變數／資料品質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325880"/>
            <a:ext cx="5212080" cy="15087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1800" b="1">
                <a:solidFill>
                  <a:srgbClr val="193756"/>
                </a:solidFill>
                <a:latin typeface="Microsoft JhengHei"/>
              </a:rPr>
              <a:t>Part B｜資料探索
差異／極端值／基本統計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91839"/>
            <a:ext cx="5212080" cy="15087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1800" b="1">
                <a:solidFill>
                  <a:srgbClr val="193756"/>
                </a:solidFill>
                <a:latin typeface="Microsoft JhengHei"/>
              </a:rPr>
              <a:t>Part C｜AI 分析五查
判斷＋證據＋修正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3291839"/>
            <a:ext cx="5212080" cy="15087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1800" b="1">
                <a:solidFill>
                  <a:srgbClr val="193756"/>
                </a:solidFill>
                <a:latin typeface="Microsoft JhengHei"/>
              </a:rPr>
              <a:t>Part D｜我的結論
100～150 字：可以說什麼？不能說什麼？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440680"/>
            <a:ext cx="10332720" cy="45720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ctr"/>
            <a:r>
              <a:rPr sz="1800" b="1">
                <a:solidFill>
                  <a:srgbClr val="9B3A3A"/>
                </a:solidFill>
                <a:latin typeface="Microsoft JhengHei"/>
              </a:rPr>
              <a:t>第一次正式查核作業：重點是證據，不是複雜計算。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AI 使用揭露（AI Use Disclosure）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280160"/>
            <a:ext cx="10652760" cy="30175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l"/>
            <a:r>
              <a:rPr sz="2000" b="0">
                <a:solidFill>
                  <a:srgbClr val="232A30"/>
                </a:solidFill>
                <a:latin typeface="Microsoft JhengHei"/>
              </a:rPr>
              <a:t>我使用的 AI 工具：________________
AI 協助我：
□ 理解題目　□ 解釋資料　□ 檢查計算
□ 找可能問題　□ 修正文句　□ 其他：________
最後的資料判斷與結論由我本人確認。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00600"/>
            <a:ext cx="10332720" cy="77724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ctr"/>
            <a:r>
              <a:rPr sz="2600" b="1">
                <a:solidFill>
                  <a:srgbClr val="193756"/>
                </a:solidFill>
                <a:latin typeface="Microsoft JhengHei"/>
              </a:rPr>
              <a:t>使用 AI 不等於把責任交給 AI。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評分重點｜不是把分數放在「算得快」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926080" y="1325880"/>
          <a:ext cx="6309360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80560"/>
                <a:gridCol w="1828800"/>
              </a:tblGrid>
              <a:tr h="607422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評量面向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配分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60742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理解資料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15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60742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資料探索與基本統計判讀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742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AI 分析查核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35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60742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證據與修正能力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742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AI 使用揭露與表達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10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607428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合計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715000"/>
            <a:ext cx="10332720" cy="36576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ctr"/>
            <a:r>
              <a:rPr sz="1600" b="1">
                <a:solidFill>
                  <a:srgbClr val="9B3A3A"/>
                </a:solidFill>
                <a:latin typeface="Microsoft JhengHei"/>
              </a:rPr>
              <a:t>最高配分放在「AI 分析查核」，因為這才是本週核心能力。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Rubric｜什麼叫做「查核得好」？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371600"/>
          <a:ext cx="105156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503920"/>
              </a:tblGrid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層級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表現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優良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指出問題＋引用正確資料證據＋提出適當修正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良好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辨認主要問題，但證據或修正稍不完整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基礎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能判斷部分正誤，但理由主要依靠直覺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待加強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直接接受 AI 結論，或無法以資料支持自己的判斷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快速檢核｜你已經會查 AI 了嗎？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143000"/>
            <a:ext cx="1069848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l"/>
            <a:r>
              <a:rPr sz="1500" b="1">
                <a:solidFill>
                  <a:srgbClr val="193756"/>
                </a:solidFill>
                <a:latin typeface="Microsoft JhengHei"/>
              </a:rPr>
              <a:t>Q1｜AI 的分析看起來合理，因此可以直接使用。　○ 對　○ 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1069848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l"/>
            <a:r>
              <a:rPr sz="1500" b="1">
                <a:solidFill>
                  <a:srgbClr val="193756"/>
                </a:solidFill>
                <a:latin typeface="Microsoft JhengHei"/>
              </a:rPr>
              <a:t>Q2｜AI 的平均數算對，就代表後面的解釋一定正確。　○ 對　○ 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63240"/>
            <a:ext cx="1069848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l"/>
            <a:r>
              <a:rPr sz="1500" b="1">
                <a:solidFill>
                  <a:srgbClr val="193756"/>
                </a:solidFill>
                <a:latin typeface="Microsoft JhengHei"/>
              </a:rPr>
              <a:t>Q3｜「使用優惠者消費較高」最支持：A 因果　B 目前資料有差異　C 所有人增加　D 立即加預算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23360"/>
            <a:ext cx="1069848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l"/>
            <a:r>
              <a:rPr sz="1500" b="1">
                <a:solidFill>
                  <a:srgbClr val="193756"/>
                </a:solidFill>
                <a:latin typeface="Microsoft JhengHei"/>
              </a:rPr>
              <a:t>Q4｜AI 說營收可提升 20%，但無資料依據。最先要做什麼？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983480"/>
            <a:ext cx="1069848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l"/>
            <a:r>
              <a:rPr sz="1500" b="1">
                <a:solidFill>
                  <a:srgbClr val="193756"/>
                </a:solidFill>
                <a:latin typeface="Microsoft JhengHei"/>
              </a:rPr>
              <a:t>Q5｜用第二個 AI 查第一個 AI，就可以不看原始資料。　○ 對　○ 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本週核心句｜AI 分析 ≠ 分析證據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417320"/>
            <a:ext cx="10332720" cy="1097280"/>
          </a:xfrm>
          <a:prstGeom prst="roundRect">
            <a:avLst/>
          </a:prstGeom>
          <a:solidFill>
            <a:srgbClr val="316999"/>
          </a:solidFill>
          <a:ln>
            <a:solidFill>
              <a:srgbClr val="316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3800" b="1">
                <a:solidFill>
                  <a:srgbClr val="FFFFFF"/>
                </a:solidFill>
                <a:latin typeface="Microsoft JhengHei"/>
              </a:rPr>
              <a:t>AI 分析 ≠ 分析證據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54680"/>
            <a:ext cx="10332720" cy="86868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ctr"/>
            <a:r>
              <a:rPr sz="2800" b="1">
                <a:solidFill>
                  <a:srgbClr val="193756"/>
                </a:solidFill>
                <a:latin typeface="Microsoft JhengHei"/>
              </a:rPr>
              <a:t>AI 可以提出答案，人必須確認證據。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434840"/>
            <a:ext cx="10332720" cy="8686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2200" b="1">
                <a:solidFill>
                  <a:srgbClr val="232A30"/>
                </a:solidFill>
                <a:latin typeface="Microsoft JhengHei"/>
              </a:rPr>
              <a:t>好的 AI 協作，不是「相信 AI」，也不是「反對 AI」，而是能驗證 AI。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M2 完成｜我們已經走完一個小型資料科學循環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920240"/>
            <a:ext cx="2057400" cy="12344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1900" b="1">
                <a:solidFill>
                  <a:srgbClr val="193756"/>
                </a:solidFill>
                <a:latin typeface="Microsoft JhengHei"/>
              </a:rPr>
              <a:t>看懂資料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920240"/>
            <a:ext cx="2057400" cy="12344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1900" b="1">
                <a:solidFill>
                  <a:srgbClr val="193756"/>
                </a:solidFill>
                <a:latin typeface="Microsoft JhengHei"/>
              </a:rPr>
              <a:t>探索資料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74920" y="1920240"/>
            <a:ext cx="2057400" cy="12344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1900" b="1">
                <a:solidFill>
                  <a:srgbClr val="193756"/>
                </a:solidFill>
                <a:latin typeface="Microsoft JhengHei"/>
              </a:rPr>
              <a:t>判讀統計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920240"/>
            <a:ext cx="2057400" cy="12344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1900" b="1">
                <a:solidFill>
                  <a:srgbClr val="193756"/>
                </a:solidFill>
                <a:latin typeface="Microsoft JhengHei"/>
              </a:rPr>
              <a:t>查核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38359" y="1920240"/>
            <a:ext cx="2057400" cy="12344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54864" bIns="54864"/>
          <a:lstStyle/>
          <a:p>
            <a:pPr algn="ctr"/>
            <a:r>
              <a:rPr sz="1900" b="1">
                <a:solidFill>
                  <a:srgbClr val="193756"/>
                </a:solidFill>
                <a:latin typeface="Microsoft JhengHei"/>
              </a:rPr>
              <a:t>修正結論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023360"/>
            <a:ext cx="10332720" cy="82296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ctr"/>
            <a:r>
              <a:rPr sz="2500" b="1">
                <a:solidFill>
                  <a:srgbClr val="9B3A3A"/>
                </a:solidFill>
                <a:latin typeface="Microsoft JhengHei"/>
              </a:rPr>
              <a:t>從「資料裡有什麼？」走到「這個分析值得相信嗎？」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257800"/>
            <a:ext cx="10332720" cy="502920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ctr"/>
            <a:r>
              <a:rPr sz="1800" b="0">
                <a:solidFill>
                  <a:srgbClr val="646E76"/>
                </a:solidFill>
                <a:latin typeface="Microsoft JhengHei"/>
              </a:rPr>
              <a:t>下一個模組：開始把資料分析帶向更完整的金融／商管問題。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82296" rIns="82296" tIns="54864" bIns="54864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