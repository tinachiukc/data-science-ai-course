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1">
                <a:solidFill>
                  <a:srgbClr val="E0A643"/>
                </a:solidFill>
                <a:latin typeface="Microsoft JhengHei"/>
              </a:defRPr>
            </a:pPr>
            <a:r>
              <a:t>資料科學與大數據分析  |  WEEK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900" b="1">
                <a:solidFill>
                  <a:srgbClr val="FFFFFF"/>
                </a:solidFill>
                <a:latin typeface="Microsoft JhengHei"/>
              </a:defRPr>
            </a:pPr>
            <a:r>
              <a:t>交易資料關聯分析｜金融服務組合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FFFFFF"/>
                </a:solidFill>
                <a:latin typeface="Microsoft JhengHei"/>
              </a:defRPr>
            </a:pPr>
            <a:r>
              <a:t>金融管理學系一年級｜資料分析方法與金融應用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從商品組合到金融服務組合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W8 學習關聯規則原理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本週進一步將 Apriori 用在交易資料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金融案例：薪轉、信用卡、定存、自動扣繳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觀察單位必須先定義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每筆交易：一次付款有哪些項目？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每位客戶：同一期間使用哪些服務？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本週以「每位客戶的服務組合」示範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示範資料：六位客戶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C01：薪轉、信用卡、自扣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C02：薪轉、信用卡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C03：薪轉、自扣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C04：信用卡、自扣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806440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68756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C05：薪轉、信用卡、自扣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6793992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667512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C06：定存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把服務轉成 0 與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每列是一位客戶，每欄是一種服務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使用該服務記為 1，否則為 0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這種格式稱為 One-hot Encoding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可供 Apriori 找出常見服務組合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計算支持度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薪轉+信用卡同時出現於 C01、C02、C05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Support=3/6=50%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信用卡出現 4/6；薪轉出現 4/6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計算信賴度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薪轉→信用卡：3/4=75%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信用卡→薪轉：3/4=75%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這個範例剛好相同，其他資料不一定相同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計算提升度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Lift=(3/6)÷[(4/6)×(4/6)]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=0.5÷0.444…=1.125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表示略高於獨立情況的預期共現程度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設定篩選門檻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最小支持度 30%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最小信賴度 60%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提升度大於 1 作為觀察條件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門檻調整會影響留下多少規則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規則不是推薦命令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薪轉→信用卡是共同使用模式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不代表所有薪轉客戶都適合信用卡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必須考量產品適合性、客戶意願與法規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用 Python 看流程，不背程式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讀入服務資料 → 轉成 0/1 表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找出頻繁項目集 → 產生規則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查看 support、confidence、lift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18888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00016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由教師示範 Colab，學生重點是閱讀輸出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比較兩種資料層級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商品交易籃：適合分析同次購物搭配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客戶服務組合：適合分析交叉使用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不同層級的規則不能直接混為一談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結果視覺化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用表格列出前件、後件與三個指標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用長條圖比較規則支持度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先依支持度排序，再檢視信賴度與提升度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AI 協作：提出方案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請 AI 提出兩個可行的金融服務組合方案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學生指出需要哪些客戶授權或適合性檢查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不以規則推斷個人財務狀況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課堂練習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對六位客戶資料計算兩條規則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比較規則的 support、confidence、lift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說明是否值得進一步調查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100" b="1">
                <a:solidFill>
                  <a:srgbClr val="12243E"/>
                </a:solidFill>
                <a:latin typeface="Microsoft JhengHei"/>
              </a:defRPr>
            </a:pPr>
            <a:r>
              <a:t>本週重點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98448"/>
            <a:ext cx="1234440" cy="64008"/>
          </a:xfrm>
          <a:prstGeom prst="rect">
            <a:avLst/>
          </a:prstGeom>
          <a:solidFill>
            <a:srgbClr val="E0A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交易資料須先整理成適合分析的格式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43784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24912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關聯規則的觀察單位影響解釋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831336"/>
            <a:ext cx="118872" cy="118872"/>
          </a:xfrm>
          <a:prstGeom prst="ellipse">
            <a:avLst/>
          </a:prstGeom>
          <a:solidFill>
            <a:srgbClr val="196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712464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 b="0">
                <a:solidFill>
                  <a:srgbClr val="283646"/>
                </a:solidFill>
                <a:latin typeface="Microsoft JhengHei"/>
              </a:defRPr>
            </a:pPr>
            <a:r>
              <a:t>關聯分析支持探索，不取代業務判斷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W11  •  交易資料關聯分析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2823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 b="0">
                <a:solidFill>
                  <a:srgbClr val="196391"/>
                </a:solidFill>
                <a:latin typeface="Microsoft Jheng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