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05840"/>
            <a:ext cx="107899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300" b="0">
                <a:solidFill>
                  <a:srgbClr val="FFFFFF"/>
                </a:solidFill>
                <a:latin typeface="Microsoft JhengHei"/>
              </a:rPr>
              <a:t>資料科學與大數據分析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7899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JhengHei"/>
              </a:rPr>
              <a:t>Week 11｜數字好不好，要跟誰比？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88920"/>
            <a:ext cx="107899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700" b="0">
                <a:solidFill>
                  <a:srgbClr val="DEE8F0"/>
                </a:solidFill>
                <a:latin typeface="Microsoft JhengHei"/>
              </a:rPr>
              <a:t>從比較基準到金融判斷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107899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一個數字看起來很好或很差，我們憑什麼這樣判斷？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從 Week 10 接過來｜「好不好」需要參考點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Week 10：方案 A 的交易金額增加 18%。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613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3100" b="1">
                <a:solidFill>
                  <a:srgbClr val="9B3A3A"/>
                </a:solidFill>
                <a:latin typeface="Microsoft JhengHei"/>
              </a:rPr>
              <a:t>18% 到底算高還是低？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11880"/>
            <a:ext cx="5074920" cy="10972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去年同期 +5%
→ +18% 看起來很好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611880"/>
            <a:ext cx="5074920" cy="10972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同類方案平均 +30%
→ +18% 可能只是普通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000" b="1">
                <a:solidFill>
                  <a:srgbClr val="232A30"/>
                </a:solidFill>
                <a:latin typeface="Microsoft JhengHei"/>
              </a:rPr>
              <a:t>數字不變，參考點改變，判斷可能改變。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開場案例｜基金報酬 +10%，好不好？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86200" y="1234440"/>
            <a:ext cx="443484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600" b="1">
                <a:solidFill>
                  <a:srgbClr val="2D785A"/>
                </a:solidFill>
                <a:latin typeface="Microsoft JhengHei"/>
              </a:rPr>
              <a:t>+10%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只看到這個數字，你能判斷基金表現好不好嗎？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06908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9B3A3A"/>
                </a:solidFill>
                <a:latin typeface="Microsoft JhengHei"/>
              </a:rPr>
              <a:t>先不要急著回答。下一步先問：「跟誰比？」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同一個 +10%，放進不同情境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34440"/>
          <a:ext cx="10652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03120"/>
                <a:gridCol w="3291840"/>
                <a:gridCol w="3337560"/>
              </a:tblGrid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比較情境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基金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參考點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可能判斷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+10%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市場同期 +3%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相對較好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市場同期 +18%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相對落後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+10%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去年基金 −20%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較去年改善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48640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基金的 +10% 沒變；改變的是我們理解它的比較情境。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11 核心句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332720" cy="12801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800" b="1">
                <a:solidFill>
                  <a:srgbClr val="9B3A3A"/>
                </a:solidFill>
                <a:latin typeface="Microsoft JhengHei"/>
              </a:rPr>
              <a:t>有數字 ≠ 有意義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比較基準不同，數字的意義可能不同。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100" b="1">
                <a:solidFill>
                  <a:srgbClr val="2D785A"/>
                </a:solidFill>
                <a:latin typeface="Microsoft JhengHei"/>
              </a:rPr>
              <a:t>看到一個「好／差」的結論，先問：它跟什麼比？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1｜比較基準（Benchmark）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用來幫助我們判斷一個結果「相對表現如何」的參考點。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5603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跟自己過去比
上月／去年同期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39" y="2743200"/>
            <a:ext cx="25603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跟目標比
預算／KPI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743200"/>
            <a:ext cx="25603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跟同類對象比
產品／分行／方案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81159" y="2743200"/>
            <a:ext cx="25603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跟市場比
整體市場／指數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一個問題可能有不只一個合理 Benchmark。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Benchmark 不只用在投資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69848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5760720"/>
              </a:tblGrid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情境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可能的 Benchmark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信用卡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本月交易 5,000 萬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上月、去年同期、預算目標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分行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新增卡 500 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原有客戶規模、其他分行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ETF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年報酬 +8%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市場指數、同類 ETF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企業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客訴 30 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交易量、去年同期、同業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715000"/>
            <a:ext cx="1033272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193756"/>
                </a:solidFill>
                <a:latin typeface="Microsoft JhengHei"/>
              </a:rPr>
              <a:t>Benchmark 是資料判斷的通用概念，不是投資專有名詞。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2｜絕對數 vs. 相對比較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234440"/>
          <a:ext cx="85039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651760"/>
                <a:gridCol w="2651760"/>
              </a:tblGrid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分行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原有客戶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新增信用卡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20,000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500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749039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只看新增張數：A &gt; B。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但兩間分行的規模差很多。只比「人數／張數」公平嗎？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這週只新增一個很簡單的工具｜比例（Rate / Percentage）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群體大小不同時，只比較人數可能會誤導。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14600"/>
            <a:ext cx="489204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232A30"/>
                </a:solidFill>
                <a:latin typeface="Microsoft JhengHei"/>
              </a:rPr>
              <a:t>A 分行
500 ÷ 20,000 = 2.5%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2514600"/>
            <a:ext cx="489204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232A30"/>
                </a:solidFill>
                <a:latin typeface="Microsoft JhengHei"/>
              </a:rPr>
              <a:t>B 分行
300 ÷ 5,000 = 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2D785A"/>
                </a:solidFill>
                <a:latin typeface="Microsoft JhengHei"/>
              </a:rPr>
              <a:t>若問題是「相對原有客戶的新增比例」，B 較高。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金融案例｜違約人數 vs. 違約率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43000" y="1234440"/>
          <a:ext cx="98755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468880"/>
                <a:gridCol w="2651760"/>
              </a:tblGrid>
              <a:tr h="85344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銀行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借款人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違約人數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違約率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100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1%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1,000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16052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只看人數：A 的違約人數較多。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看比例：B 的違約率較高。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核心提醒｜看到百分比，先找分母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32720" cy="10972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300" b="1">
                <a:solidFill>
                  <a:srgbClr val="2D785A"/>
                </a:solidFill>
                <a:latin typeface="Microsoft JhengHei"/>
              </a:rPr>
              <a:t>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下一個問題不是「高不高？」而是：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200" b="1">
                <a:solidFill>
                  <a:srgbClr val="9B3A3A"/>
                </a:solidFill>
                <a:latin typeface="Microsoft JhengHei"/>
              </a:rPr>
              <a:t>20% 是「什麼」的 20%？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6636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分母不同，百分比的意義也不同。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比較陷阱｜它沒有算錯，但比較不完整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AI：「銀行 A 有 100 名違約客戶，是銀行 B 的兩倍，因此銀行 A 的信用風險明顯較高。」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AI 用了什麼？　→ 違約人數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AI 忽略什麼？　→ 借款人總數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70916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2D785A"/>
                </a:solidFill>
                <a:latin typeface="Microsoft JhengHei"/>
              </a:rPr>
              <a:t>問題不是算術錯，而是比較方式不完整。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1｜哪個比較基準比較合理？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188720"/>
            <a:ext cx="1056132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「本月信用卡交易金額 5,000 萬元，表現好不好？」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40280"/>
            <a:ext cx="9966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232A30"/>
                </a:solidFill>
                <a:latin typeface="Microsoft JhengHei"/>
              </a:rPr>
              <a:t>A｜跟昨天氣溫比較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971800"/>
            <a:ext cx="9966960" cy="5486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232A30"/>
                </a:solidFill>
                <a:latin typeface="Microsoft JhengHei"/>
              </a:rPr>
              <a:t>B｜跟去年同期交易金額比較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703320"/>
            <a:ext cx="9966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232A30"/>
                </a:solidFill>
                <a:latin typeface="Microsoft JhengHei"/>
              </a:rPr>
              <a:t>C｜跟公司員工人數比較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434840"/>
            <a:ext cx="9966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232A30"/>
                </a:solidFill>
                <a:latin typeface="Microsoft JhengHei"/>
              </a:rPr>
              <a:t>D｜跟銀行大樓樓層比較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600" b="1">
                <a:solidFill>
                  <a:srgbClr val="9B3A3A"/>
                </a:solidFill>
                <a:latin typeface="Microsoft JhengHei"/>
              </a:rPr>
              <a:t>B 很合理，但不是唯一：也可跟上月、預算目標、同類卡別或市場比。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2｜換 Benchmark，結論會不會改變？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86200" y="1188720"/>
            <a:ext cx="4434840" cy="11430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400" b="1">
                <a:solidFill>
                  <a:srgbClr val="2D785A"/>
                </a:solidFill>
                <a:latin typeface="Microsoft JhengHei"/>
              </a:rPr>
              <a:t>某 ETF 年報酬 +8%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507492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Benchmark A
定存 +1.5%
→ 相對較高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880360"/>
            <a:ext cx="507492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Benchmark B
大盤 +15%
→ 相對落後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ETF 的 +8% 沒有改變；改變的是我們如何評價它。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3｜比較也要公平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074920" cy="14630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分行 A
台北市中心大型分行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234440"/>
            <a:ext cx="5074920" cy="14630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分行 B
偏鄉小型分行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9B3A3A"/>
                </a:solidFill>
                <a:latin typeface="Microsoft JhengHei"/>
              </a:rPr>
              <a:t>直接比較「新增信用卡張數」，一定公平嗎？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25196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32A30"/>
                </a:solidFill>
                <a:latin typeface="Microsoft JhengHei"/>
              </a:rPr>
              <a:t>可能還要考慮：客戶規模、地區、客群、營業條件、市場環境。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公平比較三問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342900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① 規模一樣嗎？
人數、客戶數、交易量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508760"/>
            <a:ext cx="342900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② 時間一樣嗎？
同月、同期、期間長度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75320" y="1508760"/>
            <a:ext cx="342900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③ 情境相近嗎？
地區、客群、產品、環境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3327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3000" b="1">
                <a:solidFill>
                  <a:srgbClr val="9B3A3A"/>
                </a:solidFill>
                <a:latin typeface="Microsoft JhengHei"/>
              </a:rPr>
              <a:t>能比較 ≠ 適合直接比較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4924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這週不教統計控制，只建立「比較前先檢查公平性」的習慣。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主要案例｜哪一間分行表現最好？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887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94560"/>
                <a:gridCol w="2286000"/>
                <a:gridCol w="2743200"/>
                <a:gridCol w="219456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分行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原有客戶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新增信用卡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交易金額成長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客訴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20,000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500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+8%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40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5,000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12,000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+5%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18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43484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先不要回答 A／B／C。第一個問題是：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257800"/>
            <a:ext cx="10332720" cy="5943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9B3A3A"/>
                </a:solidFill>
                <a:latin typeface="Microsoft JhengHei"/>
              </a:rPr>
              <a:t>「表現最好」是用什麼標準判斷？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同一張表，用不同方式看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188720"/>
          <a:ext cx="10332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675120"/>
              </a:tblGrid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看什麼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新增張數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A：500，最高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新增比例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 2.5%｜B 6%｜C 3.5% → B 最高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交易金額成長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B：+12%，最高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客訴人數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B：8 件，最少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客訴率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還需要適當分母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「最好」不是藏在資料裡的一個固定答案。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11 AI 協作｜讓 AI 評選「最佳分行」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698480" cy="27432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700" b="0">
                <a:solidFill>
                  <a:srgbClr val="232A30"/>
                </a:solidFill>
                <a:latin typeface="Microsoft JhengHei"/>
              </a:rPr>
              <a:t>提示語範例
A、B、C 三間分行資料如下：A 原有客戶 20,000 人、新增信用卡 500 張、交易金額成長 8%、客訴 40 件；B 為 5,000 人、300 張、12%、8 件；C 為 12,000 人、420 張、5%、18 件。請選出表現最好的分行，並說明理由。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故意沒有告訴 AI：「最好」的標準。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看它會不會替我們偷偷決定 Benchmark 與準則。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決策查核四問｜Week 11 繼續使用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5852160"/>
              </a:tblGrid>
              <a:tr h="8778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四問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Week 11 特別注意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① AI 用了哪些證據？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它引用了哪些數字？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② AI 重視哪些決策準則？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它用了什麼比較基準？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③ AI 忽略了哪些資訊？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分母／規模／情境是否缺少？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④ 如果準則改變呢？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最佳分行會不會改變？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715000"/>
            <a:ext cx="1033272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300" b="1">
                <a:solidFill>
                  <a:srgbClr val="2D785A"/>
                </a:solidFill>
                <a:latin typeface="Microsoft JhengHei"/>
              </a:rPr>
              <a:t>不增加新卡片，只把「比較基準」放進原本的 AI 決策查核。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3｜AI 比較陷阱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69848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AI：「A 分行新增 500 張信用卡，比 B 的 300 張多，因此 A 的新卡推廣績效比較好。」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514600"/>
          <a:ext cx="10332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6751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檢查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學生要回答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AI 使用哪個指標？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新增張數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缺少什麼？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原有客戶規模／分母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加入比例後？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A 2.5%｜B 6%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如何修正？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先確認績效準則；張數與比例會給不同答案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第五步｜我的結果要跟什麼比？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2011680"/>
                <a:gridCol w="1828800"/>
              </a:tblGrid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分析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Benchmark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意涵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W6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W7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W8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分析結果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W10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794760"/>
            <a:ext cx="10561320" cy="10972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學生要開始回答：
「我的結果要跟誰／什麼比較，才有意義？」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600" b="1">
                <a:solidFill>
                  <a:srgbClr val="9B3A3A"/>
                </a:solidFill>
                <a:latin typeface="Microsoft JhengHei"/>
              </a:rPr>
              <a:t>避免期末只說：「報酬率 12%，所以績效很好。」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本週最小學習產出｜比較基準卡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51560"/>
          <a:ext cx="109728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68096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欄位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我的內容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我的分析結果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單獨看能判斷好壞嗎？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□ 可以　□ 不足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我選擇的 Benchmark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為什麼選它？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我要比較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□ 絕對數　□ 比例　□ 時間　□ 目標　□ 同類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分母是什麼？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公平比較三問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□ 規模　□ 時間　□ 情境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AI 的判斷／我的修正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快速檢核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Q1｜基金報酬 +10%，一定代表表現很好。　○ 對　○ 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84832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Q2｜A 銀行違約 100 人、B 銀行 50 人，所以 A 風險一定比較高。　○ 對　○ 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26664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Q3｜看到 20%，下一個值得問的問題是：________________________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68496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Q4｜比較規模差很多的分行，只看新增客戶人數可能造成誤導。　○ 對　○ 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10328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Q5｜同一個 +8% 報酬，跟定存與跟大盤比較，評價可能不同。　○ 對　○ 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本週刻意不教｜重點是判讀，不是金融績效公式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Alpha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Beta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Sharpe Ratio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32588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Tracking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顯著性檢定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標準化分數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指數編製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2743200"/>
            <a:ext cx="2560320" cy="960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32A30"/>
                </a:solidFill>
                <a:latin typeface="Microsoft JhengHei"/>
              </a:rPr>
              <a:t>風險調整績效公式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332720" cy="8686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正式新增只有：Benchmark、比例、公平比較。
比例只做到「群體大小不同時要看分母」的直覺層次。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11 收束｜先問「跟誰比？」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500" b="1">
                <a:solidFill>
                  <a:srgbClr val="9B3A3A"/>
                </a:solidFill>
                <a:latin typeface="Microsoft JhengHei"/>
              </a:rPr>
              <a:t>有數字 ≠ 有意義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看到百分比，先找分母。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看到「最好／最差」，先找比較基準。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2D785A"/>
                </a:solidFill>
                <a:latin typeface="Microsoft JhengHei"/>
              </a:rPr>
              <a:t>看到跨群體比較，再問：規模、時間、情境公平嗎？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33272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下一週：把準則、Benchmark 與不確定性放在一起做金融判斷。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