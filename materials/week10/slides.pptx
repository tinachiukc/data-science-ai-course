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05840"/>
            <a:ext cx="10789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4100" b="1">
                <a:solidFill>
                  <a:srgbClr val="FFFFFF"/>
                </a:solidFill>
                <a:latin typeface="Microsoft JhengHei"/>
              </a:rPr>
              <a:t>Week 10｜從資料到決策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107899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700" b="0">
                <a:solidFill>
                  <a:srgbClr val="DEE8F0"/>
                </a:solidFill>
                <a:latin typeface="Microsoft JhengHei"/>
              </a:rPr>
              <a:t>分析結果到底能告訴我們什麼？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10789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同一份分析結果，為什麼不一定只有一個決策？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跨過期中｜下半場開始問「所以呢？」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57800" cy="28346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前半段
問題 → 資料 → 分析 → 證據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5257800" cy="28346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2D785A"/>
                </a:solidFill>
                <a:latin typeface="Microsoft JhengHei"/>
              </a:rPr>
              <a:t>從 Week 10 開始
證據 → 解釋 → 選項 → 決策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分析做完不是終點；金融現場真正會問：「現在要怎麼辦？」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開場｜交易金額下降 20%，要不要恢復優惠？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613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優惠活動結束後，月交易金額下降 20%。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10561320" cy="12344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AI：「交易金額下降 20%，表示優惠活動非常有效，建議立即恢復並擴大優惠。」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聽起來合理，但我們還不知道什麼？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3429000" cy="502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優惠成本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892040"/>
            <a:ext cx="3429000" cy="502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毛利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892040"/>
            <a:ext cx="3429000" cy="502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新增交易是否原本就會發生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577840"/>
            <a:ext cx="3429000" cy="502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其他同期活動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5577840"/>
            <a:ext cx="3429000" cy="502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活動後客戶行為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5577840"/>
            <a:ext cx="3429000" cy="502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短期還是長期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10 核心句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3258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800" b="1">
                <a:solidFill>
                  <a:srgbClr val="9B3A3A"/>
                </a:solidFill>
                <a:latin typeface="Microsoft JhengHei"/>
              </a:rPr>
              <a:t>有證據 ≠ 能決策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資料證據很重要，但從「看到什麼」到「要怎麼做」，中間還需要人的判斷。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000" b="1">
                <a:solidFill>
                  <a:srgbClr val="2D785A"/>
                </a:solidFill>
                <a:latin typeface="Microsoft JhengHei"/>
              </a:rPr>
              <a:t>AI 可以給答案，但不能替人決定「什麼才算重要」。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1｜資料證據（Data Evidence）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從資料與分析中得到、可以支持判斷的資訊。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5074920" cy="16002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2D785A"/>
                </a:solidFill>
                <a:latin typeface="Microsoft JhengHei"/>
              </a:rPr>
              <a:t>資料證據
「優惠期間平均交易金額較高。」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743200"/>
            <a:ext cx="5074920" cy="16002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決策建議
「應增加 30% 優惠預算。」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後一句需要的證據，比前一句更多。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把 Week 5 的「四層句子」拿回來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212080"/>
                <a:gridCol w="3474720"/>
              </a:tblGrid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層級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例子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需要的證據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① 資料事實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6 月交易金額 468 萬元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資料紀錄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② 分析結果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3～6 月交易金額下降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比較／分析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③ 可能解釋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可能與優惠活動結束有關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更多情境資料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④ 決策建議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建議重新推出優惠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成本、效益、目標、風險…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9B3A3A"/>
                </a:solidFill>
                <a:latin typeface="Microsoft JhengHei"/>
              </a:rPr>
              <a:t>越往下走，需要的證據越多。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核心工具｜證據—決策橋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057400" cy="1965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① 我看到了什麼？
Data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508760"/>
            <a:ext cx="2057400" cy="1965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② 它可能代表什麼？
Interpretation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508760"/>
            <a:ext cx="2057400" cy="1965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③ 還需要知道什麼？
Missing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508760"/>
            <a:ext cx="2057400" cy="1965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④ 有哪些可選方案？
Decision Options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508760"/>
            <a:ext cx="2057400" cy="1965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⑤ 我目前比較支持哪一個？
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32720" cy="8686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900" b="1">
                <a:solidFill>
                  <a:srgbClr val="9B3A3A"/>
                </a:solidFill>
                <a:latin typeface="Microsoft JhengHei"/>
              </a:rPr>
              <a:t>不要從一個數字直接跳到一個決策。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中間至少要經過：解釋、缺口與選項。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「不知道」也可以是專業答案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6132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主管：「優惠活動值得繼續嗎？」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056132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32A30"/>
                </a:solidFill>
                <a:latin typeface="Microsoft JhengHei"/>
              </a:rPr>
              <a:t>目前只有：優惠前交易金額＋優惠期間交易金額
沒有：優惠成本、毛利、留存、活動後行為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023360"/>
            <a:ext cx="1056132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2D785A"/>
                </a:solidFill>
                <a:latin typeface="Microsoft JhengHei"/>
              </a:rPr>
              <a:t>較專業：「目前資料顯示優惠期間交易金額較高，但尚不足以判斷活動是否值得繼續。」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2｜決策準則（Decision Criteria）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613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「哪一個方案比較好？」之前，要先定義「好」是什麼。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34290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交易金額高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514600"/>
            <a:ext cx="34290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成本低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2514600"/>
            <a:ext cx="34290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新客戶多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11880"/>
            <a:ext cx="34290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留存高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611880"/>
            <a:ext cx="34290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客戶滿意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611880"/>
            <a:ext cx="342900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風險低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決策準則不同，「最好」的答案也可能不同。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主要案例｜信用卡優惠 A、B，哪個比較好？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17320" y="1234440"/>
          <a:ext cx="93268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468880"/>
                <a:gridCol w="246888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方案 A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方案 B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交易金額增加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+18%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+12%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活動成本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80 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35 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新增客戶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1,200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950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活動後持續使用率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客訴件數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35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12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9B3A3A"/>
                </a:solidFill>
                <a:latin typeface="Microsoft JhengHei"/>
              </a:rPr>
              <a:t>先不要選 A 或 B：先問「我的決策目標是什麼？」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目標不同，答案可能不同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828800"/>
                <a:gridCol w="4114800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決策目標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可能較支持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理由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短期衝高交易金額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A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+18% 較高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控制活動成本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35 萬較低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提高活動後持續使用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58% 較高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降低客訴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12 件較少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同一份資料，不同決策目標可能導向不同選擇。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1｜先定義「好」，再選 A／B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第一步禁止直接寫：「我選 A。」或「我選 B。」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我的決策目標：____________________________________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我最重視的兩項指標：① __________________　② __________________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103327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最後才選：□ A　□ B　□ 目前資料不足以選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3｜利害關係人（Stakeholder）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3272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會受到這個決策影響，或會影響這個決策的人／群體。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9659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銀行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743200"/>
            <a:ext cx="19659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客戶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2743200"/>
            <a:ext cx="19659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股東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743200"/>
            <a:ext cx="19659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員工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2743200"/>
            <a:ext cx="196596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主管機關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換一個角色，重視的準則可能就會改變。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2｜換一個角色，答案會不會變？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325880"/>
          <a:ext cx="9875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303520"/>
              </a:tblGrid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可能比較重視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信用卡行銷主管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交易成長、新增客戶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財務主管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成本、效益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客服主管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客訴、客戶體驗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高階主管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多項指標綜合判斷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資料不變，但角色與決策情境改變，判斷可能改變。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3｜資料看起來很多，還缺什麼？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新增客戶的長期價值？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17320"/>
            <a:ext cx="34290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活動期間？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4290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客群是否相同？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06040"/>
            <a:ext cx="34290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客訴嚴重程度？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606040"/>
            <a:ext cx="34290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成本包含哪些項目？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606040"/>
            <a:ext cx="34290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詐欺／風險成本？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做決策前，不只是問「我有什麼資料」，還要問「我還缺什麼證據」。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10 AI｜從分析助手升級成決策助手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29260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提示語範例
銀行有兩個信用卡優惠方案。A：交易金額 +18%、成本 80 萬、新增客戶 1,200 人、持續使用率 42%、客訴 35 件；B：+12%、35 萬、950 人、58%、12 件。請分別從「行銷主管」與「財務主管」角度提出可能的選擇與理由。不要自行加入題目沒有提供的資料。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17720"/>
            <a:ext cx="1033272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AI 可以提出建議；學生要追問：「它為什麼這樣選？」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決策查核四問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578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① AI 用了哪些證據？
它引用了哪些數字？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2578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② AI 重視哪些決策準則？
它怎麼定義「好」？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46120"/>
            <a:ext cx="52578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③ AI 忽略了哪些資訊？
還缺什麼證據？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46120"/>
            <a:ext cx="525780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④ 如果準則改變呢？
答案會不會跟著改？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9B3A3A"/>
                </a:solidFill>
                <a:latin typeface="Microsoft JhengHei"/>
              </a:rPr>
              <a:t>M4 不只是查 AI「對不對」，而是查它「根據什麼做建議」。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故意逼 AI：「只能選一個最好方案」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61320" cy="777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Prompt：「請直接告訴我 A、B 哪一個方案最好，只能選一個。」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10561320" cy="1005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900" b="1">
                <a:solidFill>
                  <a:srgbClr val="9B3A3A"/>
                </a:solidFill>
                <a:latin typeface="Microsoft JhengHei"/>
              </a:rPr>
              <a:t>AI 很可能真的選一個。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學生要問：它憑什麼？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000" b="1">
                <a:solidFill>
                  <a:srgbClr val="2D785A"/>
                </a:solidFill>
                <a:latin typeface="Microsoft JhengHei"/>
              </a:rPr>
              <a:t>「最好」若沒有定義，AI 的唯一答案可能只是它替你偷偷選了標準。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金融小案例｜高報酬就是好投資嗎？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50749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投資 A
年報酬 15%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0749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投資 B
年報酬 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哪個比較好？目前資料不足。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1772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32A30"/>
                </a:solidFill>
                <a:latin typeface="Microsoft JhengHei"/>
              </a:rPr>
              <a:t>還可能需要：波動、最大回撤、流動性、投資期間、投資人的風險承受程度。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銀行小案例｜核准率越高越好嗎？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50749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貸款模型 A
核准率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0749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貸款模型 B
核准率 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不能只看核准率就決定哪個模型比較好。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1772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232A30"/>
                </a:solidFill>
                <a:latin typeface="Microsoft JhengHei"/>
              </a:rPr>
              <a:t>還要考慮：違約、收益、風險、客戶公平性、法規要求。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本週最小學習產出｜證據—決策卡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0972799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955279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欄位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我的內容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決策問題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資料證據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可能代表什麼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還缺什麼資訊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我的決策準則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①　　　　　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可選方案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AI 建議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我的判斷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我與 AI 不同的地方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W16 第四步｜分析結果要有「金融／管理意涵」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資料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分析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證據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管理／金融意涵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Week 6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Week 7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Week 8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分析結果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Week 10：這代表什麼？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3931920"/>
            <a:ext cx="1056132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期末作品不只是：「這是我的資料、這是我的圖、這是 AI 的分析。」
還要回答：「所以這些結果對一個金融／商管問題代表什麼？」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快速檢核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Q1｜優惠期間交易金額較高，因此一定應增加優惠預算。　○ 對　○ 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84832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Q2｜決策前應先確認：A 圖表美觀　B AI 模型　C 決策準則　D 報告頁數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26664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Q3｜同一份資料，不同主管可能因決策目標不同而做出不同判斷。　○ 對　○ 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68496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Q4｜資料不足時：A 一定選一個　B 讓 AI 選　C 說明缺少什麼　D 猜一個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10328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Q5｜AI 提建議後，人要確認它使用了什麼證據與決策準則。　○ 對　○ 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本週刻意不教｜不是決策科學技術課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560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AHP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325880"/>
            <a:ext cx="2560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TOPSIS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25880"/>
            <a:ext cx="2560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最佳化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325880"/>
            <a:ext cx="2560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效用理論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2560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決策樹演算法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743200"/>
            <a:ext cx="2560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成本效益公式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743200"/>
            <a:ext cx="2560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Sharpe Ratio 計算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743200"/>
            <a:ext cx="2560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32A30"/>
                </a:solidFill>
                <a:latin typeface="Microsoft JhengHei"/>
              </a:rPr>
              <a:t>信用評分模型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核心不是「算出最佳決策」，而是看見資料分析與管理決策之間還需要人的判斷。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M4 正式換檔｜從「查核 AI」到「質疑 AI」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6309360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AI 能力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學生開始問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M1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詢問 AI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你可以解釋嗎？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使用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你可以協助分析嗎？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M3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查核 AI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你的分析有證據嗎？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M4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質疑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2A30"/>
                          </a:solidFill>
                          <a:latin typeface="Microsoft JhengHei"/>
                        </a:rPr>
                        <a:t>你的建議根據什麼？你忽略了什麼？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500" b="1">
                <a:solidFill>
                  <a:srgbClr val="9B3A3A"/>
                </a:solidFill>
                <a:latin typeface="Microsoft JhengHei"/>
              </a:rPr>
              <a:t>質疑不是預設 AI 錯，而是要求它的建議可被理解、查核與負責。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10 收束｜資料不能替人完成最後一步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問題 → 資料 → 分析 → 證據 → 解釋 → 決策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500" b="1">
                <a:solidFill>
                  <a:srgbClr val="9B3A3A"/>
                </a:solidFill>
                <a:latin typeface="Microsoft JhengHei"/>
              </a:rPr>
              <a:t>有證據 ≠ 能決策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7315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AI 可以提出選項與理由；人必須確認目標、準則、缺口與責任。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下一週：一個數字「好不好」，還要看我們拿什麼當比較基準。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