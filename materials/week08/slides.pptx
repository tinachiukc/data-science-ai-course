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icrosoft JhengHei"/>
              </a:rPr>
              <a:t>Week 8｜分析不是亂算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107899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讓問題、資料與方法對得起來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0690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我有問題、也有資料了，該怎麼分析才真的能回答問題？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M3 三週｜今天要把整條鏈接起來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3429000" cy="2057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W6
問對問題
想問 ≠ 能回答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508760"/>
            <a:ext cx="3429000" cy="2057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W7
找對資料
資料多 ≠ 資料有用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0" y="1508760"/>
            <a:ext cx="3429000" cy="2057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W8
選對分析
有算 ≠ 有回答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問題 → 資料 → 分析 → 證據 → 有邊界的結論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開場｜AI 幫我「分析完了」？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442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主管：「最近信用卡刷卡狀況是不是變差？」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10744200" cy="14630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32A30"/>
                </a:solidFill>
                <a:latin typeface="Microsoft JhengHei"/>
              </a:rPr>
              <a:t>AI：資料共有 6 個月份；平均每月交易金額約 539 萬元；最高 594 萬元；最低 468 萬元。分析完成。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3272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900" b="1">
                <a:solidFill>
                  <a:srgbClr val="9B3A3A"/>
                </a:solidFill>
                <a:latin typeface="Microsoft JhengHei"/>
              </a:rPr>
              <a:t>所以……信用卡刷卡狀況到底有沒有變差？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數字可能都算對了，但原來的問題還沒有被回答。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1｜分析目的（Analysis Purpose）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分析方法不是從工具開始，而是從「我要回答什麼」開始。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743200"/>
          <a:ext cx="10515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4114800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同一份資料，不同問題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較合理的第一步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最近六個月交易金額是否下降？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按月份比較交易金額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哪個月份交易金額最高？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比較各月交易金額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平均每月交易金額是多少？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計算平均數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2｜「我要知道什麼？」分析地圖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143000"/>
          <a:ext cx="1014984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212080"/>
              </a:tblGrid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我想知道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可以先做什麼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有多少？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計數（Count）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一般大約多少？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平均數／中位數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誰比較高／低？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分組比較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有沒有變化？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按時間比較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哪一類比較多？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類別比較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有沒有值得注意的值？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最大／最小／極端值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兩群有沒有不同？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分組後比較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3｜問題—資料—分析三角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0" y="1234440"/>
            <a:ext cx="365760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問題 Question
我想回答什麼？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886200"/>
            <a:ext cx="365760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資料 Data
我有哪些證據？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886200"/>
            <a:ext cx="365760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9B3A3A"/>
                </a:solidFill>
                <a:latin typeface="Microsoft JhengHei"/>
              </a:rPr>
              <a:t>分析 Analysis
我要怎麼整理／比較？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971800"/>
            <a:ext cx="3657600" cy="9144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FFFFFF"/>
                </a:solidFill>
                <a:latin typeface="Microsoft JhengHei"/>
              </a:rPr>
              <a:t>結論
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三者對得起來，結論才站得住。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案例｜算對，不代表答對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問題：「哪個年齡層最常使用行動支付？」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16459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學生 A
計算全部客戶的平均年齡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514600"/>
            <a:ext cx="5074920" cy="16459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比較合理
依年齡群體比較行動支付使用情形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有算嗎？有。算錯嗎？不一定。有回答嗎？沒有。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案例｜漂亮，但沒有回答問題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188720"/>
            <a:ext cx="105613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問題：「最近六個月信用卡交易金額是否下降？」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做了一張
「各消費類別交易金額圓餅圖」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33172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問題需要
「月份 × 交易金額」
看時間變化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圖表沒有錯，不代表它對「現在這個問題」有用。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核心工具｜分析前四問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25780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① 我的問題是什麼？
不要分析到忘記原題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5780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② 我要比較什麼？
人、群體、類別還是時間？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91839"/>
            <a:ext cx="525780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③ 哪個指標能回答？
金額、次數、比例、平均、中位數？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39"/>
            <a:ext cx="525780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④ 我要怎麼呈現？
表格、簡單統計、長條圖、折線圖？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9B3A3A"/>
                </a:solidFill>
                <a:latin typeface="Microsoft JhengHei"/>
              </a:rPr>
              <a:t>分析之前先問四次，常常比多做四種計算更重要。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本週唯一新增圖表｜折線圖（Line Chart）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主要用途：觀察「隨時間的變化」。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343400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316999"/>
                </a:solidFill>
                <a:latin typeface="Microsoft JhengHei"/>
              </a:rP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486400"/>
            <a:ext cx="82296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0">
                <a:solidFill>
                  <a:srgbClr val="232A30"/>
                </a:solidFill>
                <a:latin typeface="Microsoft JhengHei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4023360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316999"/>
                </a:solidFill>
                <a:latin typeface="Microsoft JhengHei"/>
              </a:rP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5486400"/>
            <a:ext cx="82296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0">
                <a:solidFill>
                  <a:srgbClr val="232A30"/>
                </a:solidFill>
                <a:latin typeface="Microsoft JhengHei"/>
              </a:rPr>
              <a:t>2月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316999"/>
                </a:solidFill>
                <a:latin typeface="Microsoft JhengHe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59" y="5486400"/>
            <a:ext cx="82296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0">
                <a:solidFill>
                  <a:srgbClr val="232A30"/>
                </a:solidFill>
                <a:latin typeface="Microsoft JhengHei"/>
              </a:rPr>
              <a:t>3月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4160520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316999"/>
                </a:solidFill>
                <a:latin typeface="Microsoft Jheng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5486400"/>
            <a:ext cx="82296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0">
                <a:solidFill>
                  <a:srgbClr val="232A30"/>
                </a:solidFill>
                <a:latin typeface="Microsoft JhengHei"/>
              </a:rPr>
              <a:t>4月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526280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316999"/>
                </a:solidFill>
                <a:latin typeface="Microsoft JhengHe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82296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0">
                <a:solidFill>
                  <a:srgbClr val="232A30"/>
                </a:solidFill>
                <a:latin typeface="Microsoft JhengHei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4937760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316999"/>
                </a:solidFill>
                <a:latin typeface="Microsoft JhengHe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5486400"/>
            <a:ext cx="82296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0">
                <a:solidFill>
                  <a:srgbClr val="232A30"/>
                </a:solidFill>
                <a:latin typeface="Microsoft JhengHei"/>
              </a:rPr>
              <a:t>6月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33172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例：月份 → 信用卡交易金額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10332720" cy="2743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300" b="0">
                <a:solidFill>
                  <a:srgbClr val="646E76"/>
                </a:solidFill>
                <a:latin typeface="Microsoft JhengHei"/>
              </a:rPr>
              <a:t>本週不進入時間序列模型、移動平均或預測。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長條圖 vs. 折線圖｜圖表也要跟問題配對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9260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長條圖 Bar Chart
比較不同「類別」
例：餐飲、交通、娛樂、購物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120640" cy="29260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折線圖 Line Chart
觀察「時間變化」
例：1 月 → 6 月交易金額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9B3A3A"/>
                </a:solidFill>
                <a:latin typeface="Microsoft JhengHei"/>
              </a:rPr>
              <a:t>不是哪種圖比較漂亮，而是哪種圖比較能回答問題。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主要案例｜信用卡交易真的變差嗎？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2560320"/>
                <a:gridCol w="356616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月份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交易人數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交易次數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交易金額（元）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1月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1,250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3,420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5,820,000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2月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3,310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5,610,000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3月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1,260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3,500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5,940,000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4月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1,180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3,120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5,250,000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5月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1,150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2,980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5,020,000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6月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1,090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2,760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4,680,000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9B3A3A"/>
                </a:solidFill>
                <a:latin typeface="Microsoft JhengHei"/>
              </a:rPr>
              <a:t>先不要急著算：你準備用哪個指標定義「變差」？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分析規劃｜先做四個決定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Step 1｜定義
「變差」用交易人數、次數還是金額？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Step 2｜選分析
平均？月份比較？最大最小？時間變化？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39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Step 3｜呈現
表格？折線圖？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39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Step 4｜解釋
資料讓我看到什麼？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9B3A3A"/>
                </a:solidFill>
                <a:latin typeface="Microsoft JhengHei"/>
              </a:rPr>
              <a:t>先規劃，再計算；先對問題，再談工具。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資料真正告訴我們什麼？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1～3 月不是一路下降；3 月反而是高點。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377440"/>
          <a:ext cx="9966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2103120"/>
                <a:gridCol w="28346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3 月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交易人數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1,260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1,090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下降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交易次數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2,760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下降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交易金額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5,940,000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4,680,000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下降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25780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2D785A"/>
                </a:solidFill>
                <a:latin typeface="Microsoft JhengHei"/>
              </a:rPr>
              <a:t>較精確：「資料顯示 3 月之後，三項指標均呈下降。」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可以直接說「信用卡業務變差」嗎？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目前資料提供「刷卡活動下降的訊號」。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34290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季節性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2514600"/>
            <a:ext cx="34290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行銷活動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2514600"/>
            <a:ext cx="34290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連假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34290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景氣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3474720"/>
            <a:ext cx="34290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客戶結構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3474720"/>
            <a:ext cx="34290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卡片產品調整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52760" cy="10058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較好的結論：目前資料顯示 3 月後刷卡活動下降，但是否代表整體信用卡業務惡化，仍需更多期間與背景資料確認。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8 的 AI｜分析規劃助手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10835640" cy="3063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700" b="0">
                <a:solidFill>
                  <a:srgbClr val="232A30"/>
                </a:solidFill>
                <a:latin typeface="Microsoft JhengHei"/>
              </a:rPr>
              <a:t>提示語範例
我是金融管理系一年級學生。我的資料問題是：「2026 年 1～6 月信用卡刷卡狀況是否變差？」資料欄位包含月份、交易人數、交易次數與交易金額。請提出一個簡單、適合初學者的分析步驟，說明每一步要看什麼。不要使用進階統計模型，也不要自行加入資料中不存在的資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AI 提計畫，人用「分析前四問」審查。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的新陷阱｜分析很多，但沒有回答核心問題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算平均數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258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找最大值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3258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找最小值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258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計算總和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6974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畫圓餅圖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6974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分析客戶滿意度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697480"/>
            <a:ext cx="2560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預測未來三個月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9B3A3A"/>
                </a:solidFill>
                <a:latin typeface="Microsoft JhengHei"/>
              </a:rPr>
              <a:t>逐項問：「這一步真的有助於回答原問題嗎？」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本週查核重點：不是只問「算錯沒」，而是問「有必要嗎」。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1｜分析方法配對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11480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較適合的第一步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哪類消費交易最多？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類別計數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哪類平均消費較高？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分組後比較平均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最近半年交易金額有沒有變化？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按月份比較＋折線圖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哪筆交易特別高？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最大值／觀察極端值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使用優惠與未使用優惠是否不同？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分組比較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2｜刪掉沒必要的分析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AI 提出 8 個分析步驟，你不是全部照做。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423160"/>
            <a:ext cx="91440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2423160"/>
            <a:ext cx="88696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193756"/>
                </a:solidFill>
                <a:latin typeface="Microsoft JhengHei"/>
              </a:rPr>
              <a:t>保留：直接幫助回答問題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474720"/>
            <a:ext cx="914400" cy="685800"/>
          </a:xfrm>
          <a:prstGeom prst="roundRect">
            <a:avLst/>
          </a:prstGeom>
          <a:solidFill>
            <a:srgbClr val="C79941"/>
          </a:solidFill>
          <a:ln>
            <a:solidFill>
              <a:srgbClr val="C79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3474720"/>
            <a:ext cx="88696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193756"/>
                </a:solidFill>
                <a:latin typeface="Microsoft JhengHei"/>
              </a:rPr>
              <a:t>修改：方向可用，但需要調整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4526279"/>
            <a:ext cx="914400" cy="685800"/>
          </a:xfrm>
          <a:prstGeom prst="roundRect">
            <a:avLst/>
          </a:prstGeom>
          <a:solidFill>
            <a:srgbClr val="9B3A3A"/>
          </a:solidFill>
          <a:ln>
            <a:solidFill>
              <a:srgbClr val="9B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4526279"/>
            <a:ext cx="88696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193756"/>
                </a:solidFill>
                <a:latin typeface="Microsoft JhengHei"/>
              </a:rPr>
              <a:t>刪除：與問題無關或超出資料能力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3｜從結果寫一句「有證據的話」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不要寫
「銀行經營失敗。」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3444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先寫資料事實
「3 月至 6 月交易金額由 594 萬元降至 468 萬元。」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703320"/>
            <a:ext cx="10652760" cy="12344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再加邊界：這顯示近期刷卡活動有下降訊號，但仍需更多資料判斷原因與是否屬長期趨勢。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本週最小學習產出｜我的第一張分析規劃卡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046720"/>
              </a:tblGrid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欄位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我的內容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資料問題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需要的資料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我要比較什麼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判斷指標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分析方式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計數 □ 平均／中位數 □ 分組比較 □ 時間比較 □ 最大／最小 □ 長條圖 □ 折線圖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為什麼這樣分析？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AI 建議／我如何調整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40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預期能回答什麼？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第三步｜問題—資料—分析規劃表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51760"/>
              </a:tblGrid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必要資料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分析方式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預期證據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我的問題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7 已確認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8 決定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我希望看到什麼證據？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023360"/>
            <a:ext cx="105613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不要變成：「我找到一個資料集，所以我要做專題。」
而是：「我有問題 → 需要資料 → 選分析 → 因為它能提供證據。」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小型整合活動｜主管問我，我怎麼回答？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2120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① 我們怎麼定義問題？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52120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② 我們用了哪些資料？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52120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③ 我們選什麼分析？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651760"/>
            <a:ext cx="52120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④ 我們看到什麼？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9B3A3A"/>
                </a:solidFill>
                <a:latin typeface="Microsoft JhengHei"/>
              </a:rPr>
              <a:t>⑤ 我們可以說什麼？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69080"/>
            <a:ext cx="52120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9B3A3A"/>
                </a:solidFill>
                <a:latin typeface="Microsoft JhengHei"/>
              </a:rPr>
              <a:t>⑥ 我們不能說什麼？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最後兩題尤其重要：資料分析也要知道自己的邊界。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使用揭露｜延續 Week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3063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100" b="0">
                <a:solidFill>
                  <a:srgbClr val="232A30"/>
                </a:solidFill>
                <a:latin typeface="Microsoft JhengHei"/>
              </a:rPr>
              <a:t>本活動我使用 AI：
□ 協助理解問題　□ 建議分析方法　□ 解釋圖表
□ 檢查我的結論　□ 修正文句　□ 未使用
我沒有直接採用 AI 的哪一項建議？為什麼？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使用 AI 不等於把分析選擇交給 AI。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快速檢核｜有算，真的有回答嗎？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69848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Q1｜「哪個年齡層最常用行動支付？」只算全部客戶平均年齡，可以回答嗎？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84832"/>
            <a:ext cx="1069848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Q2｜觀察六個月交易金額變化：A 圓餅圖　B 折線圖　C 只算總和　D 姓名表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72384"/>
            <a:ext cx="1069848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Q3｜AI 的平均數完全正確，所以一定回答了原問題。　○ 對　○ 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59936"/>
            <a:ext cx="1069848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Q4｜3～6 月交易金額下降，可以直接說「信用卡業務已長期衰退」嗎？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47488"/>
            <a:ext cx="1069848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Q5｜好的分析方法，應能提供回答原問題所需要的證據。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重週 ≠ 技術爆量｜本週刻意不教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標準差公式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相關係數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t-test／ANOVA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迴歸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機器學習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時間序列預測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Python／Pandas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Power BI／Tableau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本週只有一個正式新增工具概念：折線圖（Line Chart）。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「重」在整合與判斷責任，不在技術難度。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M3 完成｜問題 → 資料 → 分析 → 證據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42900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W6｜問對問題
想問 ≠ 能回答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325880"/>
            <a:ext cx="342900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W7｜找對資料
資料多 ≠ 資料有用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0" y="1325880"/>
            <a:ext cx="342900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9B3A3A"/>
                </a:solidFill>
                <a:latin typeface="Microsoft JhengHei"/>
              </a:rPr>
              <a:t>W8｜選對分析
有算 ≠ 有回答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840480"/>
            <a:ext cx="10332720" cy="9144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JhengHei"/>
              </a:rPr>
              <a:t>問題 → 資料 → 分析 → 證據 → 有邊界的結論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66360"/>
            <a:ext cx="103327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下一站：Week 9 期中評量，不再加入新的核心知識。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