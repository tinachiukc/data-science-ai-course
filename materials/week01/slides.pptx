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0058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1｜從資料開始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10515600" cy="6400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600" b="0">
                <a:solidFill>
                  <a:srgbClr val="DEE8F0"/>
                </a:solidFill>
                <a:latin typeface="Microsoft JhengHei"/>
              </a:rPr>
              <a:t>資料科學、大數據與 AI 時代的金融決策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3000" b="1">
                <a:solidFill>
                  <a:srgbClr val="193756"/>
                </a:solidFill>
                <a:latin typeface="Microsoft JhengHei"/>
              </a:rPr>
              <a:t>有資料，就能做出好決策嗎？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你今天已經產生多少資料？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從起床到走進教室，哪些行為留下了資料？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手機解鎖
時間／裝置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00200"/>
            <a:ext cx="33375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通訊軟體
訊息／互動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00200"/>
            <a:ext cx="33375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地圖導航
位置／路線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33375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影音平台
搜尋／觀看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520440"/>
            <a:ext cx="33375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行動支付
金額／商店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520440"/>
            <a:ext cx="33375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網路購物
商品／瀏覽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資料足跡（Data Footprint）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生活中的行為，往往會留下可被記錄與分析的資料。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08760"/>
          <a:ext cx="99669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766560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日常行為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可能產生的資料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金額、時間、商店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網路購物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商品、價格、瀏覽紀錄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手機定位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時間、位置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影音平台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搜尋、觀看、停留時間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銀行交易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金額、帳戶、時間、交易方式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金融業更是資料密集的產業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423160" cy="10515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JhengHei"/>
              </a:rPr>
              <a:t>客戶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71800"/>
            <a:ext cx="242316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232A30"/>
                </a:solidFill>
                <a:latin typeface="Microsoft JhengHei"/>
              </a:rPr>
              <a:t>需求與服務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828800"/>
            <a:ext cx="2423160" cy="10515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JhengHei"/>
              </a:rPr>
              <a:t>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971800"/>
            <a:ext cx="242316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232A30"/>
                </a:solidFill>
                <a:latin typeface="Microsoft JhengHei"/>
              </a:rPr>
              <a:t>異常與信用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2423160" cy="10515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JhengHei"/>
              </a:rPr>
              <a:t>投資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971800"/>
            <a:ext cx="242316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232A30"/>
                </a:solidFill>
                <a:latin typeface="Microsoft JhengHei"/>
              </a:rPr>
              <a:t>市場與資產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828800"/>
            <a:ext cx="2423160" cy="10515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JhengHei"/>
              </a:rPr>
              <a:t>營運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971800"/>
            <a:ext cx="242316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232A30"/>
                </a:solidFill>
                <a:latin typeface="Microsoft JhengHei"/>
              </a:rPr>
              <a:t>流程與效率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9875520" cy="7315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資料很多，就一定更了解客戶、做出更好的決策嗎？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今天的核心問題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3600" b="1">
                <a:solidFill>
                  <a:srgbClr val="193756"/>
                </a:solidFill>
                <a:latin typeface="Microsoft JhengHei"/>
              </a:rPr>
              <a:t>有資料，就能做出好決策嗎？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5468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A｜當然可以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15468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B｜不一定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0624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C｜資料越多越準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206240"/>
            <a:ext cx="4754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D｜有 AI 就可以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23560"/>
            <a:ext cx="941832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700" b="0">
                <a:solidFill>
                  <a:srgbClr val="646E76"/>
                </a:solidFill>
                <a:latin typeface="Microsoft JhengHei"/>
              </a:rPr>
              <a:t>先選一個答案；下課前我們再回答一次。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先把幾個容易混淆的概念分清楚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441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726679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概念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第一週先這樣理解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資料（Data）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對事物、事件或行為留下的紀錄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大數據（Big Data）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規模、速度或多樣性很高的資料情境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資料科學（Data Science）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利用資料與分析理解問題並支持決策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人工智慧（AI）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讓機器執行部分需要智慧能力的任務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生成式 AI（Generative AI）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依據輸入產生文字、圖片、程式等內容的 AI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989320"/>
            <a:ext cx="932688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它們彼此有關，但不是同一件事。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資料不只是 Excel 裡的一排數字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2461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數字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554480"/>
            <a:ext cx="32461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文字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554480"/>
            <a:ext cx="32461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圖片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39"/>
            <a:ext cx="32461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聲音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3063239"/>
            <a:ext cx="32461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交易紀錄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063239"/>
            <a:ext cx="32461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點擊紀錄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241280" cy="6858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232A30"/>
                </a:solidFill>
                <a:latin typeface="Microsoft JhengHei"/>
              </a:rPr>
              <a:t>資料是對世界留下的「紀錄」，形式可以很多元。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資料本身不會自動告訴我們答案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4116" y="25603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8708" y="22860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整理與分析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8464" y="25603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22860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資訊與洞察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2812" y="25603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7404" y="22860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支持決策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60520"/>
            <a:ext cx="1024128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資料的價值，不在於「存在」，而在於能否幫助我們理解問題。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什麼是資料科學（Data Science）？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24128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運用資料、分析方法與工具，從資料中發現資訊，
協助理解問題並支持決策的過程。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7033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3977639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1838" y="37033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4724" y="3977639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9316" y="37033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203" y="3977639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6795" y="37033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解釋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9681" y="3977639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4273" y="37033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一個資料科學問題通常怎麼走？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這也是我們這學期會反覆練習的路徑。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提出問題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1" y="201168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取得資料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2231" y="228600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01168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整理資料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8464" y="228600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01168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探索與分析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28600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201168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解釋結果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28600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19" y="201168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支持決策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931920"/>
            <a:ext cx="996696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232A30"/>
                </a:solidFill>
                <a:latin typeface="Microsoft JhengHei"/>
              </a:rPr>
              <a:t>如果結果不合理，就回頭檢查：問題、資料、方法或解釋哪裡需要修正？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66360"/>
            <a:ext cx="8503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資料科學是一個反覆檢查與修正的過程。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資料科學 ≠ 寫程式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4892040" cy="3566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工具與程式
• 幫助整理資料
• 幫助計算與視覺化
• 幫助重複執行工作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508760"/>
            <a:ext cx="4892040" cy="3566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真正的問題
• 我想知道什麼？
• 資料能回答嗎？
• 結果代表什麼？
• 可以支持什麼決策？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50392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工具很重要，但工具不是目的。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資料很多，就是大數據嗎？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4983480" cy="2651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情境 A
一份 Excel 檔
有 10,000 筆問卷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00200"/>
            <a:ext cx="4983480" cy="2651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情境 B
銀行持續收到大量刷卡、
轉帳、APP 與網路交易資料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326880" cy="6400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232A30"/>
                </a:solidFill>
                <a:latin typeface="Microsoft JhengHei"/>
              </a:rPr>
              <a:t>哪一個情境更接近「大數據」？為什麼？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大數據（Big Data）：第一週先掌握 3V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1430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大量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3832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0">
                <a:solidFill>
                  <a:srgbClr val="232A30"/>
                </a:solidFill>
                <a:latin typeface="Microsoft JhengHei"/>
              </a:rPr>
              <a:t>資料規模非常大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383280" cy="11430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快速 Velocity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108960"/>
            <a:ext cx="33832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0">
                <a:solidFill>
                  <a:srgbClr val="232A30"/>
                </a:solidFill>
                <a:latin typeface="Microsoft JhengHei"/>
              </a:rPr>
              <a:t>資料快速且持續產生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383280" cy="11430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多樣 Variety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108960"/>
            <a:ext cx="33832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0">
                <a:solidFill>
                  <a:srgbClr val="232A30"/>
                </a:solidFill>
                <a:latin typeface="Microsoft JhengHei"/>
              </a:rPr>
              <a:t>資料來源與形式很多元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996696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資料「大」不代表資料自然會產生價值。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案例｜你是銀行的風險管理人員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系統剛收到以下四筆信用卡交易。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1645920"/>
                <a:gridCol w="2103120"/>
                <a:gridCol w="4480560"/>
              </a:tblGrid>
              <a:tr h="66751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交易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地區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金額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A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12:10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台南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120元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18:35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台南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680元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百貨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C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20:12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高雄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1,250元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02:13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海外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48,000元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網路購物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97280" y="5166360"/>
            <a:ext cx="98755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哪一筆最值得注意？你根據哪些資料做判斷？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「可疑」等於「詐欺」嗎？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297680" cy="1097280"/>
          </a:xfrm>
          <a:prstGeom prst="roundRect">
            <a:avLst/>
          </a:prstGeom>
          <a:solidFill>
            <a:srgbClr val="9B3A3A"/>
          </a:solidFill>
          <a:ln>
            <a:solidFill>
              <a:srgbClr val="9B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JhengHei"/>
              </a:rPr>
              <a:t>D 很可疑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965960"/>
            <a:ext cx="128016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646E76"/>
                </a:solidFill>
                <a:latin typeface="Microsoft JhengHei"/>
              </a:rPr>
              <a:t>所以？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297680" cy="10972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3000" b="1">
                <a:solidFill>
                  <a:srgbClr val="193756"/>
                </a:solidFill>
                <a:latin typeface="Microsoft JhengHei"/>
              </a:rPr>
              <a:t>D 一定是詐欺？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94760"/>
            <a:ext cx="9784080" cy="9601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資料可以提供「訊號」，但訊號不等於結論。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120640"/>
            <a:ext cx="9052560" cy="5486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100" b="0">
                <a:solidFill>
                  <a:srgbClr val="232A30"/>
                </a:solidFill>
                <a:latin typeface="Microsoft JhengHei"/>
              </a:rPr>
              <a:t>先不要急著下結論：我們還缺什麼資料？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新資料出現：你的判斷會改變嗎？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508760"/>
            <a:ext cx="10058400" cy="13258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補充資訊
客戶昨天已搭機前往日本，而且過去一年曾有多次海外高額消費。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241280" cy="6858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232A30"/>
                </a:solidFill>
                <a:latin typeface="Microsoft JhengHei"/>
              </a:rPr>
              <a:t>現在，你對交易 D 的判斷有沒有改變？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617720"/>
            <a:ext cx="9784080" cy="7315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新資料可能改變判斷；但「比較不可疑」也不等於「一定安全」。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好的資料分析，也要問「我缺什麼？」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2461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是否正在國外？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508760"/>
            <a:ext cx="32461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過去海外消費？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508760"/>
            <a:ext cx="32461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商家資訊？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26080"/>
            <a:ext cx="32461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常用裝置？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926080"/>
            <a:ext cx="32461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交易地點／IP？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926080"/>
            <a:ext cx="32461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過去消費模式？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10058400" cy="7772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32A30"/>
                </a:solidFill>
                <a:latin typeface="Microsoft JhengHei"/>
              </a:rPr>
              <a:t>不只問「資料告訴我什麼」，也要問「還缺什麼資料」。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資料科學通常從「值得回答的問題」開始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如果任務是「降低信用卡詐欺損失」，你真正需要回答哪些問題？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14600"/>
            <a:ext cx="8686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A30"/>
                </a:solidFill>
                <a:latin typeface="Microsoft JhengHei"/>
              </a:defRPr>
            </a:pPr>
            <a:r>
              <a:t>哪些交易值得優先注意？</a:t>
            </a:r>
          </a:p>
          <a:p>
            <a:pPr>
              <a:spcAft>
                <a:spcPts val="1000"/>
              </a:spcAft>
              <a:defRPr sz="2100">
                <a:solidFill>
                  <a:srgbClr val="232A30"/>
                </a:solidFill>
                <a:latin typeface="Microsoft JhengHei"/>
              </a:defRPr>
            </a:pPr>
            <a:r>
              <a:t>什麼時候需要通知客戶？</a:t>
            </a:r>
          </a:p>
          <a:p>
            <a:pPr>
              <a:spcAft>
                <a:spcPts val="1000"/>
              </a:spcAft>
              <a:defRPr sz="2100">
                <a:solidFill>
                  <a:srgbClr val="232A30"/>
                </a:solidFill>
                <a:latin typeface="Microsoft JhengHei"/>
              </a:defRPr>
            </a:pPr>
            <a:r>
              <a:t>怎麼降低誤擋正常交易？</a:t>
            </a:r>
          </a:p>
          <a:p>
            <a:pPr>
              <a:spcAft>
                <a:spcPts val="1000"/>
              </a:spcAft>
              <a:defRPr sz="2100">
                <a:solidFill>
                  <a:srgbClr val="232A30"/>
                </a:solidFill>
                <a:latin typeface="Microsoft JhengHei"/>
              </a:defRPr>
            </a:pPr>
            <a:r>
              <a:t>還需要哪些資料才能判斷？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94960"/>
            <a:ext cx="960120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先有問題，再思考需要什麼資料與方法。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第一次與生成式 AI 協作：先請它幫我們「理解」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1065276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800" b="0">
                <a:solidFill>
                  <a:srgbClr val="232A30"/>
                </a:solidFill>
                <a:latin typeface="Microsoft JhengHei"/>
              </a:rPr>
              <a:t>提示語範例
「我是金融管理系一年級學生，剛開始學習資料科學。某位客戶平常多在台灣消費，每筆約數百至數千元，現在凌晨突然出現一筆48,000元的海外網路交易。請用簡單方式說明，為什麼不能只因為金額很高就直接判定為信用卡詐欺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10058400" cy="6858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本週 AI 的角色：解說者，而不是替你做最後判斷的人。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074920"/>
            <a:ext cx="9601200" cy="5029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000" b="0">
                <a:solidFill>
                  <a:srgbClr val="646E76"/>
                </a:solidFill>
                <a:latin typeface="Microsoft JhengHei"/>
              </a:rPr>
              <a:t>先理解 AI 的回答，再決定哪些地方需要查核。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建立第一個 AI 查核習慣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41732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① AI 說了什麼？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② 哪些地方合理？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06908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③ 哪些地方不能只相信 AI？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486400"/>
            <a:ext cx="960120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900" b="0">
                <a:solidFill>
                  <a:srgbClr val="646E76"/>
                </a:solidFill>
                <a:latin typeface="Microsoft JhengHei"/>
              </a:rPr>
              <a:t>這三個問題，之後還會反覆出現在課程中。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精確，不代表可靠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3100" b="1">
                <a:solidFill>
                  <a:srgbClr val="9B3A3A"/>
                </a:solidFill>
                <a:latin typeface="Microsoft JhengHei"/>
              </a:rPr>
              <a:t>AI：「這筆交易有 95% 的機率是詐欺。」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063240"/>
            <a:ext cx="3246120" cy="96012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資料在哪裡？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063240"/>
            <a:ext cx="3246120" cy="96012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方法是什麼？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3063240"/>
            <a:ext cx="3246120" cy="96012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可以驗證嗎？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10058400" cy="7315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沒有資料、模型或計算依據時，「95%」只是看起來很精確。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我的第一個資料判斷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我看到什麼資料？
描述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63040"/>
            <a:ext cx="516636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我目前能做什麼判斷？
判讀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516636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我還缺什麼資料？
查缺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429000"/>
            <a:ext cx="516636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我還想問什麼問題？
提問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32120"/>
            <a:ext cx="10058400" cy="41148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900" b="0">
                <a:solidFill>
                  <a:srgbClr val="646E76"/>
                </a:solidFill>
                <a:latin typeface="Microsoft JhengHei"/>
              </a:rPr>
              <a:t>把答案寫在學習單上：這就是本週的學習證據。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快速檢核｜你現在怎麼判斷？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349240" cy="1874519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800" b="1">
                <a:solidFill>
                  <a:srgbClr val="193756"/>
                </a:solidFill>
                <a:latin typeface="Microsoft JhengHei"/>
              </a:rPr>
              <a:t>Q1
資料量越大，分析結果一定越正確。
○ 正確　○ 錯誤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257800" cy="1874519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700" b="1">
                <a:solidFill>
                  <a:srgbClr val="193756"/>
                </a:solidFill>
                <a:latin typeface="Microsoft JhengHei"/>
              </a:rPr>
              <a:t>Q2
資料科學的核心較接近：
A 寫很多程式　B 蒐集越多越好
C 用資料理解問題與決策　D 交給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5349240" cy="1874519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700" b="1">
                <a:solidFill>
                  <a:srgbClr val="193756"/>
                </a:solidFill>
                <a:latin typeface="Microsoft JhengHei"/>
              </a:rPr>
              <a:t>Q3
得知客戶正在國外後，最適當的是：
A 一定安全　B 一定詐欺
C 判斷改變但仍需證據　D 交給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257800" cy="1874519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700" b="1">
                <a:solidFill>
                  <a:srgbClr val="193756"/>
                </a:solidFill>
                <a:latin typeface="Microsoft JhengHei"/>
              </a:rPr>
              <a:t>Q4
AI 說「95% 是詐欺」，最先應問：
A 直接採用　B 立即封鎖
C 數值的資料與方法依據　D 再問另一個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再回答一次：有資料，就能做出好決策嗎？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提出問題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031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50591" y="182880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2231" y="21031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82880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分析／AI協作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98464" y="21031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82880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查核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21031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182880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解釋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928" y="2103120"/>
            <a:ext cx="164592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19" y="1828800"/>
            <a:ext cx="1691639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有根據的判斷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10332720" cy="1005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資料科學真正重要的，不只是會處理資料，
而是知道如何利用資料形成有根據的判斷。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86400"/>
            <a:ext cx="9784080" cy="4572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AI 可以協助，但分析責任與最後判斷不能外包。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