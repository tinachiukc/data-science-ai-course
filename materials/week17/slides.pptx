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6012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  <a:latin typeface="Microsoft JhengHei"/>
              </a:rPr>
              <a:t>資料科學與大數據分析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JhengHei"/>
              </a:rPr>
              <a:t>Week 17｜期末評量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8892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0">
                <a:solidFill>
                  <a:srgbClr val="DEE8F0"/>
                </a:solidFill>
                <a:latin typeface="Microsoft JhengHei"/>
              </a:rPr>
              <a:t>從資料、AI 到金融決策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16052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整合整學期能力，做出有證據、有邊界、能負責的判斷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期末不是再考一次期中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188720"/>
          <a:ext cx="106527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49240"/>
              </a:tblGrid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Week 9 期中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Week 17 期末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看懂資料／資料品質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定義問題／判斷資料是否足夠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EDA／基本統計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分析＋Benchmark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AI 分析五查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AI 建議與來源查核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初步問題—分析規劃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Risk／Trade-off／Uncertainty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初步判斷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金融／管理決策＋負責任溝通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9B3A3A"/>
                </a:solidFill>
                <a:latin typeface="Microsoft JhengHei"/>
              </a:rPr>
              <a:t>期末站在整門課的終點。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評量形式｜個人情境式綜合評量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2900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固定資料
同一份案例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42900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固定 AI 回答
同一份待查核材料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42900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D785A"/>
                </a:solidFill>
                <a:latin typeface="Microsoft JhengHei"/>
              </a:rPr>
              <a:t>個人作答
評量本人判斷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9B3A3A"/>
                </a:solidFill>
                <a:latin typeface="Microsoft JhengHei"/>
              </a:rPr>
              <a:t>不開放即時生成式 AI；考卷本身會提供 AI 分析材料。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60"/>
            <a:ext cx="10332720" cy="5943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232A30"/>
                </a:solidFill>
                <a:latin typeface="Microsoft JhengHei"/>
              </a:rPr>
              <a:t>重點不是「會不會寫 Prompt」，而是「會不會判斷 AI」。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評量情境｜銀行數位帳戶推廣方案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105613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角色：銀行營運企劃部的新進助理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613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32A30"/>
                </a:solidFill>
                <a:latin typeface="Microsoft JhengHei"/>
              </a:rPr>
              <a:t>主管收到三個推廣方案的成果摘要，以及一份 AI 分析與建議報告。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40480"/>
            <a:ext cx="105613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900" b="1">
                <a:solidFill>
                  <a:srgbClr val="9B3A3A"/>
                </a:solidFill>
                <a:latin typeface="Microsoft JhengHei"/>
              </a:rPr>
              <a:t>主管問：「AI 建議明年全面採用方案 C。你同意嗎？」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D785A"/>
                </a:solidFill>
                <a:latin typeface="Microsoft JhengHei"/>
              </a:rPr>
              <a:t>你的任務：不是找最大數字，而是做出可負責的判斷。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評量六部分｜100 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143000"/>
          <a:ext cx="85039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029200"/>
                <a:gridCol w="164592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部分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配分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A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問題與資料判斷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15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分析與 Benchmark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C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AI 分析查核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25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來源與證據查核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E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金融／管理決策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15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負責任資料溝通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你需要用到的，不是新知識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25603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93756"/>
                </a:solidFill>
                <a:latin typeface="Microsoft JhengHei"/>
              </a:rPr>
              <a:t>問題
想問 ≠ 能回答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234440"/>
            <a:ext cx="25603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93756"/>
                </a:solidFill>
                <a:latin typeface="Microsoft JhengHei"/>
              </a:rPr>
              <a:t>資料
資料多 ≠ 資料有用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25603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93756"/>
                </a:solidFill>
                <a:latin typeface="Microsoft JhengHei"/>
              </a:rPr>
              <a:t>分析
有算 ≠ 有回答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234440"/>
            <a:ext cx="25603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93756"/>
                </a:solidFill>
                <a:latin typeface="Microsoft JhengHei"/>
              </a:rPr>
              <a:t>Benchmark
有數字 ≠ 有意義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63240"/>
            <a:ext cx="25603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D785A"/>
                </a:solidFill>
                <a:latin typeface="Microsoft JhengHei"/>
              </a:rPr>
              <a:t>風險
最佳 ≠ 無風險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063240"/>
            <a:ext cx="25603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D785A"/>
                </a:solidFill>
                <a:latin typeface="Microsoft JhengHei"/>
              </a:rPr>
              <a:t>AI
AI 分析 ≠ 分析證據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063240"/>
            <a:ext cx="25603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D785A"/>
                </a:solidFill>
                <a:latin typeface="Microsoft JhengHei"/>
              </a:rPr>
              <a:t>來源
有來源 ≠ 有證據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063240"/>
            <a:ext cx="25603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D785A"/>
                </a:solidFill>
                <a:latin typeface="Microsoft JhengHei"/>
              </a:rPr>
              <a:t>溝通
說得清楚 ≠ 說得誇大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B3A3A"/>
                </a:solidFill>
                <a:latin typeface="Microsoft JhengHei"/>
              </a:rPr>
              <a:t>把已學過的能力整合起來，就是期末。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決策題沒有唯一答案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93756"/>
                </a:solidFill>
                <a:latin typeface="Microsoft JhengHei"/>
              </a:rPr>
              <a:t>支持 A
可以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25880"/>
            <a:ext cx="342900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2D785A"/>
                </a:solidFill>
                <a:latin typeface="Microsoft JhengHei"/>
              </a:rPr>
              <a:t>支持 B
可以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325880"/>
            <a:ext cx="342900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300" b="1">
                <a:solidFill>
                  <a:srgbClr val="9B3A3A"/>
                </a:solidFill>
                <a:latin typeface="Microsoft JhengHei"/>
              </a:rPr>
              <a:t>支持 C／暫不決定
也可能可以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評分不是看你選哪個方案，而是看你怎麼用證據支持判斷。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10332720" cy="5943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D785A"/>
                </a:solidFill>
                <a:latin typeface="Microsoft JhengHei"/>
              </a:rPr>
              <a:t>證據 → 比較 → 權衡 → 邊界 → 判斷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考試規則｜建議開放一張 A4 雙面個人整理筆記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80160"/>
            <a:ext cx="105613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可以帶：一張 A4 雙面、本人整理的課程筆記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105613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9B3A3A"/>
                </a:solidFill>
                <a:latin typeface="Microsoft JhengHei"/>
              </a:rPr>
              <a:t>不使用：即時生成式 AI、網路搜尋、他人答案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31920"/>
            <a:ext cx="105613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500" b="1">
                <a:solidFill>
                  <a:srgbClr val="2D785A"/>
                </a:solidFill>
                <a:latin typeface="Microsoft JhengHei"/>
              </a:rPr>
              <a:t>因為本評量不是考名詞背誦，而是考你會不會使用概念。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646E76"/>
                </a:solidFill>
                <a:latin typeface="Microsoft JhengHei"/>
              </a:rPr>
              <a:t>實際考試規則仍以授課教師公告為準。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作答提醒｜數字要算對，文字更要有邊界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93756"/>
                </a:solidFill>
                <a:latin typeface="Microsoft JhengHei"/>
              </a:rPr>
              <a:t>先看問題再看資料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325880"/>
            <a:ext cx="34747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93756"/>
                </a:solidFill>
                <a:latin typeface="Microsoft JhengHei"/>
              </a:rPr>
              <a:t>分母不同時不要只比人數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325880"/>
            <a:ext cx="34747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93756"/>
                </a:solidFill>
                <a:latin typeface="Microsoft JhengHei"/>
              </a:rPr>
              <a:t>看到高／低先找 Benchmark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54680"/>
            <a:ext cx="34747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D785A"/>
                </a:solidFill>
                <a:latin typeface="Microsoft JhengHei"/>
              </a:rPr>
              <a:t>AI 說「證明」要特別小心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154680"/>
            <a:ext cx="34747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D785A"/>
                </a:solidFill>
                <a:latin typeface="Microsoft JhengHei"/>
              </a:rPr>
              <a:t>來源名稱不是查核完成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154680"/>
            <a:ext cx="34747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D785A"/>
                </a:solidFill>
                <a:latin typeface="Microsoft JhengHei"/>
              </a:rPr>
              <a:t>不知道可以說不知道，但要說缺什麼資料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9B3A3A"/>
                </a:solidFill>
                <a:latin typeface="Microsoft JhengHei"/>
              </a:rPr>
              <a:t>精確、不誇大、有證據，就是專業。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期末評量真正要回答的一件事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6132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100" b="1">
                <a:solidFill>
                  <a:srgbClr val="193756"/>
                </a:solidFill>
                <a:latin typeface="Microsoft JhengHei"/>
              </a:rPr>
              <a:t>面對資料與 AI 都提供很多答案時，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613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9B3A3A"/>
                </a:solidFill>
                <a:latin typeface="Microsoft JhengHei"/>
              </a:rPr>
              <a:t>我能不能知道什麼值得相信、什麼還不能確定，
以及我願意根據什麼證據做出判斷？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92040"/>
            <a:ext cx="10332720" cy="5943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D785A"/>
                </a:solidFill>
                <a:latin typeface="Microsoft JhengHei"/>
              </a:rPr>
              <a:t>這就是這門課最後要帶走的能力。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