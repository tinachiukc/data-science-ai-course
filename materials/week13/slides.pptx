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7899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300" b="0">
                <a:solidFill>
                  <a:srgbClr val="FFFFFF"/>
                </a:solidFill>
                <a:latin typeface="Microsoft JhengHei"/>
              </a:rPr>
              <a:t>資料科學與大數據分析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64208"/>
            <a:ext cx="107899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Microsoft JhengHei"/>
              </a:rPr>
              <a:t>Week 13｜AI 不是代做者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43200"/>
            <a:ext cx="107899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700" b="0">
                <a:solidFill>
                  <a:srgbClr val="DEE8F0"/>
                </a:solidFill>
                <a:latin typeface="Microsoft JhengHei"/>
              </a:rPr>
              <a:t>設計我的資料分析協作流程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160520"/>
            <a:ext cx="10789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哪些工作可以交給 AI？哪些判斷一定要由我負責？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M5 正式換檔｜從「使用 AI」到「管理 AI」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108960"/>
                <a:gridCol w="5943600"/>
              </a:tblGrid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階段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AI 角色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學生責任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M1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解說者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理解 AI 說了什麼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分析助手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使用 AI 協助分析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M3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被查核的助手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驗證 AI 的分析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決策助手／反方挑戰者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質疑準則、Benchmark、風險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M5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協作者 Collaborator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管理分工、查核與最後責任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715000"/>
            <a:ext cx="1033272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 b="1">
                <a:solidFill>
                  <a:srgbClr val="9B3A3A"/>
                </a:solidFill>
                <a:latin typeface="Microsoft JhengHei"/>
              </a:rPr>
              <a:t>從 Week 13 開始：不是 AI 帶著學生走，而是學生管理 AI 的參與。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開場｜AI 一分鐘把 ETF 報告「做完」了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任務：「請分析某 ETF 最近一年的資料，並提出一項投資觀察。」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23160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問題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423160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分析方式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2423160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圖表建議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83280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結論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383280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投資建議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3383280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報告文字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1033272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800" b="1">
                <a:solidFill>
                  <a:srgbClr val="9B3A3A"/>
                </a:solidFill>
                <a:latin typeface="Microsoft JhengHei"/>
              </a:rPr>
              <a:t>AI 全部產生了——這就算「我的資料分析」嗎？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13 核心句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10332720" cy="12801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900" b="1">
                <a:solidFill>
                  <a:srgbClr val="9B3A3A"/>
                </a:solidFill>
                <a:latin typeface="Microsoft JhengHei"/>
              </a:rPr>
              <a:t>AI 完成 ≠ 我完成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會用 AI，不只是會下 Prompt；還要知道怎麼分工、怎麼查核、誰負責。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327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AI 可以參與很多，但責任不能一起外包。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1｜AI 協作（AI Collaboration）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人與 AI 分工完成任務，但最後的問題、證據、判斷與責任仍由人確認。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88920"/>
            <a:ext cx="507492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不是
人出題 → AI 全做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88920"/>
            <a:ext cx="507492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也不是
AI 完全不能用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2D785A"/>
                </a:solidFill>
                <a:latin typeface="Microsoft JhengHei"/>
              </a:rPr>
              <a:t>而是：知道什麼可以請 AI 協助，什麼必須由人負責。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適合幫忙什麼？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34747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解釋
這個欄位代表什麼？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325880"/>
            <a:ext cx="34747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提議
還有哪些分析方向？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325880"/>
            <a:ext cx="34747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整理
把觀察整理成表格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91839"/>
            <a:ext cx="34747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比較
比較 A／B 的優缺點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291839"/>
            <a:ext cx="34747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挑戰
請反駁我的結論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291839"/>
            <a:ext cx="34747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溝通
改寫成客戶能理解的說法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重點：AI 是工作夥伴，不是責任承擔者。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哪些事情不能直接交出去？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34440"/>
          <a:ext cx="106527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108960"/>
                <a:gridCol w="3246120"/>
              </a:tblGrid>
              <a:tr h="8595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關鍵工作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AI 可以…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最後由誰確認？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我的問題到底是什麼？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提供建議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資料可不可以使用？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提醒風險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分析有沒有證據？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自我檢查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人查核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最後怎麼判斷？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提出方案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2D785A"/>
                </a:solidFill>
                <a:latin typeface="Microsoft JhengHei"/>
              </a:rPr>
              <a:t>可以請 AI 幫忙，不代表可以把決定權一起交出去。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核心工具｜人—AI 分工表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03120"/>
                <a:gridCol w="2834640"/>
                <a:gridCol w="3108960"/>
              </a:tblGrid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任務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我負責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AI 可協助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最後確認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定義問題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選擇資料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建議分析方式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整理／計算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人查核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解釋結果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反方意見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人評估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最後結論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使用（AI Use）≠ AI 協作（AI Collaboration）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5074920" cy="1920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AI 使用
「我有沒有用 AI？」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280160"/>
            <a:ext cx="5074920" cy="1920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2D785A"/>
                </a:solidFill>
                <a:latin typeface="Microsoft JhengHei"/>
              </a:rPr>
              <a:t>AI 協作
「AI 在哪一步幫忙？我怎麼查核？」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10058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9B3A3A"/>
                </a:solidFill>
                <a:latin typeface="Microsoft JhengHei"/>
              </a:rPr>
              <a:t>協作要能說明：AI 做了什麼、我做了什麼、我改了什麼、最後誰決定。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2｜Prompt 不只是「問得漂亮」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33272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900" b="1">
                <a:solidFill>
                  <a:srgbClr val="193756"/>
                </a:solidFill>
                <a:latin typeface="Microsoft JhengHei"/>
              </a:rPr>
              <a:t>好的 Prompt，是把任務說清楚。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07492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9B3A3A"/>
                </a:solidFill>
                <a:latin typeface="Microsoft JhengHei"/>
              </a:rPr>
              <a:t>Prompt A
「幫我分析這份資料。」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43200"/>
            <a:ext cx="507492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Prompt B
任務、資料、限制、輸出都說清楚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232A30"/>
                </a:solidFill>
                <a:latin typeface="Microsoft JhengHei"/>
              </a:rPr>
              <a:t>B 比較好，不是因為比較長，而是因為比較清楚。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我的 Prompt 四要素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① 任務
我要 AI 做什麼？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2588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② 資料
AI 可以使用什麼？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0040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③ 限制
AI 不可以做什麼？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0040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④ 輸出
我要怎麼看到結果？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600" b="1">
                <a:solidFill>
                  <a:srgbClr val="9B3A3A"/>
                </a:solidFill>
                <a:latin typeface="Microsoft JhengHei"/>
              </a:rPr>
              <a:t>這門課特別重視「限制」：不要補資料、不要過度推論、不要替人做最後決策。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Prompt 範例｜清楚地限制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10561320" cy="2194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100" b="1">
                <a:solidFill>
                  <a:srgbClr val="193756"/>
                </a:solidFill>
                <a:latin typeface="Microsoft JhengHei"/>
              </a:rPr>
              <a:t>請根據下面提供的 ETF 月報酬資料，整理最高與最低月份，並指出兩項值得進一步觀察的現象。不要自行補充資料中沒有的市場原因，也不要提出投資買賣建議。請用表格呈現。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05840" y="3794760"/>
          <a:ext cx="101498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22376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四要素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 Prompt 裡有什麼？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任務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整理高低月份＋提出觀察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提供的 ETF 月報酬資料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不補市場原因、不提買賣建議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表格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1｜哪個 Prompt 比較適合？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200" b="1">
                <a:solidFill>
                  <a:srgbClr val="9B3A3A"/>
                </a:solidFill>
                <a:latin typeface="Microsoft JhengHei"/>
              </a:rPr>
              <a:t>A｜「幫我分析這份資料。」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1056132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800" b="1">
                <a:solidFill>
                  <a:srgbClr val="2D785A"/>
                </a:solidFill>
                <a:latin typeface="Microsoft JhengHei"/>
              </a:rPr>
              <a:t>B｜「請根據提供的信用卡月交易資料，比較 1～6 月交易金額變化，指出最高與最低月份，並描述是否有明顯變化。不要推測資料中沒有提供的原因。請用 3 點條列回答。」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32720" cy="6400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B 比較適合，因為：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937760"/>
            <a:ext cx="1033272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1">
                <a:solidFill>
                  <a:srgbClr val="232A30"/>
                </a:solidFill>
                <a:latin typeface="Microsoft JhengHei"/>
              </a:rPr>
              <a:t>任務、資料、限制、輸出比較清楚。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3｜查核點（Checkpoint）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105613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在重要步驟停下來，確認目前方向與結果是否合理。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900" b="1">
                <a:solidFill>
                  <a:srgbClr val="9B3A3A"/>
                </a:solidFill>
                <a:latin typeface="Microsoft JhengHei"/>
              </a:rPr>
              <a:t>不要等 AI 全部做完，才第一次檢查。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60520"/>
            <a:ext cx="1033272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2D785A"/>
                </a:solidFill>
                <a:latin typeface="Microsoft JhengHei"/>
              </a:rPr>
              <a:t>把查核放進流程，錯誤才不會一路被帶到最後結論。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三個 AI Checkpoint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34440"/>
          <a:ext cx="109728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6035040"/>
              </a:tblGrid>
              <a:tr h="106299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Checkpoint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停在哪裡？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我要確認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6299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1｜分析前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問題＋資料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問題清楚嗎？資料適合嗎？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106299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2｜分析後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計算＋比較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算對嗎？AI 有沒有補不存在的資訊？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6299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3｜結論前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解釋＋建議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證據支持嗎？Benchmark／Trade-off／Risk 有沒有漏？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 b="1">
                <a:solidFill>
                  <a:srgbClr val="193756"/>
                </a:solidFill>
                <a:latin typeface="Microsoft JhengHei"/>
              </a:rPr>
              <a:t>Checkpoint 把 Week 1～12 的資料素養重新放回 AI 協作流程。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可以每一步出現，人也必須每一步出現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1508760"/>
            <a:ext cx="201168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問題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79192" y="1508760"/>
            <a:ext cx="201168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資料＋分析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38344" y="1508760"/>
            <a:ext cx="201168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結果＋AI 解釋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97496" y="1508760"/>
            <a:ext cx="201168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D785A"/>
                </a:solidFill>
                <a:latin typeface="Microsoft JhengHei"/>
              </a:rPr>
              <a:t>我的判斷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648" y="1508760"/>
            <a:ext cx="201168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D785A"/>
                </a:solidFill>
                <a:latin typeface="Microsoft JhengHei"/>
              </a:rPr>
              <a:t>對外表達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971800"/>
            <a:ext cx="237744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Checkpoint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71800"/>
            <a:ext cx="237744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Checkpoint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971800"/>
            <a:ext cx="237744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Checkpoint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60520"/>
            <a:ext cx="10332720" cy="10058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32A30"/>
                </a:solidFill>
                <a:latin typeface="Microsoft JhengHei"/>
              </a:rPr>
              <a:t>AI：可以解釋、建議、整理、挑戰
人：決定問題、確認資料、查核證據、負責結論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主要案例｜ETF A 與市場：六個月資料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0" y="1143000"/>
          <a:ext cx="85039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  <a:gridCol w="2834640"/>
              </a:tblGrid>
              <a:tr h="646611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月份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ETF A 報酬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市場報酬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+2.1%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+1.5%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−1.2%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−0.8%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+3.5%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+4.2%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+0.8%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−2.4%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−1.0%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4661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+4.1%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+3.2%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806440"/>
            <a:ext cx="10332720" cy="2743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193756"/>
                </a:solidFill>
                <a:latin typeface="Microsoft JhengHei"/>
              </a:rPr>
              <a:t>任務：比較 ETF 與市場、找值得注意月份、請 AI 協助、查核，再寫自己的觀察。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故意給 AI 一個很差的 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327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9B3A3A"/>
                </a:solidFill>
                <a:latin typeface="Microsoft JhengHei"/>
              </a:rPr>
              <a:t>「分析這檔 ETF，告訴我值不值得買。」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788920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232A30"/>
                </a:solidFill>
                <a:latin typeface="Microsoft JhengHei"/>
              </a:rPr>
              <a:t>只有六個月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788920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232A30"/>
                </a:solidFill>
                <a:latin typeface="Microsoft JhengHei"/>
              </a:rPr>
              <a:t>只有報酬資料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2788920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232A30"/>
                </a:solidFill>
                <a:latin typeface="Microsoft JhengHei"/>
              </a:rPr>
              <a:t>沒有風險承受程度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49039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232A30"/>
                </a:solidFill>
                <a:latin typeface="Microsoft JhengHei"/>
              </a:rPr>
              <a:t>沒有投資期間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749039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232A30"/>
                </a:solidFill>
                <a:latin typeface="Microsoft JhengHei"/>
              </a:rPr>
              <a:t>沒有財務目標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3749039"/>
            <a:ext cx="3429000" cy="713232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232A30"/>
                </a:solidFill>
                <a:latin typeface="Microsoft JhengHei"/>
              </a:rPr>
              <a:t>「值不值得買」超出資料範圍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這一題把 Week 6～12 的能力全部叫回來。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2｜把壞 Prompt 修好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10698480" cy="28346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900" b="1">
                <a:solidFill>
                  <a:srgbClr val="193756"/>
                </a:solidFill>
                <a:latin typeface="Microsoft JhengHei"/>
              </a:rPr>
              <a:t>「請根據提供的 ETF A 與市場 1～6 月報酬資料，比較兩者每月表現，指出 ETF A 相對市場表現較好與較差的月份。不要推測市場原因，也不要提出買賣建議。最後提出兩個值得進一步蒐集資料的問題。」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修好之後，AI 的任務邊界變清楚了。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600" b="1">
                <a:solidFill>
                  <a:srgbClr val="9B3A3A"/>
                </a:solidFill>
                <a:latin typeface="Microsoft JhengHei"/>
              </a:rPr>
              <a:t>Prompt 的品質來自「任務清楚＋限制清楚」，不是華麗的咒語。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第一次回答後，不要結束｜Checkpoint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21208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AI 有沒有算錯？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25880"/>
            <a:ext cx="521208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有沒有把「六個月」說成「長期」？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521208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有沒有把「相對表現」說成「值得投資」？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00400"/>
            <a:ext cx="521208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有沒有發明市場原因？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800" b="1">
                <a:solidFill>
                  <a:srgbClr val="9B3A3A"/>
                </a:solidFill>
                <a:latin typeface="Microsoft JhengHei"/>
              </a:rPr>
              <a:t>AI 的回答是下一個查核材料，不是流程終點。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再請 AI 自我挑戰｜把「答案」拆成不同證據層級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105613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「請重新檢查你剛才的分析，指出哪些結論有資料直接支持，哪些只是可能解釋，哪些目前資料不足以判斷。」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2D785A"/>
                </a:solidFill>
                <a:latin typeface="Microsoft JhengHei"/>
              </a:rPr>
              <a:t>AI 不是只負責回答，也可以協助我們檢查自己的回答。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48056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9B3A3A"/>
                </a:solidFill>
                <a:latin typeface="Microsoft JhengHei"/>
              </a:rPr>
              <a:t>但 AI 的自我檢查仍然要由人再確認。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4｜AI 使用揭露（AI Use Disclosure）升級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不只寫：「我有使用 ChatGPT／Gemini。」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23160"/>
            <a:ext cx="34290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我在哪一步用了 AI？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423160"/>
            <a:ext cx="34290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AI 幫我做什麼？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2423160"/>
            <a:ext cx="34290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我怎麼查核？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66160"/>
            <a:ext cx="34290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我修改了什麼？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566160"/>
            <a:ext cx="342900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93756"/>
                </a:solidFill>
                <a:latin typeface="Microsoft JhengHei"/>
              </a:rPr>
              <a:t>最後結論由誰確認？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2D785A"/>
                </a:solidFill>
                <a:latin typeface="Microsoft JhengHei"/>
              </a:rPr>
              <a:t>揭露的目的不是交代「有沒有用」，而是讓協作過程可理解、可負責。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W13～W16 統一使用｜AI 協作紀錄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97280"/>
          <a:ext cx="1115568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2926080"/>
                <a:gridCol w="3474720"/>
              </a:tblGrid>
              <a:tr h="7119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AI 協助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我的工作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我的查核／修改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問題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分析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解釋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結論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1193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表達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172200"/>
            <a:ext cx="10332720" cy="182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000" b="1">
                <a:solidFill>
                  <a:srgbClr val="9B3A3A"/>
                </a:solidFill>
                <a:latin typeface="Microsoft JhengHei"/>
              </a:rPr>
              <a:t>最終資料判斷與結論由我／我們確認。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3｜AI 代做 vs. AI 協作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5074920" cy="28346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情境 A
貼上作業題目 → AI 產生全部答案 → 複製 → 交作業
判斷：AI 代做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280160"/>
            <a:ext cx="5074920" cy="28346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D785A"/>
                </a:solidFill>
                <a:latin typeface="Microsoft JhengHei"/>
              </a:rPr>
              <a:t>情境 B
自己定義問題 → AI 建議 → 自己選擇 → AI 整理 → 自己查核 → AI 挑戰 → 自己修正
判斷：AI 協作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差別不是「有沒有 AI」，而是學生有沒有保留理解、查核與判斷責任。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不是「AI 倫理訓話」，而是工作品質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如果你不知道 AI 做了什麼，也沒有能力查核——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430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3400" b="1">
                <a:solidFill>
                  <a:srgbClr val="9B3A3A"/>
                </a:solidFill>
                <a:latin typeface="Microsoft JhengHei"/>
              </a:rPr>
              <a:t>那份分析就不能算是你能負責的成果。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43484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專業不是「完全不用 AI」；專業是「用了 AI，仍然知道自己在做什麼」。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職場情境｜主管問：「這份分析你有用 AI 嗎？」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507492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9B3A3A"/>
                </a:solidFill>
                <a:latin typeface="Microsoft JhengHei"/>
              </a:rPr>
              <a:t>較弱回答
「有。」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280160"/>
            <a:ext cx="507492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D785A"/>
                </a:solidFill>
                <a:latin typeface="Microsoft JhengHei"/>
              </a:rPr>
              <a:t>較專業回答
說明 AI 協助哪一步、自己如何查核與修改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0561320" cy="12801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「我用 AI 協助整理分析方向與比較結果；原始資料、計算結果及結論由我重新查核，AI 提出的市場原因因缺乏資料支持，我沒有採用。」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W16 第七步｜正式建立作品 AI 協作流程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34440"/>
          <a:ext cx="11567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920240"/>
                <a:gridCol w="1737360"/>
                <a:gridCol w="1920240"/>
                <a:gridCol w="1600200"/>
              </a:tblGrid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問題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分析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結果＋Benchmark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管理意涵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限制／不確定性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AI 協作紀錄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32A30"/>
                          </a:solidFill>
                          <a:latin typeface="Microsoft JhengHei"/>
                        </a:rPr>
                        <a:t>W6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32A30"/>
                          </a:solidFill>
                          <a:latin typeface="Microsoft JhengHei"/>
                        </a:rPr>
                        <a:t>W7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32A30"/>
                          </a:solidFill>
                          <a:latin typeface="Microsoft JhengHei"/>
                        </a:rPr>
                        <a:t>W8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32A30"/>
                          </a:solidFill>
                          <a:latin typeface="Microsoft JhengHei"/>
                        </a:rPr>
                        <a:t>W11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32A30"/>
                          </a:solidFill>
                          <a:latin typeface="Microsoft JhengHei"/>
                        </a:rPr>
                        <a:t>W10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32A30"/>
                          </a:solidFill>
                          <a:latin typeface="Microsoft JhengHei"/>
                        </a:rPr>
                        <a:t>W12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13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794760"/>
            <a:ext cx="10561320" cy="10058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現在學生要再回答：
「我在哪些步驟使用 AI？AI 做什麼？我怎麼查核？」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2D785A"/>
                </a:solidFill>
                <a:latin typeface="Microsoft JhengHei"/>
              </a:rPr>
              <a:t>作品開始從「分析成果」變成「可說明、可查核的 AI 協作成果」。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本週最小學習產出｜我的 AI 協作流程圖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680960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欄位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我的內容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我的資料問題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AI 可協助的步驟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□ 問題　□ 資料　□ 分析　□ 整理　□ 解釋　□ 挑戰　□ 表達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我自己負責的事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Checkpoint 1｜分析前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Checkpoint 2｜分析後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Checkpoint 3｜結論前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最後判斷由誰負責？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我／我們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快速檢核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Q1｜只要 AI 產生的答案正確，就可以直接當成我的分析成果。　○ 對　○ 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84832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Q2｜好的 Prompt：A 越長越好　B 術語越多越好　C 任務／資料／限制／輸出清楚　D 一定扮演教授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26664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Q3｜Checkpoint 的用途是什麼？________________________________________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68496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Q4｜AI 可以提出分析方法，所以分析方法最後應由 AI 決定。　○ 對　○ 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10328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Q5｜專業 AI 協作紀錄至少要說明：AI 做了什麼、我做了什麼，以及什麼？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本週刻意不教｜不把課程變成 AI 工程課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複雜 Prompt Engineering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98648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Chain-of-Thought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02936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System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07224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11512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RAG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Fine-tuning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Token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7224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Temperature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11512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32A30"/>
                </a:solidFill>
                <a:latin typeface="Microsoft JhengHei"/>
              </a:rPr>
              <a:t>多代理人系統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34840"/>
            <a:ext cx="10332720" cy="8686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我們教的是跨工具都能使用的 AI 協作能力：分工、限制、查核、修改與責任。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13 收束｜AI 是協作者，不是責任外包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600" b="1">
                <a:solidFill>
                  <a:srgbClr val="9B3A3A"/>
                </a:solidFill>
                <a:latin typeface="Microsoft JhengHei"/>
              </a:rPr>
              <a:t>AI 完成 ≠ 我完成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好的 Prompt：把任務與限制說清楚。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好的流程：在重要步驟設 Checkpoint。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2D785A"/>
                </a:solidFill>
                <a:latin typeface="Microsoft JhengHei"/>
              </a:rPr>
              <a:t>好的協作：說得出 AI 做了什麼，我如何查核。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最後的資料判斷與結論，仍由人負責。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