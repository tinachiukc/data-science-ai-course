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107899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300" b="0">
                <a:solidFill>
                  <a:srgbClr val="FFFFFF"/>
                </a:solidFill>
                <a:latin typeface="Microsoft JhengHei"/>
              </a:rPr>
              <a:t>資料科學與大數據分析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64208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Microsoft JhengHei"/>
              </a:rPr>
              <a:t>Week 15｜把分析說清楚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107899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700" b="0">
                <a:solidFill>
                  <a:srgbClr val="DEE8F0"/>
                </a:solidFill>
                <a:latin typeface="Microsoft JhengHei"/>
              </a:rPr>
              <a:t>從資料結果到負責任的金融溝通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160520"/>
            <a:ext cx="10789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怎麼說得清楚，又不把資料沒有證明的事情說得太滿？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M5 最後一週｜管理工作 → 管理證據 → 管理表達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6132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840480"/>
                <a:gridCol w="4709160"/>
              </a:tblGrid>
              <a:tr h="94869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週次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管理什麼？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核心句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Week 13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AI 的工作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AI 完成 ≠ 我完成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Week 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AI 的證據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有來源 ≠ 有證據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4869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Week 15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AI 與人的表達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32A30"/>
                          </a:solidFill>
                          <a:latin typeface="Microsoft JhengHei"/>
                        </a:rPr>
                        <a:t>說得清楚 ≠ 說得誇大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394960"/>
            <a:ext cx="103327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Week 15 不再加新技術，而是把整學期能力轉成可負責的成果表達。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開場｜同一個 +12%，可以被說成三個故事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097280"/>
            <a:ext cx="1065276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193756"/>
                </a:solidFill>
                <a:latin typeface="Microsoft JhengHei"/>
              </a:rPr>
              <a:t>資料：某銀行信用卡優惠活動期間，月交易金額較前一期增加 12%。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3474720" cy="2011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2D785A"/>
                </a:solidFill>
                <a:latin typeface="Microsoft JhengHei"/>
              </a:rPr>
              <a:t>A｜結果
「活動期間信用卡交易金額較前一期增加 12%。」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240280"/>
            <a:ext cx="3474720" cy="2011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193756"/>
                </a:solidFill>
                <a:latin typeface="Microsoft JhengHei"/>
              </a:rPr>
              <a:t>B｜效果
「優惠活動成功提升信用卡交易金額 12%。」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2240280"/>
            <a:ext cx="3474720" cy="2011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9B3A3A"/>
                </a:solidFill>
                <a:latin typeface="Microsoft JhengHei"/>
              </a:rPr>
              <a:t>C｜決策
「優惠活動非常成功，證明增加優惠預算可以有效提高銀行營收。」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數字相同，但三句話需要的證據強度不同。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15 核心句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11430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700" b="1">
                <a:solidFill>
                  <a:srgbClr val="9B3A3A"/>
                </a:solidFill>
                <a:latin typeface="Microsoft JhengHei"/>
              </a:rPr>
              <a:t>說得清楚 ≠ 說得誇大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3100" b="1">
                <a:solidFill>
                  <a:srgbClr val="193756"/>
                </a:solidFill>
                <a:latin typeface="Microsoft JhengHei"/>
              </a:rPr>
              <a:t>簡化 ≠ 扭曲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103327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2D785A"/>
                </a:solidFill>
                <a:latin typeface="Microsoft JhengHei"/>
              </a:rPr>
              <a:t>資料分析的最後責任，也包括「怎麼把結果說出去」。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1｜資料溝通（Data Communication）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1056132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把資料分析結果轉成別人可以理解，而且不超過證據範圍的訊息。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88920"/>
            <a:ext cx="507492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2D785A"/>
                </a:solidFill>
                <a:latin typeface="Microsoft JhengHei"/>
              </a:rPr>
              <a:t>聽得懂
清楚 Clear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788920"/>
            <a:ext cx="507492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說得準
準確 Accurate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好的資料溝通 = 清楚 ＋ 準確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核心工具 1｜「結果—解釋—邊界」三句法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8872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5943600"/>
              </a:tblGrid>
              <a:tr h="10858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句子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我要說什麼？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例子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結果 Result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我看到什麼？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3 月至 6 月交易金額由 594 萬降至 468 萬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解釋 Interpretation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這可能代表什麼？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近期刷卡活動出現下降現象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邊界 Boundary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我還不能說什麼？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僅六個月，不能判定長期衰退，也不能確認原因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9B3A3A"/>
                </a:solidFill>
                <a:latin typeface="Microsoft JhengHei"/>
              </a:rPr>
              <a:t>先把「看到什麼」和「怎麼解釋」分開，最後主動說明證據邊界。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限制不是報告最後的固定句型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103327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900" b="1">
                <a:solidFill>
                  <a:srgbClr val="646E76"/>
                </a:solidFill>
                <a:latin typeface="Microsoft JhengHei"/>
              </a:rPr>
              <a:t>「本分析仍有若干限制……」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800" b="1">
                <a:solidFill>
                  <a:srgbClr val="9B3A3A"/>
                </a:solidFill>
                <a:latin typeface="Microsoft JhengHei"/>
              </a:rPr>
              <a:t>不是等最後才補一句。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1033272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900" b="1">
                <a:solidFill>
                  <a:srgbClr val="2D785A"/>
                </a:solidFill>
                <a:latin typeface="Microsoft JhengHei"/>
              </a:rPr>
              <a:t>你說到哪裡，證據的邊界就要跟到哪裡。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Boundary 應該貼著 Claim，而不是藏在報告最後。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2｜受眾（Audience）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8016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406640"/>
              </a:tblGrid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受眾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可能需要的說法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資料分析人員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3 月至 6 月交易金額下降 21.2%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銀行主管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近期刷卡活動下降，建議確認客戶數、促銷與季節因素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一般客戶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用清楚、非技術語言說明與他有關的資訊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資料沒有改變，表達方式可以改變；但不能改變證據的意思。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可以簡化，但不能扭曲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D785A"/>
                </a:solidFill>
                <a:latin typeface="Microsoft JhengHei"/>
              </a:rPr>
              <a:t>可以
簡化術語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25880"/>
            <a:ext cx="347472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D785A"/>
                </a:solidFill>
                <a:latin typeface="Microsoft JhengHei"/>
              </a:rPr>
              <a:t>可以
選擇適合圖表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25880"/>
            <a:ext cx="347472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2D785A"/>
                </a:solidFill>
                <a:latin typeface="Microsoft JhengHei"/>
              </a:rPr>
              <a:t>可以
設計清楚標題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47472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不可以
把相關寫成因果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200400"/>
            <a:ext cx="347472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不可以
把短期寫成長期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3200400"/>
            <a:ext cx="347472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不可以
隱藏不利結果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溝通的目的不是把結論變漂亮，而是讓人正確理解。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核心概念 3｜資料故事（Data Story）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188720"/>
            <a:ext cx="10561320" cy="8229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193756"/>
                </a:solidFill>
                <a:latin typeface="Microsoft JhengHei"/>
              </a:rPr>
              <a:t>把「問題、證據、意義」連成一條別人聽得懂的線。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2514600"/>
            <a:ext cx="210312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1｜問題
我們想知道什麼？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24328" y="2514600"/>
            <a:ext cx="210312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2｜證據
資料告訴我們什麼？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0056" y="2514600"/>
            <a:ext cx="210312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193756"/>
                </a:solidFill>
                <a:latin typeface="Microsoft JhengHei"/>
              </a:rPr>
              <a:t>3｜意義
這代表什麼？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5783" y="2514600"/>
            <a:ext cx="210312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4｜邊界
還有哪些限制？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11512" y="2514600"/>
            <a:ext cx="2103120" cy="15087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2D785A"/>
                </a:solidFill>
                <a:latin typeface="Microsoft JhengHei"/>
              </a:rPr>
              <a:t>5｜建議
所以目前建議什麼？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32720" cy="5486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Week 16 五步資料故事：問題 → 證據 → 意義 → 邊界 → 建議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主要案例｜銀行信用卡優惠活動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234440"/>
          <a:ext cx="85039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活動前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活動期間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月交易金額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5,000 萬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5,600 萬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使用優惠客戶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4,200 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新增客戶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800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1,050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客訴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18 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32A30"/>
                          </a:solidFill>
                          <a:latin typeface="Microsoft JhengHei"/>
                        </a:rPr>
                        <a:t>31 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交易增加、新客增加，但客訴也增加——一句「活動成功」講得完嗎？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先寫一個「最誇張版」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52760" cy="16459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9B3A3A"/>
                </a:solidFill>
                <a:latin typeface="Microsoft JhengHei"/>
              </a:rPr>
              <a:t>「本次優惠活動大獲成功，不但使交易金額大幅成長 12%，更成功吸引大量新客戶，因此銀行應全面擴大優惠活動。」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703320"/>
            <a:ext cx="201168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大獲成功
成功的準則？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3703320"/>
            <a:ext cx="201168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大幅
Benchmark？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3703320"/>
            <a:ext cx="201168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成功吸引
因果證據？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3703320"/>
            <a:ext cx="201168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全面擴大
成本與風險？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3703320"/>
            <a:ext cx="2011680" cy="10515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沒提客訴
是否選擇性表達？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再改成「負責任版」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698480" cy="3154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活動期間月交易金額由 5,000 萬元增加至 5,600 萬元，新增客戶由 800 人增加至 1,050 人；但客訴由 18 件增加至 31 件。目前資料顯示活動期間交易與新增客戶均有增加，但尚不足以確認成長完全由優惠活動造成，也需進一步考量活動成本與客訴增加。因此，現階段較適合先評估活動效益，而不是直接全面擴大。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09160"/>
            <a:ext cx="103327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>
                <a:solidFill>
                  <a:srgbClr val="2D785A"/>
                </a:solidFill>
                <a:latin typeface="Microsoft JhengHei"/>
              </a:rPr>
              <a:t>數字保留、反面證據保留、因果降階、建議有條件。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9B3A3A"/>
                </a:solidFill>
                <a:latin typeface="Microsoft JhengHei"/>
              </a:rPr>
              <a:t>這就是「清楚＋準確」。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 1｜找出「說太滿」的地方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1556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1120"/>
                <a:gridCol w="2194560"/>
              </a:tblGrid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敘述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判斷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使用優惠者平均消費較高，因此優惠一定會增加消費。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ETF A 六個月有三個月優於市場，因此長期績效優異。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B 分行新增卡比例較高，因此是全公司經營最好的分行。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AI 引用了一篇新聞，因此這個數字可信。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32A30"/>
                          </a:solidFill>
                          <a:latin typeface="Microsoft JhengHei"/>
                        </a:rPr>
                        <a:t>3 月後交易金額下降，但下降原因仍需更多資料確認。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回收 Week 3｜圖表也會說話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34440"/>
            <a:ext cx="5074920" cy="2011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A = 100
B = 110
Y 軸 0～120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34440"/>
            <a:ext cx="5074920" cy="2011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9B3A3A"/>
                </a:solidFill>
                <a:latin typeface="Microsoft JhengHei"/>
              </a:rPr>
              <a:t>A = 100
B = 110
Y 軸 98～112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8229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700" b="1">
                <a:solidFill>
                  <a:srgbClr val="9B3A3A"/>
                </a:solidFill>
                <a:latin typeface="Microsoft JhengHei"/>
              </a:rPr>
              <a:t>數字沒有造假，視覺仍可能讓差異看起來被放大。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Week 15 把圖表判讀升級成「溝通責任」。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核心工具 2｜圖表溝通四問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1｜圖回答我的問題嗎？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2588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2｜標題有沒有誇大？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3｜軸、單位、期間清楚嗎？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00400"/>
            <a:ext cx="5212080" cy="14173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900" b="1">
                <a:solidFill>
                  <a:srgbClr val="193756"/>
                </a:solidFill>
                <a:latin typeface="Microsoft JhengHei"/>
              </a:rPr>
              <a:t>4｜差異會不會看起來比實際更大／更小？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圖表不是裝飾；圖表本身也是一種 Claim。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 2｜幫圖表改標題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61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3000" b="1">
                <a:solidFill>
                  <a:srgbClr val="9B3A3A"/>
                </a:solidFill>
                <a:latin typeface="Microsoft JhengHei"/>
              </a:rPr>
              <a:t>原標題：「信用卡業務大幅衰退！」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>
                <a:solidFill>
                  <a:srgbClr val="232A30"/>
                </a:solidFill>
                <a:latin typeface="Microsoft JhengHei"/>
              </a:rPr>
              <a:t>資料只有：3～6 月交易金額下降。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31920"/>
            <a:ext cx="105613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800" b="1">
                <a:solidFill>
                  <a:srgbClr val="2D785A"/>
                </a:solidFill>
                <a:latin typeface="Microsoft JhengHei"/>
              </a:rPr>
              <a:t>較合適：「3～6 月信用卡交易金額呈下降」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193756"/>
                </a:solidFill>
                <a:latin typeface="Microsoft JhengHei"/>
              </a:rPr>
              <a:t>標題也是 Claim，也要有證據邊界。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角色 1｜溝通助手（Communication Assistant）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29260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2000" b="1">
                <a:solidFill>
                  <a:srgbClr val="193756"/>
                </a:solidFill>
                <a:latin typeface="Microsoft JhengHei"/>
              </a:rPr>
              <a:t>我是金融管理系一年級學生。以下是我的資料分析結果。請幫我改寫成適合向銀行主管報告的 100 字摘要。請保留所有重要數字，不要新增資料沒有支持的原因，也不要把「相關／同時發生」改寫成「造成」。最後保留一項重要限制。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300" b="1">
                <a:solidFill>
                  <a:srgbClr val="2D785A"/>
                </a:solidFill>
                <a:latin typeface="Microsoft JhengHei"/>
              </a:rPr>
              <a:t>AI 很適合幫忙「轉譯」；但轉譯不能改變證據強度。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很會把文字變漂亮，也可能把結論變強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50749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學生原文
「活動期間交易金額增加 12%。」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74920" cy="1828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100" b="1">
                <a:solidFill>
                  <a:srgbClr val="9B3A3A"/>
                </a:solidFill>
                <a:latin typeface="Microsoft JhengHei"/>
              </a:rPr>
              <a:t>AI 改寫
「優惠活動成功帶動交易金額大幅成長 12%。」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700" b="1">
                <a:solidFill>
                  <a:srgbClr val="9B3A3A"/>
                </a:solidFill>
                <a:latin typeface="Microsoft JhengHei"/>
              </a:rPr>
              <a:t>AI 沒有改數字，卻加入「成功」「帶動」「大幅」。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2D785A"/>
                </a:solidFill>
                <a:latin typeface="Microsoft JhengHei"/>
              </a:rPr>
              <a:t>語氣變強，也代表證據要求變高。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修辭查核｜有沒有偷偷加強語氣？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證明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132588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成功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02936" y="132588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顯著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07224" y="132588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大幅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11512" y="132588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必然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56032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導致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256032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最佳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256032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一定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7224" y="256032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明確顯示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11512" y="2560320"/>
            <a:ext cx="2057400" cy="8686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193756"/>
                </a:solidFill>
                <a:latin typeface="Microsoft JhengHei"/>
              </a:rPr>
              <a:t>值得投資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332720" cy="7772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500" b="1">
                <a:solidFill>
                  <a:srgbClr val="193756"/>
                </a:solidFill>
                <a:latin typeface="Microsoft JhengHei"/>
              </a:rPr>
              <a:t>這些詞不是永遠不能用；用了，就要有相應證據。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檢查 AI 不只看「有沒有算錯」，也看「有沒有說太滿」。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學生任務 3｜AI 修辭查核員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325880"/>
          <a:ext cx="11567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560320"/>
                <a:gridCol w="1645920"/>
                <a:gridCol w="2240280"/>
              </a:tblGrid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原文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AI 改寫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AI 加強了哪些語氣？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有證據嗎？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JhengHei"/>
                        </a:rPr>
                        <a:t>我的修正版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1554480"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800600"/>
            <a:ext cx="1033272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300" b="1">
                <a:solidFill>
                  <a:srgbClr val="193756"/>
                </a:solidFill>
                <a:latin typeface="Microsoft JhengHei"/>
              </a:rPr>
              <a:t>Prompt：「請幫我寫得更有說服力。」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32720" cy="32004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300" b="1">
                <a:solidFill>
                  <a:srgbClr val="9B3A3A"/>
                </a:solidFill>
                <a:latin typeface="Microsoft JhengHei"/>
              </a:rPr>
              <a:t>任務不是接受 AI 修辭，而是比較、查核、自己修。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AI 角色 2｜批判者（Critic）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23317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2100" b="1">
                <a:solidFill>
                  <a:srgbClr val="193756"/>
                </a:solidFill>
                <a:latin typeface="Microsoft JhengHei"/>
              </a:rPr>
              <a:t>請扮演一位嚴格但公平的銀行主管，閱讀我的結論，指出三個可能被質疑的地方。請特別檢查：證據是否支持、比較基準是否合理、是否忽略風險或限制。不要替我重寫答案。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6858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900" b="1">
                <a:solidFill>
                  <a:srgbClr val="2D785A"/>
                </a:solidFill>
                <a:latin typeface="Microsoft JhengHei"/>
              </a:rPr>
              <a:t>AI Critic → Student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74920"/>
            <a:ext cx="10332720" cy="5029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900" b="1">
                <a:solidFill>
                  <a:srgbClr val="9B3A3A"/>
                </a:solidFill>
                <a:latin typeface="Microsoft JhengHei"/>
              </a:rPr>
              <a:t>不是：AI Critic → AI Rewrite → Submit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16｜成果發表只需要 5 張核心內容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7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955279"/>
              </a:tblGrid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Slide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核心內容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1｜我的問題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我想回答什麼金融／商管問題？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2｜我的資料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來源、重要欄位、資料範圍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3｜我的分析與結果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怎麼分析？看到什麼？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4｜我的判斷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Benchmark、金融／管理意涵、限制／不確定性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5｜我的 AI 協作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32A30"/>
                          </a:solidFill>
                          <a:latin typeface="Microsoft JhengHei"/>
                        </a:rPr>
                        <a:t>AI 幫了什麼？我查核什麼？哪個建議沒採用？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不要求「華麗簡報」｜評量重點在內容責任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646E76"/>
                </a:solidFill>
                <a:latin typeface="Microsoft JhengHei"/>
              </a:rPr>
              <a:t>不是重點
動畫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32588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646E76"/>
                </a:solidFill>
                <a:latin typeface="Microsoft JhengHei"/>
              </a:rPr>
              <a:t>不是重點
特效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646E76"/>
                </a:solidFill>
                <a:latin typeface="Microsoft JhengHei"/>
              </a:rPr>
              <a:t>不是重點
AI 圖片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32588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真正重點
問題清楚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15468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真正重點
證據清楚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315468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真正重點
判斷有邊界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154680"/>
            <a:ext cx="2560320" cy="13716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>
                <a:solidFill>
                  <a:srgbClr val="2D785A"/>
                </a:solidFill>
                <a:latin typeface="Microsoft JhengHei"/>
              </a:rPr>
              <a:t>真正重點
AI 協作說得清楚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700" b="1">
                <a:solidFill>
                  <a:srgbClr val="9B3A3A"/>
                </a:solidFill>
                <a:latin typeface="Microsoft JhengHei"/>
              </a:rPr>
              <a:t>成果發表不是設計比賽，而是「能不能對自己的分析負責」。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16 口頭報告｜一條可以直接使用的說話線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1143000"/>
            <a:ext cx="10058400" cy="452628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2100" b="1">
                <a:solidFill>
                  <a:srgbClr val="193756"/>
                </a:solidFill>
                <a:latin typeface="Microsoft JhengHei"/>
              </a:rPr>
              <a:t>我們想知道……
我們使用……資料……
我們發現……
和……比較之後……
這可能代表……
但是目前不能確定……
所以我們目前建議……
AI 在……協助我們，但……由我們自己查核／決定。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100" b="1">
                <a:solidFill>
                  <a:srgbClr val="9B3A3A"/>
                </a:solidFill>
                <a:latin typeface="Microsoft JhengHei"/>
              </a:rPr>
              <a:t>不用背稿；重點是完整走過「問題—證據—意義—邊界—建議」。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發表前最後檢查｜「我說得太滿了嗎？」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051560"/>
          <a:ext cx="109728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95360"/>
              </a:tblGrid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檢查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我要確認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我的問題清楚嗎？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證據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每個重要數字都有來源嗎？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Benchmark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說高／低／好／差時，有比較基準嗎？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Claim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結論有超過資料證據嗎？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Risk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有說明重要限制／不確定性嗎？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說得出 AI 做什麼、我查什麼嗎？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溝通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圖表、標題與文字有沒有誇大？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W16 最終作品藍圖｜整條線完成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12344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資料問題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79192" y="12344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必要資料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38344" y="12344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分析方法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97496" y="12344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分析結果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56648" y="12344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193756"/>
                </a:solidFill>
                <a:latin typeface="Microsoft JhengHei"/>
              </a:rPr>
              <a:t>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632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管理意涵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79192" y="30632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限制／不確定性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8344" y="30632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AI 協作紀錄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97496" y="30632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來源查核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56648" y="3063240"/>
            <a:ext cx="2057400" cy="128016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>
                <a:solidFill>
                  <a:srgbClr val="2D785A"/>
                </a:solidFill>
                <a:latin typeface="Microsoft JhengHei"/>
              </a:rPr>
              <a:t>負責任溝通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66360"/>
            <a:ext cx="10332720" cy="4572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1800" b="1">
                <a:solidFill>
                  <a:srgbClr val="9B3A3A"/>
                </a:solidFill>
                <a:latin typeface="Microsoft JhengHei"/>
              </a:rPr>
              <a:t>Week 6～15 累積的不是十份作業，而是一個完整作品能力鏈。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本週最小學習產出｜我的成果發表草稿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109728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680960"/>
              </a:tblGrid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欄位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我的內容</a:t>
                      </a:r>
                    </a:p>
                  </a:txBody>
                  <a:tcPr anchor="ctr">
                    <a:solidFill>
                      <a:srgbClr val="193756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核心問題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關鍵結果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Benchmark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結果—解釋—邊界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結果：____　解釋：____　邊界：____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目前建議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AI 幫了什麼？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A30"/>
                          </a:solidFill>
                          <a:latin typeface="Microsoft JhengHei"/>
                        </a:rPr>
                        <a:t>哪項 AI 建議沒採用？為什麼？</a:t>
                      </a:r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anchor="ctr">
                    <a:solidFill>
                      <a:srgbClr val="EF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快速檢核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93756"/>
                </a:solidFill>
                <a:latin typeface="Microsoft JhengHei"/>
              </a:rPr>
              <a:t>Q1｜只要分析數字正確，怎麼寫結論都不會影響判斷。　○ 對　○ 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84832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93756"/>
                </a:solidFill>
                <a:latin typeface="Microsoft JhengHei"/>
              </a:rPr>
              <a:t>Q2｜好的資料溝通最重要的兩個條件：________________＋________________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26664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93756"/>
                </a:solidFill>
                <a:latin typeface="Microsoft JhengHei"/>
              </a:rPr>
              <a:t>Q3｜「優惠活動成功帶動消費成長」比「活動期間消費成長」多加入了什麼？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68496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93756"/>
                </a:solidFill>
                <a:latin typeface="Microsoft JhengHei"/>
              </a:rPr>
              <a:t>Q4｜AI 把「增加」改成「大幅增加」，一定比較專業。　○ 對　○ 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10328"/>
            <a:ext cx="1069848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193756"/>
                </a:solidFill>
                <a:latin typeface="Microsoft JhengHei"/>
              </a:rPr>
              <a:t>Q5｜成果發表最後要說明：我看到什麼、代表什麼、不能確定什麼，以及什麼？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本週刻意不教｜不把最後一週變成簡報技巧課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PowerPoint 動畫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98648" y="132588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Infographic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02936" y="132588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Tableau／Power BI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07224" y="132588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複雜 Data Storytelling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11512" y="132588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Elevator Pitch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65176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公開演說技巧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265176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AI 自動簡報工具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265176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影片生成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07224" y="265176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AI Avatar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11512" y="2651760"/>
            <a:ext cx="2057400" cy="9144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232A30"/>
                </a:solidFill>
                <a:latin typeface="Microsoft JhengHei"/>
              </a:rPr>
              <a:t>華麗模板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10332720" cy="91440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200" b="1">
                <a:solidFill>
                  <a:srgbClr val="193756"/>
                </a:solidFill>
                <a:latin typeface="Microsoft JhengHei"/>
              </a:rPr>
              <a:t>目的不是做漂亮簡報，而是讓學生對自己說出去的資料結論負責。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9436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800" b="1">
                <a:solidFill>
                  <a:srgbClr val="193756"/>
                </a:solidFill>
                <a:latin typeface="Microsoft JhengHei"/>
              </a:rPr>
              <a:t>Week 15 收束｜14 週正式授課閉環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1143000" cy="45720"/>
          </a:xfrm>
          <a:prstGeom prst="rect">
            <a:avLst/>
          </a:prstGeom>
          <a:solidFill>
            <a:srgbClr val="C79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051560"/>
            <a:ext cx="1033272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700" b="1">
                <a:solidFill>
                  <a:srgbClr val="193756"/>
                </a:solidFill>
                <a:latin typeface="Microsoft JhengHei"/>
              </a:rPr>
              <a:t>問題 → 資料 → 分析 → 證據 → 判斷 → 溝通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32720" cy="68580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>
                <a:solidFill>
                  <a:srgbClr val="2D785A"/>
                </a:solidFill>
                <a:latin typeface="Microsoft JhengHei"/>
              </a:rPr>
              <a:t>AI：解說 → 使用 → 查核 → 質疑 → 管理 → 溝通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60120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ctr"/>
            <a:r>
              <a:rPr sz="2500" b="1">
                <a:solidFill>
                  <a:srgbClr val="232A30"/>
                </a:solidFill>
                <a:latin typeface="Microsoft JhengHei"/>
              </a:rPr>
              <a:t>資料分析的最後一步，不是把圖畫完，也不是讓 AI 把報告寫完。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10332720" cy="960120"/>
          </a:xfrm>
          <a:prstGeom prst="roundRect">
            <a:avLst/>
          </a:prstGeom>
          <a:solidFill>
            <a:srgbClr val="EFF5F9"/>
          </a:solidFill>
          <a:ln>
            <a:solidFill>
              <a:srgbClr val="EF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600" b="1">
                <a:solidFill>
                  <a:srgbClr val="9B3A3A"/>
                </a:solidFill>
                <a:latin typeface="Microsoft JhengHei"/>
              </a:rPr>
              <a:t>而是清楚說明：證據告訴我們什麼，以及它還沒有告訴我們什麼。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731520" cy="201168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r"/>
            <a:r>
              <a:rPr sz="1000" b="0">
                <a:solidFill>
                  <a:srgbClr val="646E76"/>
                </a:solidFill>
                <a:latin typeface="Microsoft JhengHei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