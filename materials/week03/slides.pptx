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375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1097280"/>
            <a:ext cx="10789920" cy="50292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2400" b="0">
                <a:solidFill>
                  <a:srgbClr val="FFFFFF"/>
                </a:solidFill>
                <a:latin typeface="Microsoft JhengHei"/>
              </a:rPr>
              <a:t>資料科學與大數據分析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828800"/>
            <a:ext cx="10789920" cy="100584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4200" b="1">
                <a:solidFill>
                  <a:srgbClr val="FFFFFF"/>
                </a:solidFill>
                <a:latin typeface="Microsoft JhengHei"/>
              </a:rPr>
              <a:t>Week 3｜讓資料說話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907792"/>
            <a:ext cx="10515600" cy="64008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2700" b="0">
                <a:solidFill>
                  <a:srgbClr val="DEE8F0"/>
                </a:solidFill>
                <a:latin typeface="Microsoft JhengHei"/>
              </a:rPr>
              <a:t>從整理到探索資料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4114800"/>
            <a:ext cx="987552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 wrap="square"/>
          <a:lstStyle/>
          <a:p>
            <a:pPr algn="ctr"/>
            <a:r>
              <a:rPr sz="2700" b="1">
                <a:solidFill>
                  <a:srgbClr val="193756"/>
                </a:solidFill>
                <a:latin typeface="Microsoft JhengHei"/>
              </a:rPr>
              <a:t>面對一份資料，怎麼找出「值得注意的現象」？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2800" b="1">
                <a:solidFill>
                  <a:srgbClr val="193756"/>
                </a:solidFill>
                <a:latin typeface="Microsoft JhengHei"/>
              </a:rPr>
              <a:t>前三週的學習路徑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932688"/>
            <a:ext cx="1143000" cy="45720"/>
          </a:xfrm>
          <a:prstGeom prst="rect">
            <a:avLst/>
          </a:prstGeom>
          <a:solidFill>
            <a:srgbClr val="C799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1005840"/>
            <a:ext cx="10972800" cy="36576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300" b="0">
                <a:solidFill>
                  <a:srgbClr val="646E76"/>
                </a:solidFill>
                <a:latin typeface="Microsoft JhengHei"/>
              </a:rPr>
              <a:t>M2 從「看懂資料」跨進「探索資料」。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828800"/>
            <a:ext cx="3547872" cy="914400"/>
          </a:xfrm>
          <a:prstGeom prst="roundRect">
            <a:avLst/>
          </a:prstGeom>
          <a:solidFill>
            <a:srgbClr val="316999"/>
          </a:solidFill>
          <a:ln>
            <a:solidFill>
              <a:srgbClr val="316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 wrap="square"/>
          <a:lstStyle/>
          <a:p>
            <a:pPr algn="ctr"/>
            <a:r>
              <a:rPr sz="1700" b="1">
                <a:solidFill>
                  <a:srgbClr val="FFFFFF"/>
                </a:solidFill>
                <a:latin typeface="Microsoft JhengHei"/>
              </a:rPr>
              <a:t>Week 1
提出問題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42232" y="2103120"/>
            <a:ext cx="164592" cy="32004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800" b="1">
                <a:solidFill>
                  <a:srgbClr val="C79941"/>
                </a:solidFill>
                <a:latin typeface="Microsoft JhengHei"/>
              </a:rPr>
              <a:t>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06824" y="1828800"/>
            <a:ext cx="3547872" cy="914400"/>
          </a:xfrm>
          <a:prstGeom prst="roundRect">
            <a:avLst/>
          </a:prstGeom>
          <a:solidFill>
            <a:srgbClr val="316999"/>
          </a:solidFill>
          <a:ln>
            <a:solidFill>
              <a:srgbClr val="316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 wrap="square"/>
          <a:lstStyle/>
          <a:p>
            <a:pPr algn="ctr"/>
            <a:r>
              <a:rPr sz="1700" b="1">
                <a:solidFill>
                  <a:srgbClr val="FFFFFF"/>
                </a:solidFill>
                <a:latin typeface="Microsoft JhengHei"/>
              </a:rPr>
              <a:t>Week 2
看懂資料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54696" y="2103120"/>
            <a:ext cx="164592" cy="32004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800" b="1">
                <a:solidFill>
                  <a:srgbClr val="C79941"/>
                </a:solidFill>
                <a:latin typeface="Microsoft JhengHei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19288" y="1828800"/>
            <a:ext cx="3547872" cy="914400"/>
          </a:xfrm>
          <a:prstGeom prst="roundRect">
            <a:avLst/>
          </a:prstGeom>
          <a:solidFill>
            <a:srgbClr val="316999"/>
          </a:solidFill>
          <a:ln>
            <a:solidFill>
              <a:srgbClr val="316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 wrap="square"/>
          <a:lstStyle/>
          <a:p>
            <a:pPr algn="ctr"/>
            <a:r>
              <a:rPr sz="1700" b="1">
                <a:solidFill>
                  <a:srgbClr val="FFFFFF"/>
                </a:solidFill>
                <a:latin typeface="Microsoft JhengHei"/>
              </a:rPr>
              <a:t>Week 3
探索資料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3977639"/>
            <a:ext cx="10332720" cy="96012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 wrap="square"/>
          <a:lstStyle/>
          <a:p>
            <a:pPr algn="ctr"/>
            <a:r>
              <a:rPr sz="2700" b="1">
                <a:solidFill>
                  <a:srgbClr val="193756"/>
                </a:solidFill>
                <a:latin typeface="Microsoft JhengHei"/>
              </a:rPr>
              <a:t>今天不急著證明答案，而是先看看：資料真正呈現了什麼？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98480" y="6446520"/>
            <a:ext cx="914400" cy="22860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r"/>
            <a:r>
              <a:rPr sz="1000" b="0">
                <a:solidFill>
                  <a:srgbClr val="646E76"/>
                </a:solidFill>
                <a:latin typeface="Microsoft JhengHei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2800" b="1">
                <a:solidFill>
                  <a:srgbClr val="193756"/>
                </a:solidFill>
                <a:latin typeface="Microsoft JhengHei"/>
              </a:rPr>
              <a:t>本週核心問題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932688"/>
            <a:ext cx="1143000" cy="45720"/>
          </a:xfrm>
          <a:prstGeom prst="rect">
            <a:avLst/>
          </a:prstGeom>
          <a:solidFill>
            <a:srgbClr val="C799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1600200"/>
            <a:ext cx="10332720" cy="105156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 wrap="square"/>
          <a:lstStyle/>
          <a:p>
            <a:pPr algn="ctr"/>
            <a:r>
              <a:rPr sz="3200" b="1">
                <a:solidFill>
                  <a:srgbClr val="193756"/>
                </a:solidFill>
                <a:latin typeface="Microsoft JhengHei"/>
              </a:rPr>
              <a:t>面對一份資料，我們怎麼找出「值得注意的現象」？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3246120"/>
            <a:ext cx="10149840" cy="77724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2300" b="1">
                <a:solidFill>
                  <a:srgbClr val="9B3A3A"/>
                </a:solidFill>
                <a:latin typeface="Microsoft JhengHei"/>
              </a:rPr>
              <a:t>不是先猜原因，也不是先叫 AI 下結論。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4434840"/>
            <a:ext cx="9601200" cy="73152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2600" b="1">
                <a:solidFill>
                  <a:srgbClr val="232A30"/>
                </a:solidFill>
                <a:latin typeface="Microsoft JhengHei"/>
              </a:rPr>
              <a:t>先探索 → 再描述 → 最後才談解釋。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6446520"/>
            <a:ext cx="914400" cy="22860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r"/>
            <a:r>
              <a:rPr sz="1000" b="0">
                <a:solidFill>
                  <a:srgbClr val="646E76"/>
                </a:solidFill>
                <a:latin typeface="Microsoft JhengHei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2800" b="1">
                <a:solidFill>
                  <a:srgbClr val="193756"/>
                </a:solidFill>
                <a:latin typeface="Microsoft JhengHei"/>
              </a:rPr>
              <a:t>什麼是探索式資料分析（EDA）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932688"/>
            <a:ext cx="1143000" cy="45720"/>
          </a:xfrm>
          <a:prstGeom prst="rect">
            <a:avLst/>
          </a:prstGeom>
          <a:solidFill>
            <a:srgbClr val="C799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68680" y="1417320"/>
            <a:ext cx="10469880" cy="137160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 wrap="square"/>
          <a:lstStyle/>
          <a:p>
            <a:pPr algn="ctr"/>
            <a:r>
              <a:rPr sz="2200" b="1">
                <a:solidFill>
                  <a:srgbClr val="193756"/>
                </a:solidFill>
                <a:latin typeface="Microsoft JhengHei"/>
              </a:rPr>
              <a:t>探索式資料分析（Exploratory Data Analysis, EDA）
是透過整理、比較、圖表與簡單摘要，了解資料中的特徵、差異、模式與可能異常。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51560" y="3429000"/>
            <a:ext cx="10058400" cy="960120"/>
          </a:xfrm>
          <a:prstGeom prst="roundRect">
            <a:avLst/>
          </a:prstGeom>
          <a:solidFill>
            <a:srgbClr val="316999"/>
          </a:solidFill>
          <a:ln>
            <a:solidFill>
              <a:srgbClr val="316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 wrap="square"/>
          <a:lstStyle/>
          <a:p>
            <a:pPr algn="ctr"/>
            <a:r>
              <a:rPr sz="2700" b="1">
                <a:solidFill>
                  <a:srgbClr val="FFFFFF"/>
                </a:solidFill>
                <a:latin typeface="Microsoft JhengHei"/>
              </a:rPr>
              <a:t>更簡單地說：正式下結論之前，先好好看看資料。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983480"/>
            <a:ext cx="9966960" cy="54864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2100" b="1">
                <a:solidFill>
                  <a:srgbClr val="9B3A3A"/>
                </a:solidFill>
                <a:latin typeface="Microsoft JhengHei"/>
              </a:rPr>
              <a:t>EDA 的目的不是「證明我原本就是對的」。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6446520"/>
            <a:ext cx="914400" cy="22860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r"/>
            <a:r>
              <a:rPr sz="1000" b="0">
                <a:solidFill>
                  <a:srgbClr val="646E76"/>
                </a:solidFill>
                <a:latin typeface="Microsoft JhengHei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2800" b="1">
                <a:solidFill>
                  <a:srgbClr val="193756"/>
                </a:solidFill>
                <a:latin typeface="Microsoft JhengHei"/>
              </a:rPr>
              <a:t>先有答案，再找資料？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932688"/>
            <a:ext cx="1143000" cy="45720"/>
          </a:xfrm>
          <a:prstGeom prst="rect">
            <a:avLst/>
          </a:prstGeom>
          <a:solidFill>
            <a:srgbClr val="C799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1005840"/>
            <a:ext cx="10972800" cy="36576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300" b="0">
                <a:solidFill>
                  <a:srgbClr val="646E76"/>
                </a:solidFill>
                <a:latin typeface="Microsoft JhengHei"/>
              </a:rPr>
              <a:t>這是探索資料時很容易掉進去的陷阱。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463040"/>
            <a:ext cx="10332720" cy="82296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 wrap="square"/>
          <a:lstStyle/>
          <a:p>
            <a:pPr algn="ctr"/>
            <a:r>
              <a:rPr sz="2700" b="1">
                <a:solidFill>
                  <a:srgbClr val="193756"/>
                </a:solidFill>
                <a:latin typeface="Microsoft JhengHei"/>
              </a:rPr>
              <a:t>「年輕人是不是特別喜歡使用行動支付？」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880360"/>
            <a:ext cx="329184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 wrap="square"/>
          <a:lstStyle/>
          <a:p>
            <a:pPr algn="ctr"/>
            <a:r>
              <a:rPr sz="2000" b="1">
                <a:solidFill>
                  <a:srgbClr val="9B3A3A"/>
                </a:solidFill>
                <a:latin typeface="Microsoft JhengHei"/>
              </a:rPr>
              <a:t>只找支持
自己想法的資料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34840" y="2880360"/>
            <a:ext cx="329184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 wrap="square"/>
          <a:lstStyle/>
          <a:p>
            <a:pPr algn="ctr"/>
            <a:r>
              <a:rPr sz="2000" b="1">
                <a:solidFill>
                  <a:srgbClr val="9B3A3A"/>
                </a:solidFill>
                <a:latin typeface="Microsoft JhengHei"/>
              </a:rPr>
              <a:t>忽略不符合
預期的結果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2880360"/>
            <a:ext cx="329184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 wrap="square"/>
          <a:lstStyle/>
          <a:p>
            <a:pPr algn="ctr"/>
            <a:r>
              <a:rPr sz="2000" b="1">
                <a:solidFill>
                  <a:srgbClr val="9B3A3A"/>
                </a:solidFill>
                <a:latin typeface="Microsoft JhengHei"/>
              </a:rPr>
              <a:t>讓 AI 幫忙
「證明」答案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4983480"/>
            <a:ext cx="9966960" cy="68580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2300" b="1">
                <a:solidFill>
                  <a:srgbClr val="193756"/>
                </a:solidFill>
                <a:latin typeface="Microsoft JhengHei"/>
              </a:rPr>
              <a:t>探索不是找證據支持自己，而是先看資料怎麼說。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0" y="6446520"/>
            <a:ext cx="914400" cy="22860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r"/>
            <a:r>
              <a:rPr sz="1000" b="0">
                <a:solidFill>
                  <a:srgbClr val="646E76"/>
                </a:solidFill>
                <a:latin typeface="Microsoft JhengHei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2800" b="1">
                <a:solidFill>
                  <a:srgbClr val="193756"/>
                </a:solidFill>
                <a:latin typeface="Microsoft JhengHei"/>
              </a:rPr>
              <a:t>24 筆資料直接擺在眼前，你看出了什麼？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932688"/>
            <a:ext cx="1143000" cy="45720"/>
          </a:xfrm>
          <a:prstGeom prst="rect">
            <a:avLst/>
          </a:prstGeom>
          <a:solidFill>
            <a:srgbClr val="C799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94360" y="1325880"/>
          <a:ext cx="10972800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097280"/>
                <a:gridCol w="1828800"/>
                <a:gridCol w="1828800"/>
                <a:gridCol w="2560320"/>
                <a:gridCol w="2286000"/>
              </a:tblGrid>
              <a:tr h="613954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Microsoft JhengHei"/>
                        </a:rPr>
                        <a:t>客戶</a:t>
                      </a:r>
                    </a:p>
                  </a:txBody>
                  <a:tcPr anchor="ctr">
                    <a:solidFill>
                      <a:srgbClr val="19375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Microsoft JhengHei"/>
                        </a:rPr>
                        <a:t>年齡</a:t>
                      </a:r>
                    </a:p>
                  </a:txBody>
                  <a:tcPr anchor="ctr">
                    <a:solidFill>
                      <a:srgbClr val="19375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Microsoft JhengHei"/>
                        </a:rPr>
                        <a:t>類別</a:t>
                      </a:r>
                    </a:p>
                  </a:txBody>
                  <a:tcPr anchor="ctr">
                    <a:solidFill>
                      <a:srgbClr val="19375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Microsoft JhengHei"/>
                        </a:rPr>
                        <a:t>金額</a:t>
                      </a:r>
                    </a:p>
                  </a:txBody>
                  <a:tcPr anchor="ctr">
                    <a:solidFill>
                      <a:srgbClr val="19375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Microsoft JhengHei"/>
                        </a:rPr>
                        <a:t>支付方式</a:t>
                      </a:r>
                    </a:p>
                  </a:txBody>
                  <a:tcPr anchor="ctr">
                    <a:solidFill>
                      <a:srgbClr val="19375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Microsoft JhengHei"/>
                        </a:rPr>
                        <a:t>優惠</a:t>
                      </a:r>
                    </a:p>
                  </a:txBody>
                  <a:tcPr anchor="ctr">
                    <a:solidFill>
                      <a:srgbClr val="193756"/>
                    </a:solidFill>
                  </a:tcPr>
                </a:tc>
              </a:tr>
              <a:tr h="613954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32A30"/>
                          </a:solidFill>
                          <a:latin typeface="Microsoft JhengHei"/>
                        </a:rPr>
                        <a:t>C001</a:t>
                      </a:r>
                    </a:p>
                  </a:txBody>
                  <a:tcPr anchor="ctr">
                    <a:solidFill>
                      <a:srgbClr val="EF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32A30"/>
                          </a:solidFill>
                          <a:latin typeface="Microsoft JhengHei"/>
                        </a:rPr>
                        <a:t>19</a:t>
                      </a:r>
                    </a:p>
                  </a:txBody>
                  <a:tcPr anchor="ctr">
                    <a:solidFill>
                      <a:srgbClr val="EF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32A30"/>
                          </a:solidFill>
                          <a:latin typeface="Microsoft JhengHei"/>
                        </a:rPr>
                        <a:t>餐飲</a:t>
                      </a:r>
                    </a:p>
                  </a:txBody>
                  <a:tcPr anchor="ctr">
                    <a:solidFill>
                      <a:srgbClr val="EF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32A30"/>
                          </a:solidFill>
                          <a:latin typeface="Microsoft JhengHei"/>
                        </a:rPr>
                        <a:t>180</a:t>
                      </a:r>
                    </a:p>
                  </a:txBody>
                  <a:tcPr anchor="ctr">
                    <a:solidFill>
                      <a:srgbClr val="EF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32A30"/>
                          </a:solidFill>
                          <a:latin typeface="Microsoft JhengHei"/>
                        </a:rPr>
                        <a:t>行動支付</a:t>
                      </a:r>
                    </a:p>
                  </a:txBody>
                  <a:tcPr anchor="ctr">
                    <a:solidFill>
                      <a:srgbClr val="EF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32A30"/>
                          </a:solidFill>
                          <a:latin typeface="Microsoft JhengHei"/>
                        </a:rPr>
                        <a:t>是</a:t>
                      </a:r>
                    </a:p>
                  </a:txBody>
                  <a:tcPr anchor="ctr">
                    <a:solidFill>
                      <a:srgbClr val="EFF5F9"/>
                    </a:solidFill>
                  </a:tcPr>
                </a:tc>
              </a:tr>
              <a:tr h="613954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32A30"/>
                          </a:solidFill>
                          <a:latin typeface="Microsoft JhengHei"/>
                        </a:rPr>
                        <a:t>C002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32A30"/>
                          </a:solidFill>
                          <a:latin typeface="Microsoft JhengHei"/>
                        </a:rPr>
                        <a:t>22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32A30"/>
                          </a:solidFill>
                          <a:latin typeface="Microsoft JhengHei"/>
                        </a:rPr>
                        <a:t>交通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32A30"/>
                          </a:solidFill>
                          <a:latin typeface="Microsoft JhengHei"/>
                        </a:rPr>
                        <a:t>45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32A30"/>
                          </a:solidFill>
                          <a:latin typeface="Microsoft JhengHei"/>
                        </a:rPr>
                        <a:t>信用卡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32A30"/>
                          </a:solidFill>
                          <a:latin typeface="Microsoft JhengHei"/>
                        </a:rPr>
                        <a:t>否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13954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32A30"/>
                          </a:solidFill>
                          <a:latin typeface="Microsoft JhengHei"/>
                        </a:rPr>
                        <a:t>C003</a:t>
                      </a:r>
                    </a:p>
                  </a:txBody>
                  <a:tcPr anchor="ctr">
                    <a:solidFill>
                      <a:srgbClr val="EF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32A30"/>
                          </a:solidFill>
                          <a:latin typeface="Microsoft JhengHei"/>
                        </a:rPr>
                        <a:t>20</a:t>
                      </a:r>
                    </a:p>
                  </a:txBody>
                  <a:tcPr anchor="ctr">
                    <a:solidFill>
                      <a:srgbClr val="EF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32A30"/>
                          </a:solidFill>
                          <a:latin typeface="Microsoft JhengHei"/>
                        </a:rPr>
                        <a:t>娛樂</a:t>
                      </a:r>
                    </a:p>
                  </a:txBody>
                  <a:tcPr anchor="ctr">
                    <a:solidFill>
                      <a:srgbClr val="EF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32A30"/>
                          </a:solidFill>
                          <a:latin typeface="Microsoft JhengHei"/>
                        </a:rPr>
                        <a:t>350</a:t>
                      </a:r>
                    </a:p>
                  </a:txBody>
                  <a:tcPr anchor="ctr">
                    <a:solidFill>
                      <a:srgbClr val="EF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32A30"/>
                          </a:solidFill>
                          <a:latin typeface="Microsoft JhengHei"/>
                        </a:rPr>
                        <a:t>行動支付</a:t>
                      </a:r>
                    </a:p>
                  </a:txBody>
                  <a:tcPr anchor="ctr">
                    <a:solidFill>
                      <a:srgbClr val="EF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32A30"/>
                          </a:solidFill>
                          <a:latin typeface="Microsoft JhengHei"/>
                        </a:rPr>
                        <a:t>是</a:t>
                      </a:r>
                    </a:p>
                  </a:txBody>
                  <a:tcPr anchor="ctr">
                    <a:solidFill>
                      <a:srgbClr val="EFF5F9"/>
                    </a:solidFill>
                  </a:tcPr>
                </a:tc>
              </a:tr>
              <a:tr h="613954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32A30"/>
                          </a:solidFill>
                          <a:latin typeface="Microsoft JhengHei"/>
                        </a:rPr>
                        <a:t>C004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32A30"/>
                          </a:solidFill>
                          <a:latin typeface="Microsoft JhengHei"/>
                        </a:rPr>
                        <a:t>21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32A30"/>
                          </a:solidFill>
                          <a:latin typeface="Microsoft JhengHei"/>
                        </a:rPr>
                        <a:t>餐飲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32A30"/>
                          </a:solidFill>
                          <a:latin typeface="Microsoft JhengHei"/>
                        </a:rPr>
                        <a:t>220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32A30"/>
                          </a:solidFill>
                          <a:latin typeface="Microsoft JhengHei"/>
                        </a:rPr>
                        <a:t>現金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32A30"/>
                          </a:solidFill>
                          <a:latin typeface="Microsoft JhengHei"/>
                        </a:rPr>
                        <a:t>否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13954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32A30"/>
                          </a:solidFill>
                          <a:latin typeface="Microsoft JhengHei"/>
                        </a:rPr>
                        <a:t>C005</a:t>
                      </a:r>
                    </a:p>
                  </a:txBody>
                  <a:tcPr anchor="ctr">
                    <a:solidFill>
                      <a:srgbClr val="EF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32A30"/>
                          </a:solidFill>
                          <a:latin typeface="Microsoft JhengHei"/>
                        </a:rPr>
                        <a:t>19</a:t>
                      </a:r>
                    </a:p>
                  </a:txBody>
                  <a:tcPr anchor="ctr">
                    <a:solidFill>
                      <a:srgbClr val="EF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32A30"/>
                          </a:solidFill>
                          <a:latin typeface="Microsoft JhengHei"/>
                        </a:rPr>
                        <a:t>購物</a:t>
                      </a:r>
                    </a:p>
                  </a:txBody>
                  <a:tcPr anchor="ctr">
                    <a:solidFill>
                      <a:srgbClr val="EF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32A30"/>
                          </a:solidFill>
                          <a:latin typeface="Microsoft JhengHei"/>
                        </a:rPr>
                        <a:t>1,280</a:t>
                      </a:r>
                    </a:p>
                  </a:txBody>
                  <a:tcPr anchor="ctr">
                    <a:solidFill>
                      <a:srgbClr val="EF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32A30"/>
                          </a:solidFill>
                          <a:latin typeface="Microsoft JhengHei"/>
                        </a:rPr>
                        <a:t>信用卡</a:t>
                      </a:r>
                    </a:p>
                  </a:txBody>
                  <a:tcPr anchor="ctr">
                    <a:solidFill>
                      <a:srgbClr val="EF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32A30"/>
                          </a:solidFill>
                          <a:latin typeface="Microsoft JhengHei"/>
                        </a:rPr>
                        <a:t>是</a:t>
                      </a:r>
                    </a:p>
                  </a:txBody>
                  <a:tcPr anchor="ctr">
                    <a:solidFill>
                      <a:srgbClr val="EFF5F9"/>
                    </a:solidFill>
                  </a:tcPr>
                </a:tc>
              </a:tr>
              <a:tr h="613956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32A30"/>
                          </a:solidFill>
                          <a:latin typeface="Microsoft JhengHei"/>
                        </a:rPr>
                        <a:t>…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32A30"/>
                          </a:solidFill>
                          <a:latin typeface="Microsoft JhengHei"/>
                        </a:rPr>
                        <a:t>…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32A30"/>
                          </a:solidFill>
                          <a:latin typeface="Microsoft JhengHei"/>
                        </a:rPr>
                        <a:t>…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32A30"/>
                          </a:solidFill>
                          <a:latin typeface="Microsoft JhengHei"/>
                        </a:rPr>
                        <a:t>…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32A30"/>
                          </a:solidFill>
                          <a:latin typeface="Microsoft JhengHei"/>
                        </a:rPr>
                        <a:t>…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32A30"/>
                          </a:solidFill>
                          <a:latin typeface="Microsoft JhengHei"/>
                        </a:rPr>
                        <a:t>…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097280" y="5806440"/>
            <a:ext cx="9966960" cy="41148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900" b="1">
                <a:solidFill>
                  <a:srgbClr val="9B3A3A"/>
                </a:solidFill>
                <a:latin typeface="Microsoft JhengHei"/>
              </a:rPr>
              <a:t>資料一多，只靠「盯著表格看」很快就不夠用了。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6446520"/>
            <a:ext cx="914400" cy="22860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r"/>
            <a:r>
              <a:rPr sz="1000" b="0">
                <a:solidFill>
                  <a:srgbClr val="646E76"/>
                </a:solidFill>
                <a:latin typeface="Microsoft JhengHei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2800" b="1">
                <a:solidFill>
                  <a:srgbClr val="193756"/>
                </a:solidFill>
                <a:latin typeface="Microsoft JhengHei"/>
              </a:rPr>
              <a:t>資料探索四招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932688"/>
            <a:ext cx="1143000" cy="45720"/>
          </a:xfrm>
          <a:prstGeom prst="rect">
            <a:avLst/>
          </a:prstGeom>
          <a:solidFill>
            <a:srgbClr val="C799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1005840"/>
            <a:ext cx="10972800" cy="36576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300" b="0">
                <a:solidFill>
                  <a:srgbClr val="646E76"/>
                </a:solidFill>
                <a:latin typeface="Microsoft JhengHei"/>
              </a:rPr>
              <a:t>先用簡單動作，把一大堆資料變成可以比較的資訊。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5212080" cy="155448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 wrap="square"/>
          <a:lstStyle/>
          <a:p>
            <a:pPr algn="ctr"/>
            <a:r>
              <a:rPr sz="2200" b="1">
                <a:solidFill>
                  <a:srgbClr val="193756"/>
                </a:solidFill>
                <a:latin typeface="Microsoft JhengHei"/>
              </a:rPr>
              <a:t>① 排序
誰最高？誰最低？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417320"/>
            <a:ext cx="5212080" cy="155448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 wrap="square"/>
          <a:lstStyle/>
          <a:p>
            <a:pPr algn="ctr"/>
            <a:r>
              <a:rPr sz="2200" b="1">
                <a:solidFill>
                  <a:srgbClr val="193756"/>
                </a:solidFill>
                <a:latin typeface="Microsoft JhengHei"/>
              </a:rPr>
              <a:t>② 篩選
只看我關心的資料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474720"/>
            <a:ext cx="5212080" cy="155448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 wrap="square"/>
          <a:lstStyle/>
          <a:p>
            <a:pPr algn="ctr"/>
            <a:r>
              <a:rPr sz="2200" b="1">
                <a:solidFill>
                  <a:srgbClr val="193756"/>
                </a:solidFill>
                <a:latin typeface="Microsoft JhengHei"/>
              </a:rPr>
              <a:t>③ 分類
把相似資料放在一起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3474720"/>
            <a:ext cx="5212080" cy="155448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 wrap="square"/>
          <a:lstStyle/>
          <a:p>
            <a:pPr algn="ctr"/>
            <a:r>
              <a:rPr sz="2200" b="1">
                <a:solidFill>
                  <a:srgbClr val="193756"/>
                </a:solidFill>
                <a:latin typeface="Microsoft JhengHei"/>
              </a:rPr>
              <a:t>④ 比較
不同群體有沒有差異？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0" y="6446520"/>
            <a:ext cx="914400" cy="22860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r"/>
            <a:r>
              <a:rPr sz="1000" b="0">
                <a:solidFill>
                  <a:srgbClr val="646E76"/>
                </a:solidFill>
                <a:latin typeface="Microsoft JhengHei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2800" b="1">
                <a:solidFill>
                  <a:srgbClr val="193756"/>
                </a:solidFill>
                <a:latin typeface="Microsoft JhengHei"/>
              </a:rPr>
              <a:t>探索第一招｜排序（Sort）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932688"/>
            <a:ext cx="1143000" cy="45720"/>
          </a:xfrm>
          <a:prstGeom prst="rect">
            <a:avLst/>
          </a:prstGeom>
          <a:solidFill>
            <a:srgbClr val="C799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1417320"/>
            <a:ext cx="10332720" cy="77724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 wrap="square"/>
          <a:lstStyle/>
          <a:p>
            <a:pPr algn="ctr"/>
            <a:r>
              <a:rPr sz="2600" b="1">
                <a:solidFill>
                  <a:srgbClr val="193756"/>
                </a:solidFill>
                <a:latin typeface="Microsoft JhengHei"/>
              </a:rPr>
              <a:t>把「消費金額」由高到低排列。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828800" y="2514600"/>
          <a:ext cx="8503920" cy="2423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2011680"/>
                <a:gridCol w="2743200"/>
                <a:gridCol w="2286000"/>
              </a:tblGrid>
              <a:tr h="484632"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Microsoft JhengHei"/>
                        </a:rPr>
                        <a:t>排序</a:t>
                      </a:r>
                    </a:p>
                  </a:txBody>
                  <a:tcPr anchor="ctr">
                    <a:solidFill>
                      <a:srgbClr val="19375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Microsoft JhengHei"/>
                        </a:rPr>
                        <a:t>客戶</a:t>
                      </a:r>
                    </a:p>
                  </a:txBody>
                  <a:tcPr anchor="ctr">
                    <a:solidFill>
                      <a:srgbClr val="19375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Microsoft JhengHei"/>
                        </a:rPr>
                        <a:t>消費類別</a:t>
                      </a:r>
                    </a:p>
                  </a:txBody>
                  <a:tcPr anchor="ctr">
                    <a:solidFill>
                      <a:srgbClr val="19375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Microsoft JhengHei"/>
                        </a:rPr>
                        <a:t>金額</a:t>
                      </a:r>
                    </a:p>
                  </a:txBody>
                  <a:tcPr anchor="ctr">
                    <a:solidFill>
                      <a:srgbClr val="193756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32A30"/>
                          </a:solidFill>
                          <a:latin typeface="Microsoft JhengHei"/>
                        </a:rPr>
                        <a:t>1</a:t>
                      </a:r>
                    </a:p>
                  </a:txBody>
                  <a:tcPr anchor="ctr">
                    <a:solidFill>
                      <a:srgbClr val="EF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32A30"/>
                          </a:solidFill>
                          <a:latin typeface="Microsoft JhengHei"/>
                        </a:rPr>
                        <a:t>C005</a:t>
                      </a:r>
                    </a:p>
                  </a:txBody>
                  <a:tcPr anchor="ctr">
                    <a:solidFill>
                      <a:srgbClr val="EF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32A30"/>
                          </a:solidFill>
                          <a:latin typeface="Microsoft JhengHei"/>
                        </a:rPr>
                        <a:t>購物</a:t>
                      </a:r>
                    </a:p>
                  </a:txBody>
                  <a:tcPr anchor="ctr">
                    <a:solidFill>
                      <a:srgbClr val="EF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32A30"/>
                          </a:solidFill>
                          <a:latin typeface="Microsoft JhengHei"/>
                        </a:rPr>
                        <a:t>1,280</a:t>
                      </a:r>
                    </a:p>
                  </a:txBody>
                  <a:tcPr anchor="ctr">
                    <a:solidFill>
                      <a:srgbClr val="EFF5F9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32A30"/>
                          </a:solidFill>
                          <a:latin typeface="Microsoft JhengHei"/>
                        </a:rPr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32A30"/>
                          </a:solidFill>
                          <a:latin typeface="Microsoft JhengHei"/>
                        </a:rPr>
                        <a:t>C011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32A30"/>
                          </a:solidFill>
                          <a:latin typeface="Microsoft JhengHei"/>
                        </a:rPr>
                        <a:t>娛樂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32A30"/>
                          </a:solidFill>
                          <a:latin typeface="Microsoft JhengHei"/>
                        </a:rPr>
                        <a:t>960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32A30"/>
                          </a:solidFill>
                          <a:latin typeface="Microsoft JhengHei"/>
                        </a:rPr>
                        <a:t>3</a:t>
                      </a:r>
                    </a:p>
                  </a:txBody>
                  <a:tcPr anchor="ctr">
                    <a:solidFill>
                      <a:srgbClr val="EF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32A30"/>
                          </a:solidFill>
                          <a:latin typeface="Microsoft JhengHei"/>
                        </a:rPr>
                        <a:t>C019</a:t>
                      </a:r>
                    </a:p>
                  </a:txBody>
                  <a:tcPr anchor="ctr">
                    <a:solidFill>
                      <a:srgbClr val="EF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32A30"/>
                          </a:solidFill>
                          <a:latin typeface="Microsoft JhengHei"/>
                        </a:rPr>
                        <a:t>餐飲</a:t>
                      </a:r>
                    </a:p>
                  </a:txBody>
                  <a:tcPr anchor="ctr">
                    <a:solidFill>
                      <a:srgbClr val="EF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32A30"/>
                          </a:solidFill>
                          <a:latin typeface="Microsoft JhengHei"/>
                        </a:rPr>
                        <a:t>820</a:t>
                      </a:r>
                    </a:p>
                  </a:txBody>
                  <a:tcPr anchor="ctr">
                    <a:solidFill>
                      <a:srgbClr val="EFF5F9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32A30"/>
                          </a:solidFill>
                          <a:latin typeface="Microsoft JhengHei"/>
                        </a:rPr>
                        <a:t>…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32A30"/>
                          </a:solidFill>
                          <a:latin typeface="Microsoft JhengHei"/>
                        </a:rPr>
                        <a:t>…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32A30"/>
                          </a:solidFill>
                          <a:latin typeface="Microsoft JhengHei"/>
                        </a:rPr>
                        <a:t>…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32A30"/>
                          </a:solidFill>
                          <a:latin typeface="Microsoft JhengHei"/>
                        </a:rPr>
                        <a:t>…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914400" y="5257800"/>
            <a:ext cx="10332720" cy="59436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2100" b="1">
                <a:solidFill>
                  <a:srgbClr val="9B3A3A"/>
                </a:solidFill>
                <a:latin typeface="Microsoft JhengHei"/>
              </a:rPr>
              <a:t>最高金額值得注意，但「高額」本身不等於異常。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6446520"/>
            <a:ext cx="914400" cy="22860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r"/>
            <a:r>
              <a:rPr sz="1000" b="0">
                <a:solidFill>
                  <a:srgbClr val="646E76"/>
                </a:solidFill>
                <a:latin typeface="Microsoft JhengHei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2800" b="1">
                <a:solidFill>
                  <a:srgbClr val="193756"/>
                </a:solidFill>
                <a:latin typeface="Microsoft JhengHei"/>
              </a:rPr>
              <a:t>探索第二招｜篩選（Filter）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932688"/>
            <a:ext cx="1143000" cy="45720"/>
          </a:xfrm>
          <a:prstGeom prst="rect">
            <a:avLst/>
          </a:prstGeom>
          <a:solidFill>
            <a:srgbClr val="C799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1417320"/>
            <a:ext cx="10332720" cy="77724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 wrap="square"/>
          <a:lstStyle/>
          <a:p>
            <a:pPr algn="ctr"/>
            <a:r>
              <a:rPr sz="2500" b="1">
                <a:solidFill>
                  <a:srgbClr val="193756"/>
                </a:solidFill>
                <a:latin typeface="Microsoft JhengHei"/>
              </a:rPr>
              <a:t>如果問題是「行動支付使用者怎麼消費？」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88720" y="2743200"/>
            <a:ext cx="9784080" cy="914400"/>
          </a:xfrm>
          <a:prstGeom prst="roundRect">
            <a:avLst/>
          </a:prstGeom>
          <a:solidFill>
            <a:srgbClr val="316999"/>
          </a:solidFill>
          <a:ln>
            <a:solidFill>
              <a:srgbClr val="316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 wrap="square"/>
          <a:lstStyle/>
          <a:p>
            <a:pPr algn="ctr"/>
            <a:r>
              <a:rPr sz="2900" b="1">
                <a:solidFill>
                  <a:srgbClr val="FFFFFF"/>
                </a:solidFill>
                <a:latin typeface="Microsoft JhengHei"/>
              </a:rPr>
              <a:t>只保留：支付方式 = 行動支付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206240"/>
            <a:ext cx="9966960" cy="77724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2300" b="1">
                <a:solidFill>
                  <a:srgbClr val="232A30"/>
                </a:solidFill>
                <a:latin typeface="Microsoft JhengHei"/>
              </a:rPr>
              <a:t>同一份資料，因為問題不同，我們會看不同的部分。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6446520"/>
            <a:ext cx="914400" cy="22860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r"/>
            <a:r>
              <a:rPr sz="1000" b="0">
                <a:solidFill>
                  <a:srgbClr val="646E76"/>
                </a:solidFill>
                <a:latin typeface="Microsoft JhengHei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2800" b="1">
                <a:solidFill>
                  <a:srgbClr val="193756"/>
                </a:solidFill>
                <a:latin typeface="Microsoft JhengHei"/>
              </a:rPr>
              <a:t>探索第三招｜分類（Group）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932688"/>
            <a:ext cx="1143000" cy="45720"/>
          </a:xfrm>
          <a:prstGeom prst="rect">
            <a:avLst/>
          </a:prstGeom>
          <a:solidFill>
            <a:srgbClr val="C799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1325880"/>
            <a:ext cx="10332720" cy="68580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 wrap="square"/>
          <a:lstStyle/>
          <a:p>
            <a:pPr algn="ctr"/>
            <a:r>
              <a:rPr sz="2500" b="1">
                <a:solidFill>
                  <a:srgbClr val="193756"/>
                </a:solidFill>
                <a:latin typeface="Microsoft JhengHei"/>
              </a:rPr>
              <a:t>把交易依「消費類別」放在一起。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0" y="2331720"/>
          <a:ext cx="667512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2560320"/>
              </a:tblGrid>
              <a:tr h="585216"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Microsoft JhengHei"/>
                        </a:rPr>
                        <a:t>消費類別</a:t>
                      </a:r>
                    </a:p>
                  </a:txBody>
                  <a:tcPr anchor="ctr">
                    <a:solidFill>
                      <a:srgbClr val="19375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Microsoft JhengHei"/>
                        </a:rPr>
                        <a:t>交易筆數</a:t>
                      </a:r>
                    </a:p>
                  </a:txBody>
                  <a:tcPr anchor="ctr">
                    <a:solidFill>
                      <a:srgbClr val="193756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232A30"/>
                          </a:solidFill>
                          <a:latin typeface="Microsoft JhengHei"/>
                        </a:rPr>
                        <a:t>餐飲</a:t>
                      </a:r>
                    </a:p>
                  </a:txBody>
                  <a:tcPr anchor="ctr">
                    <a:solidFill>
                      <a:srgbClr val="EF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232A30"/>
                          </a:solidFill>
                          <a:latin typeface="Microsoft JhengHei"/>
                        </a:rPr>
                        <a:t>8</a:t>
                      </a:r>
                    </a:p>
                  </a:txBody>
                  <a:tcPr anchor="ctr">
                    <a:solidFill>
                      <a:srgbClr val="EFF5F9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232A30"/>
                          </a:solidFill>
                          <a:latin typeface="Microsoft JhengHei"/>
                        </a:rPr>
                        <a:t>交通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232A30"/>
                          </a:solidFill>
                          <a:latin typeface="Microsoft JhengHei"/>
                        </a:rPr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232A30"/>
                          </a:solidFill>
                          <a:latin typeface="Microsoft JhengHei"/>
                        </a:rPr>
                        <a:t>娛樂</a:t>
                      </a:r>
                    </a:p>
                  </a:txBody>
                  <a:tcPr anchor="ctr">
                    <a:solidFill>
                      <a:srgbClr val="EF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232A30"/>
                          </a:solidFill>
                          <a:latin typeface="Microsoft JhengHei"/>
                        </a:rPr>
                        <a:t>4</a:t>
                      </a:r>
                    </a:p>
                  </a:txBody>
                  <a:tcPr anchor="ctr">
                    <a:solidFill>
                      <a:srgbClr val="EFF5F9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232A30"/>
                          </a:solidFill>
                          <a:latin typeface="Microsoft JhengHei"/>
                        </a:rPr>
                        <a:t>購物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232A30"/>
                          </a:solidFill>
                          <a:latin typeface="Microsoft JhengHei"/>
                        </a:rPr>
                        <a:t>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097280" y="5486400"/>
            <a:ext cx="9966960" cy="45720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2000" b="1">
                <a:solidFill>
                  <a:srgbClr val="9B3A3A"/>
                </a:solidFill>
                <a:latin typeface="Microsoft JhengHei"/>
              </a:rPr>
              <a:t>現在我們開始能回答：哪一類出現最多？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6446520"/>
            <a:ext cx="914400" cy="22860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r"/>
            <a:r>
              <a:rPr sz="1000" b="0">
                <a:solidFill>
                  <a:srgbClr val="646E76"/>
                </a:solidFill>
                <a:latin typeface="Microsoft JhengHe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2800" b="1">
                <a:solidFill>
                  <a:srgbClr val="193756"/>
                </a:solidFill>
                <a:latin typeface="Microsoft JhengHei"/>
              </a:rPr>
              <a:t>探索第四招｜比較（Compare）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932688"/>
            <a:ext cx="1143000" cy="45720"/>
          </a:xfrm>
          <a:prstGeom prst="rect">
            <a:avLst/>
          </a:prstGeom>
          <a:solidFill>
            <a:srgbClr val="C799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1417320"/>
            <a:ext cx="5074920" cy="192024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 wrap="square"/>
          <a:lstStyle/>
          <a:p>
            <a:pPr algn="ctr"/>
            <a:r>
              <a:rPr sz="2600" b="1">
                <a:solidFill>
                  <a:srgbClr val="193756"/>
                </a:solidFill>
                <a:latin typeface="Microsoft JhengHei"/>
              </a:rPr>
              <a:t>有使用優惠
看起來消費較高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55080" y="1417320"/>
            <a:ext cx="5074920" cy="192024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 wrap="square"/>
          <a:lstStyle/>
          <a:p>
            <a:pPr algn="ctr"/>
            <a:r>
              <a:rPr sz="2600" b="1">
                <a:solidFill>
                  <a:srgbClr val="193756"/>
                </a:solidFill>
                <a:latin typeface="Microsoft JhengHei"/>
              </a:rPr>
              <a:t>沒有使用優惠
看起來消費較低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886200"/>
            <a:ext cx="10332720" cy="82296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2700" b="1">
                <a:solidFill>
                  <a:srgbClr val="9B3A3A"/>
                </a:solidFill>
                <a:latin typeface="Microsoft JhengHei"/>
              </a:rPr>
              <a:t>所以可以說「優惠一定讓人花更多」嗎？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5074920"/>
            <a:ext cx="9784080" cy="59436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2200" b="1">
                <a:solidFill>
                  <a:srgbClr val="232A30"/>
                </a:solidFill>
                <a:latin typeface="Microsoft JhengHei"/>
              </a:rPr>
              <a:t>不行。先描述差異，再思考可能原因。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0" y="6446520"/>
            <a:ext cx="914400" cy="22860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r"/>
            <a:r>
              <a:rPr sz="1000" b="0">
                <a:solidFill>
                  <a:srgbClr val="646E76"/>
                </a:solidFill>
                <a:latin typeface="Microsoft JhengHe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2800" b="1">
                <a:solidFill>
                  <a:srgbClr val="193756"/>
                </a:solidFill>
                <a:latin typeface="Microsoft JhengHei"/>
              </a:rPr>
              <a:t>本週最重要的界線｜看到現象 ≠ 知道原因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932688"/>
            <a:ext cx="1143000" cy="45720"/>
          </a:xfrm>
          <a:prstGeom prst="rect">
            <a:avLst/>
          </a:prstGeom>
          <a:solidFill>
            <a:srgbClr val="C799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325880"/>
            <a:ext cx="5303520" cy="214884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 wrap="square"/>
          <a:lstStyle/>
          <a:p>
            <a:pPr algn="ctr"/>
            <a:r>
              <a:rPr sz="2200" b="1">
                <a:solidFill>
                  <a:srgbClr val="2D785A"/>
                </a:solidFill>
                <a:latin typeface="Microsoft JhengHei"/>
              </a:rPr>
              <a:t>可以說
「目前資料中，使用優惠者的消費金額較高。」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72200" y="1325880"/>
            <a:ext cx="5303520" cy="214884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 wrap="square"/>
          <a:lstStyle/>
          <a:p>
            <a:pPr algn="ctr"/>
            <a:r>
              <a:rPr sz="2200" b="1">
                <a:solidFill>
                  <a:srgbClr val="9B3A3A"/>
                </a:solidFill>
                <a:latin typeface="Microsoft JhengHei"/>
              </a:rPr>
              <a:t>不能直接說
「優惠造成消費增加。」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4160520"/>
            <a:ext cx="10149840" cy="96012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2700" b="1">
                <a:solidFill>
                  <a:srgbClr val="193756"/>
                </a:solidFill>
                <a:latin typeface="Microsoft JhengHei"/>
              </a:rPr>
              <a:t>看見關聯（Association） ≠ 證明因果（Causation）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6446520"/>
            <a:ext cx="914400" cy="22860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r"/>
            <a:r>
              <a:rPr sz="1000" b="0">
                <a:solidFill>
                  <a:srgbClr val="646E76"/>
                </a:solidFill>
                <a:latin typeface="Microsoft JhengHe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2800" b="1">
                <a:solidFill>
                  <a:srgbClr val="193756"/>
                </a:solidFill>
                <a:latin typeface="Microsoft JhengHei"/>
              </a:rPr>
              <a:t>為什麼不能急著說「優惠造成消費增加」？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932688"/>
            <a:ext cx="1143000" cy="45720"/>
          </a:xfrm>
          <a:prstGeom prst="rect">
            <a:avLst/>
          </a:prstGeom>
          <a:solidFill>
            <a:srgbClr val="C799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51560" y="1234440"/>
            <a:ext cx="10058400" cy="68580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 wrap="square"/>
          <a:lstStyle/>
          <a:p>
            <a:pPr algn="l"/>
            <a:r>
              <a:rPr sz="1900" b="1">
                <a:solidFill>
                  <a:srgbClr val="193756"/>
                </a:solidFill>
                <a:latin typeface="Microsoft JhengHei"/>
              </a:rPr>
              <a:t>1. 本來消費較多的人更常找優惠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51560" y="2148840"/>
            <a:ext cx="10058400" cy="68580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 wrap="square"/>
          <a:lstStyle/>
          <a:p>
            <a:pPr algn="l"/>
            <a:r>
              <a:rPr sz="1900" b="1">
                <a:solidFill>
                  <a:srgbClr val="193756"/>
                </a:solidFill>
                <a:latin typeface="Microsoft JhengHei"/>
              </a:rPr>
              <a:t>2. 不同商品類別的金額本來就不同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51560" y="3063240"/>
            <a:ext cx="10058400" cy="68580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 wrap="square"/>
          <a:lstStyle/>
          <a:p>
            <a:pPr algn="l"/>
            <a:r>
              <a:rPr sz="1900" b="1">
                <a:solidFill>
                  <a:srgbClr val="193756"/>
                </a:solidFill>
                <a:latin typeface="Microsoft JhengHei"/>
              </a:rPr>
              <a:t>3. 會員等級可能不同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51560" y="3977639"/>
            <a:ext cx="10058400" cy="68580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 wrap="square"/>
          <a:lstStyle/>
          <a:p>
            <a:pPr algn="l"/>
            <a:r>
              <a:rPr sz="1900" b="1">
                <a:solidFill>
                  <a:srgbClr val="193756"/>
                </a:solidFill>
                <a:latin typeface="Microsoft JhengHei"/>
              </a:rPr>
              <a:t>4. 活動期間可能不同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51560" y="4892040"/>
            <a:ext cx="10058400" cy="68580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 wrap="square"/>
          <a:lstStyle/>
          <a:p>
            <a:pPr algn="l"/>
            <a:r>
              <a:rPr sz="1900" b="1">
                <a:solidFill>
                  <a:srgbClr val="193756"/>
                </a:solidFill>
                <a:latin typeface="Microsoft JhengHei"/>
              </a:rPr>
              <a:t>5. 還有資料沒有記錄的因素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0" y="6446520"/>
            <a:ext cx="914400" cy="22860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r"/>
            <a:r>
              <a:rPr sz="1000" b="0">
                <a:solidFill>
                  <a:srgbClr val="646E76"/>
                </a:solidFill>
                <a:latin typeface="Microsoft JhengHe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2800" b="1">
                <a:solidFill>
                  <a:srgbClr val="193756"/>
                </a:solidFill>
                <a:latin typeface="Microsoft JhengHei"/>
              </a:rPr>
              <a:t>表格與圖表：只是「看資料的不同方式」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932688"/>
            <a:ext cx="1143000" cy="45720"/>
          </a:xfrm>
          <a:prstGeom prst="rect">
            <a:avLst/>
          </a:prstGeom>
          <a:solidFill>
            <a:srgbClr val="C799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2960" y="1417320"/>
            <a:ext cx="5074920" cy="310896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 wrap="square"/>
          <a:lstStyle/>
          <a:p>
            <a:pPr algn="ctr"/>
            <a:r>
              <a:rPr sz="2400" b="1">
                <a:solidFill>
                  <a:srgbClr val="193756"/>
                </a:solidFill>
                <a:latin typeface="Microsoft JhengHei"/>
              </a:rPr>
              <a:t>表格
適合查看細節
找到特定紀錄
核對數值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417320"/>
            <a:ext cx="5074920" cy="310896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 wrap="square"/>
          <a:lstStyle/>
          <a:p>
            <a:pPr algn="ctr"/>
            <a:r>
              <a:rPr sz="2400" b="1">
                <a:solidFill>
                  <a:srgbClr val="193756"/>
                </a:solidFill>
                <a:latin typeface="Microsoft JhengHei"/>
              </a:rPr>
              <a:t>圖表
適合快速比較
看出差異
發現可能模式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5166360"/>
            <a:ext cx="9966960" cy="50292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2000" b="1">
                <a:solidFill>
                  <a:srgbClr val="9B3A3A"/>
                </a:solidFill>
                <a:latin typeface="Microsoft JhengHei"/>
              </a:rPr>
              <a:t>本週先正式認識一種：長條圖（Bar Chart）。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6446520"/>
            <a:ext cx="914400" cy="22860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r"/>
            <a:r>
              <a:rPr sz="1000" b="0">
                <a:solidFill>
                  <a:srgbClr val="646E76"/>
                </a:solidFill>
                <a:latin typeface="Microsoft JhengHe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2800" b="1">
                <a:solidFill>
                  <a:srgbClr val="193756"/>
                </a:solidFill>
                <a:latin typeface="Microsoft JhengHei"/>
              </a:rPr>
              <a:t>長條圖（Bar Chart）｜比較不同類別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932688"/>
            <a:ext cx="1143000" cy="45720"/>
          </a:xfrm>
          <a:prstGeom prst="rect">
            <a:avLst/>
          </a:prstGeom>
          <a:solidFill>
            <a:srgbClr val="C799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10607040" cy="50292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2100" b="1">
                <a:solidFill>
                  <a:srgbClr val="193756"/>
                </a:solidFill>
                <a:latin typeface="Microsoft JhengHei"/>
              </a:rPr>
              <a:t>24 筆交易中，各消費類別出現幾次？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2148840"/>
            <a:ext cx="1280160" cy="50292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r"/>
            <a:r>
              <a:rPr sz="1600" b="1">
                <a:solidFill>
                  <a:srgbClr val="232A30"/>
                </a:solidFill>
                <a:latin typeface="Microsoft JhengHei"/>
              </a:rPr>
              <a:t>餐飲</a:t>
            </a:r>
          </a:p>
        </p:txBody>
      </p:sp>
      <p:sp>
        <p:nvSpPr>
          <p:cNvPr id="6" name="Rectangle 5"/>
          <p:cNvSpPr/>
          <p:nvPr/>
        </p:nvSpPr>
        <p:spPr>
          <a:xfrm>
            <a:off x="2423160" y="2221992"/>
            <a:ext cx="6949440" cy="365760"/>
          </a:xfrm>
          <a:prstGeom prst="rect">
            <a:avLst/>
          </a:prstGeom>
          <a:solidFill>
            <a:srgbClr val="316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555480" y="2148840"/>
            <a:ext cx="914400" cy="50292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700" b="1">
                <a:solidFill>
                  <a:srgbClr val="193756"/>
                </a:solidFill>
                <a:latin typeface="Microsoft JhengHei"/>
              </a:rP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990088"/>
            <a:ext cx="1280160" cy="50292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r"/>
            <a:r>
              <a:rPr sz="1600" b="1">
                <a:solidFill>
                  <a:srgbClr val="232A30"/>
                </a:solidFill>
                <a:latin typeface="Microsoft JhengHei"/>
              </a:rPr>
              <a:t>交通</a:t>
            </a:r>
          </a:p>
        </p:txBody>
      </p:sp>
      <p:sp>
        <p:nvSpPr>
          <p:cNvPr id="9" name="Rectangle 8"/>
          <p:cNvSpPr/>
          <p:nvPr/>
        </p:nvSpPr>
        <p:spPr>
          <a:xfrm>
            <a:off x="2423160" y="3063240"/>
            <a:ext cx="4343400" cy="365760"/>
          </a:xfrm>
          <a:prstGeom prst="rect">
            <a:avLst/>
          </a:prstGeom>
          <a:solidFill>
            <a:srgbClr val="316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55480" y="2990088"/>
            <a:ext cx="914400" cy="50292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700" b="1">
                <a:solidFill>
                  <a:srgbClr val="193756"/>
                </a:solidFill>
                <a:latin typeface="Microsoft JhengHei"/>
              </a:rPr>
              <a:t>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831336"/>
            <a:ext cx="1280160" cy="50292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r"/>
            <a:r>
              <a:rPr sz="1600" b="1">
                <a:solidFill>
                  <a:srgbClr val="232A30"/>
                </a:solidFill>
                <a:latin typeface="Microsoft JhengHei"/>
              </a:rPr>
              <a:t>娛樂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423160" y="3904488"/>
            <a:ext cx="3474720" cy="365760"/>
          </a:xfrm>
          <a:prstGeom prst="rect">
            <a:avLst/>
          </a:prstGeom>
          <a:solidFill>
            <a:srgbClr val="316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555480" y="3831336"/>
            <a:ext cx="914400" cy="50292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700" b="1">
                <a:solidFill>
                  <a:srgbClr val="193756"/>
                </a:solidFill>
                <a:latin typeface="Microsoft JhengHei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4672584"/>
            <a:ext cx="1280160" cy="50292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r"/>
            <a:r>
              <a:rPr sz="1600" b="1">
                <a:solidFill>
                  <a:srgbClr val="232A30"/>
                </a:solidFill>
                <a:latin typeface="Microsoft JhengHei"/>
              </a:rPr>
              <a:t>購物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423160" y="4745736"/>
            <a:ext cx="6080759" cy="365760"/>
          </a:xfrm>
          <a:prstGeom prst="rect">
            <a:avLst/>
          </a:prstGeom>
          <a:solidFill>
            <a:srgbClr val="316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555480" y="4672584"/>
            <a:ext cx="914400" cy="50292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700" b="1">
                <a:solidFill>
                  <a:srgbClr val="193756"/>
                </a:solidFill>
                <a:latin typeface="Microsoft JhengHei"/>
              </a:rPr>
              <a:t>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5669280"/>
            <a:ext cx="9966960" cy="45720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2000" b="1">
                <a:solidFill>
                  <a:srgbClr val="9B3A3A"/>
                </a:solidFill>
                <a:latin typeface="Microsoft JhengHei"/>
              </a:rPr>
              <a:t>圖表讓「哪一類最多」變得更容易看見。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98480" y="6446520"/>
            <a:ext cx="914400" cy="22860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r"/>
            <a:r>
              <a:rPr sz="1000" b="0">
                <a:solidFill>
                  <a:srgbClr val="646E76"/>
                </a:solidFill>
                <a:latin typeface="Microsoft JhengHe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2800" b="1">
                <a:solidFill>
                  <a:srgbClr val="193756"/>
                </a:solidFill>
                <a:latin typeface="Microsoft JhengHei"/>
              </a:rPr>
              <a:t>圖表也可能讓差異「看起來更大」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932688"/>
            <a:ext cx="1143000" cy="45720"/>
          </a:xfrm>
          <a:prstGeom prst="rect">
            <a:avLst/>
          </a:prstGeom>
          <a:solidFill>
            <a:srgbClr val="C799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5440680" cy="59436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2000" b="1">
                <a:solidFill>
                  <a:srgbClr val="193756"/>
                </a:solidFill>
                <a:latin typeface="Microsoft JhengHei"/>
              </a:rPr>
              <a:t>圖 A｜完整尺度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0" y="1280160"/>
            <a:ext cx="5440680" cy="59436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2000" b="1">
                <a:solidFill>
                  <a:srgbClr val="193756"/>
                </a:solidFill>
                <a:latin typeface="Microsoft JhengHei"/>
              </a:rPr>
              <a:t>圖 B｜截短尺度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011680"/>
            <a:ext cx="1097280" cy="36576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400" b="0">
                <a:solidFill>
                  <a:srgbClr val="232A30"/>
                </a:solidFill>
                <a:latin typeface="Microsoft JhengHei"/>
              </a:rPr>
              <a:t>A 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34640" y="2011680"/>
            <a:ext cx="1097280" cy="36576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400" b="0">
                <a:solidFill>
                  <a:srgbClr val="232A30"/>
                </a:solidFill>
                <a:latin typeface="Microsoft JhengHei"/>
              </a:rPr>
              <a:t>B 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2011680"/>
            <a:ext cx="1097280" cy="36576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400" b="0">
                <a:solidFill>
                  <a:srgbClr val="232A30"/>
                </a:solidFill>
                <a:latin typeface="Microsoft JhengHei"/>
              </a:rPr>
              <a:t>A 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21040" y="2011680"/>
            <a:ext cx="1097280" cy="36576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400" b="0">
                <a:solidFill>
                  <a:srgbClr val="232A30"/>
                </a:solidFill>
                <a:latin typeface="Microsoft JhengHei"/>
              </a:rPr>
              <a:t>B 組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51560" y="2926080"/>
            <a:ext cx="914400" cy="1828800"/>
          </a:xfrm>
          <a:prstGeom prst="rect">
            <a:avLst/>
          </a:prstGeom>
          <a:solidFill>
            <a:srgbClr val="316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063240" y="2743200"/>
            <a:ext cx="914400" cy="2011680"/>
          </a:xfrm>
          <a:prstGeom prst="rect">
            <a:avLst/>
          </a:prstGeom>
          <a:solidFill>
            <a:srgbClr val="316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4800600"/>
            <a:ext cx="914400" cy="36576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400" b="1">
                <a:solidFill>
                  <a:srgbClr val="193756"/>
                </a:solidFill>
                <a:latin typeface="Microsoft JhengHei"/>
              </a:rPr>
              <a:t>100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63240" y="4800600"/>
            <a:ext cx="914400" cy="36576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400" b="1">
                <a:solidFill>
                  <a:srgbClr val="193756"/>
                </a:solidFill>
                <a:latin typeface="Microsoft JhengHei"/>
              </a:rPr>
              <a:t>110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37960" y="4206240"/>
            <a:ext cx="914400" cy="548640"/>
          </a:xfrm>
          <a:prstGeom prst="rect">
            <a:avLst/>
          </a:prstGeom>
          <a:solidFill>
            <a:srgbClr val="316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549640" y="2560320"/>
            <a:ext cx="914400" cy="2194560"/>
          </a:xfrm>
          <a:prstGeom prst="rect">
            <a:avLst/>
          </a:prstGeom>
          <a:solidFill>
            <a:srgbClr val="316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37960" y="4800600"/>
            <a:ext cx="914400" cy="36576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400" b="1">
                <a:solidFill>
                  <a:srgbClr val="193756"/>
                </a:solidFill>
                <a:latin typeface="Microsoft JhengHei"/>
              </a:rPr>
              <a:t>100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49640" y="4800600"/>
            <a:ext cx="914400" cy="36576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400" b="1">
                <a:solidFill>
                  <a:srgbClr val="193756"/>
                </a:solidFill>
                <a:latin typeface="Microsoft JhengHei"/>
              </a:rPr>
              <a:t>110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532120"/>
            <a:ext cx="10332720" cy="50292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2000" b="1">
                <a:solidFill>
                  <a:srgbClr val="9B3A3A"/>
                </a:solidFill>
                <a:latin typeface="Microsoft JhengHei"/>
              </a:rPr>
              <a:t>數字相同，視覺感受卻可能不同。看圖也要查尺度與呈現方式。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98480" y="6446520"/>
            <a:ext cx="914400" cy="22860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r"/>
            <a:r>
              <a:rPr sz="1000" b="0">
                <a:solidFill>
                  <a:srgbClr val="646E76"/>
                </a:solidFill>
                <a:latin typeface="Microsoft JhengHe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2800" b="1">
                <a:solidFill>
                  <a:srgbClr val="193756"/>
                </a:solidFill>
                <a:latin typeface="Microsoft JhengHei"/>
              </a:rPr>
              <a:t>主要案例｜行動支付公司：優惠真的有效嗎？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932688"/>
            <a:ext cx="1143000" cy="45720"/>
          </a:xfrm>
          <a:prstGeom prst="rect">
            <a:avLst/>
          </a:prstGeom>
          <a:solidFill>
            <a:srgbClr val="C799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1371600"/>
            <a:ext cx="10332720" cy="77724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 wrap="square"/>
          <a:lstStyle/>
          <a:p>
            <a:pPr algn="ctr"/>
            <a:r>
              <a:rPr sz="2600" b="1">
                <a:solidFill>
                  <a:srgbClr val="193756"/>
                </a:solidFill>
                <a:latin typeface="Microsoft JhengHei"/>
              </a:rPr>
              <a:t>主管問：「使用優惠的客戶是不是消費比較多？」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2743200"/>
            <a:ext cx="2619756" cy="914400"/>
          </a:xfrm>
          <a:prstGeom prst="roundRect">
            <a:avLst/>
          </a:prstGeom>
          <a:solidFill>
            <a:srgbClr val="316999"/>
          </a:solidFill>
          <a:ln>
            <a:solidFill>
              <a:srgbClr val="316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 wrap="square"/>
          <a:lstStyle/>
          <a:p>
            <a:pPr algn="ctr"/>
            <a:r>
              <a:rPr sz="1700" b="1">
                <a:solidFill>
                  <a:srgbClr val="FFFFFF"/>
                </a:solidFill>
                <a:latin typeface="Microsoft JhengHei"/>
              </a:rPr>
              <a:t>排序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14116" y="3017520"/>
            <a:ext cx="164592" cy="32004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800" b="1">
                <a:solidFill>
                  <a:srgbClr val="C79941"/>
                </a:solidFill>
                <a:latin typeface="Microsoft JhengHei"/>
              </a:rPr>
              <a:t>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78708" y="2743200"/>
            <a:ext cx="2619756" cy="914400"/>
          </a:xfrm>
          <a:prstGeom prst="roundRect">
            <a:avLst/>
          </a:prstGeom>
          <a:solidFill>
            <a:srgbClr val="316999"/>
          </a:solidFill>
          <a:ln>
            <a:solidFill>
              <a:srgbClr val="316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 wrap="square"/>
          <a:lstStyle/>
          <a:p>
            <a:pPr algn="ctr"/>
            <a:r>
              <a:rPr sz="1700" b="1">
                <a:solidFill>
                  <a:srgbClr val="FFFFFF"/>
                </a:solidFill>
                <a:latin typeface="Microsoft JhengHei"/>
              </a:rPr>
              <a:t>篩選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98464" y="3017520"/>
            <a:ext cx="164592" cy="32004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800" b="1">
                <a:solidFill>
                  <a:srgbClr val="C79941"/>
                </a:solidFill>
                <a:latin typeface="Microsoft JhengHei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63056" y="2743200"/>
            <a:ext cx="2619756" cy="914400"/>
          </a:xfrm>
          <a:prstGeom prst="roundRect">
            <a:avLst/>
          </a:prstGeom>
          <a:solidFill>
            <a:srgbClr val="316999"/>
          </a:solidFill>
          <a:ln>
            <a:solidFill>
              <a:srgbClr val="316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 wrap="square"/>
          <a:lstStyle/>
          <a:p>
            <a:pPr algn="ctr"/>
            <a:r>
              <a:rPr sz="1700" b="1">
                <a:solidFill>
                  <a:srgbClr val="FFFFFF"/>
                </a:solidFill>
                <a:latin typeface="Microsoft JhengHei"/>
              </a:rPr>
              <a:t>分類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82812" y="3017520"/>
            <a:ext cx="164592" cy="32004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800" b="1">
                <a:solidFill>
                  <a:srgbClr val="C79941"/>
                </a:solidFill>
                <a:latin typeface="Microsoft JhengHei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47404" y="2743200"/>
            <a:ext cx="2619756" cy="914400"/>
          </a:xfrm>
          <a:prstGeom prst="roundRect">
            <a:avLst/>
          </a:prstGeom>
          <a:solidFill>
            <a:srgbClr val="316999"/>
          </a:solidFill>
          <a:ln>
            <a:solidFill>
              <a:srgbClr val="316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 wrap="square"/>
          <a:lstStyle/>
          <a:p>
            <a:pPr algn="ctr"/>
            <a:r>
              <a:rPr sz="1700" b="1">
                <a:solidFill>
                  <a:srgbClr val="FFFFFF"/>
                </a:solidFill>
                <a:latin typeface="Microsoft JhengHei"/>
              </a:rPr>
              <a:t>比較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297680"/>
            <a:ext cx="10149840" cy="77724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2300" b="1">
                <a:solidFill>
                  <a:srgbClr val="9B3A3A"/>
                </a:solidFill>
                <a:latin typeface="Microsoft JhengHei"/>
              </a:rPr>
              <a:t>今天的任務不是回答「有效／沒效」，而是先說：目前資料讓我們看到什麼？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98480" y="6446520"/>
            <a:ext cx="914400" cy="22860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r"/>
            <a:r>
              <a:rPr sz="1000" b="0">
                <a:solidFill>
                  <a:srgbClr val="646E76"/>
                </a:solidFill>
                <a:latin typeface="Microsoft JhengHe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2800" b="1">
                <a:solidFill>
                  <a:srgbClr val="193756"/>
                </a:solidFill>
                <a:latin typeface="Microsoft JhengHei"/>
              </a:rPr>
              <a:t>學生任務｜資料偵探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932688"/>
            <a:ext cx="1143000" cy="45720"/>
          </a:xfrm>
          <a:prstGeom prst="rect">
            <a:avLst/>
          </a:prstGeom>
          <a:solidFill>
            <a:srgbClr val="C799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212080" cy="146304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 wrap="square"/>
          <a:lstStyle/>
          <a:p>
            <a:pPr algn="ctr"/>
            <a:r>
              <a:rPr sz="2000" b="1">
                <a:solidFill>
                  <a:srgbClr val="193756"/>
                </a:solidFill>
                <a:latin typeface="Microsoft JhengHei"/>
              </a:rPr>
              <a:t>任務 1
找出最高與最低消費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1371600"/>
            <a:ext cx="5212080" cy="146304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 wrap="square"/>
          <a:lstStyle/>
          <a:p>
            <a:pPr algn="ctr"/>
            <a:r>
              <a:rPr sz="2000" b="1">
                <a:solidFill>
                  <a:srgbClr val="193756"/>
                </a:solidFill>
                <a:latin typeface="Microsoft JhengHei"/>
              </a:rPr>
              <a:t>任務 2
比較不同消費類別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337560"/>
            <a:ext cx="5212080" cy="146304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 wrap="square"/>
          <a:lstStyle/>
          <a:p>
            <a:pPr algn="ctr"/>
            <a:r>
              <a:rPr sz="2000" b="1">
                <a:solidFill>
                  <a:srgbClr val="193756"/>
                </a:solidFill>
                <a:latin typeface="Microsoft JhengHei"/>
              </a:rPr>
              <a:t>任務 3
比較有／無使用優惠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3337560"/>
            <a:ext cx="5212080" cy="146304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 wrap="square"/>
          <a:lstStyle/>
          <a:p>
            <a:pPr algn="ctr"/>
            <a:r>
              <a:rPr sz="2000" b="1">
                <a:solidFill>
                  <a:srgbClr val="193756"/>
                </a:solidFill>
                <a:latin typeface="Microsoft JhengHei"/>
              </a:rPr>
              <a:t>任務 4
用一句話描述資料現象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5440680"/>
            <a:ext cx="10149840" cy="50292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2000" b="1">
                <a:solidFill>
                  <a:srgbClr val="9B3A3A"/>
                </a:solidFill>
                <a:latin typeface="Microsoft JhengHei"/>
              </a:rPr>
              <a:t>規則：先寫「我從資料看到……」，暫時不要寫「因為……所以……」。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0" y="6446520"/>
            <a:ext cx="914400" cy="22860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r"/>
            <a:r>
              <a:rPr sz="1000" b="0">
                <a:solidFill>
                  <a:srgbClr val="646E76"/>
                </a:solidFill>
                <a:latin typeface="Microsoft JhengHei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2800" b="1">
                <a:solidFill>
                  <a:srgbClr val="193756"/>
                </a:solidFill>
                <a:latin typeface="Microsoft JhengHei"/>
              </a:rPr>
              <a:t>觀察（Observation）與解釋（Interpretation）要分開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932688"/>
            <a:ext cx="1143000" cy="45720"/>
          </a:xfrm>
          <a:prstGeom prst="rect">
            <a:avLst/>
          </a:prstGeom>
          <a:solidFill>
            <a:srgbClr val="C799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2960" y="1417320"/>
            <a:ext cx="5074920" cy="320040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 wrap="square"/>
          <a:lstStyle/>
          <a:p>
            <a:pPr algn="ctr"/>
            <a:r>
              <a:rPr sz="2200" b="1">
                <a:solidFill>
                  <a:srgbClr val="2D785A"/>
                </a:solidFill>
                <a:latin typeface="Microsoft JhengHei"/>
              </a:rPr>
              <a:t>觀察
資料直接呈現什麼？
「使用優惠者的消費金額較高。」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417320"/>
            <a:ext cx="5074920" cy="320040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 wrap="square"/>
          <a:lstStyle/>
          <a:p>
            <a:pPr algn="ctr"/>
            <a:r>
              <a:rPr sz="2200" b="1">
                <a:solidFill>
                  <a:srgbClr val="193756"/>
                </a:solidFill>
                <a:latin typeface="Microsoft JhengHei"/>
              </a:rPr>
              <a:t>解釋
為什麼會這樣？
「可能是優惠刺激消費。」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5166360"/>
            <a:ext cx="9966960" cy="50292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2100" b="1">
                <a:solidFill>
                  <a:srgbClr val="9B3A3A"/>
                </a:solidFill>
                <a:latin typeface="Microsoft JhengHei"/>
              </a:rPr>
              <a:t>描述在前，解釋在後；解釋還需要更多證據。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6446520"/>
            <a:ext cx="914400" cy="22860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r"/>
            <a:r>
              <a:rPr sz="1000" b="0">
                <a:solidFill>
                  <a:srgbClr val="646E76"/>
                </a:solidFill>
                <a:latin typeface="Microsoft JhengHei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2800" b="1">
                <a:solidFill>
                  <a:srgbClr val="193756"/>
                </a:solidFill>
                <a:latin typeface="Microsoft JhengHei"/>
              </a:rPr>
              <a:t>Week 3 的 AI：資料探索助手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932688"/>
            <a:ext cx="1143000" cy="45720"/>
          </a:xfrm>
          <a:prstGeom prst="rect">
            <a:avLst/>
          </a:prstGeom>
          <a:solidFill>
            <a:srgbClr val="C799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" y="1234440"/>
            <a:ext cx="10835640" cy="246888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 wrap="square"/>
          <a:lstStyle/>
          <a:p>
            <a:pPr algn="l"/>
            <a:r>
              <a:rPr sz="1700" b="0">
                <a:solidFill>
                  <a:srgbClr val="232A30"/>
                </a:solidFill>
                <a:latin typeface="Microsoft JhengHei"/>
              </a:rPr>
              <a:t>提示語範例
「我是金融管理系一年級學生，正在學習探索式資料分析。手上的資料包含年齡、消費類別、消費金額、支付方式與是否使用優惠。請提出 5 個可以從這份資料進行探索的問題。請只提出可以由這些欄位回答的問題，不要自行加入資料中不存在的變數。」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251960"/>
            <a:ext cx="10332720" cy="73152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2300" b="1">
                <a:solidFill>
                  <a:srgbClr val="193756"/>
                </a:solidFill>
                <a:latin typeface="Microsoft JhengHei"/>
              </a:rPr>
              <a:t>AI 的工作：幫我們想到「可以問什麼」。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6446520"/>
            <a:ext cx="914400" cy="22860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r"/>
            <a:r>
              <a:rPr sz="1000" b="0">
                <a:solidFill>
                  <a:srgbClr val="646E76"/>
                </a:solidFill>
                <a:latin typeface="Microsoft JhengHei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2800" b="1">
                <a:solidFill>
                  <a:srgbClr val="193756"/>
                </a:solidFill>
                <a:latin typeface="Microsoft JhengHei"/>
              </a:rPr>
              <a:t>AI 提的問題，不是每一題都能回答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932688"/>
            <a:ext cx="1143000" cy="45720"/>
          </a:xfrm>
          <a:prstGeom prst="rect">
            <a:avLst/>
          </a:prstGeom>
          <a:solidFill>
            <a:srgbClr val="C799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77240" y="1325880"/>
          <a:ext cx="10652759" cy="4251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98079"/>
                <a:gridCol w="3154680"/>
              </a:tblGrid>
              <a:tr h="850392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Microsoft JhengHei"/>
                        </a:rPr>
                        <a:t>AI 提出的問題</a:t>
                      </a:r>
                    </a:p>
                  </a:txBody>
                  <a:tcPr anchor="ctr">
                    <a:solidFill>
                      <a:srgbClr val="19375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Microsoft JhengHei"/>
                        </a:rPr>
                        <a:t>判斷</a:t>
                      </a:r>
                    </a:p>
                  </a:txBody>
                  <a:tcPr anchor="ctr">
                    <a:solidFill>
                      <a:srgbClr val="193756"/>
                    </a:solidFill>
                  </a:tcPr>
                </a:tc>
              </a:tr>
              <a:tr h="850392"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32A30"/>
                          </a:solidFill>
                          <a:latin typeface="Microsoft JhengHei"/>
                        </a:rPr>
                        <a:t>不同消費類別的金額有何差異？</a:t>
                      </a:r>
                    </a:p>
                  </a:txBody>
                  <a:tcPr anchor="ctr">
                    <a:solidFill>
                      <a:srgbClr val="EF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32A30"/>
                          </a:solidFill>
                          <a:latin typeface="Microsoft JhengHei"/>
                        </a:rPr>
                        <a:t>✓ 現有資料可探索</a:t>
                      </a:r>
                    </a:p>
                  </a:txBody>
                  <a:tcPr anchor="ctr">
                    <a:solidFill>
                      <a:srgbClr val="EFF5F9"/>
                    </a:solidFill>
                  </a:tcPr>
                </a:tc>
              </a:tr>
              <a:tr h="850392"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32A30"/>
                          </a:solidFill>
                          <a:latin typeface="Microsoft JhengHei"/>
                        </a:rPr>
                        <a:t>收入高低是否影響行動支付？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32A30"/>
                          </a:solidFill>
                          <a:latin typeface="Microsoft JhengHei"/>
                        </a:rPr>
                        <a:t>✗ 沒有收入欄位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850392"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32A30"/>
                          </a:solidFill>
                          <a:latin typeface="Microsoft JhengHei"/>
                        </a:rPr>
                        <a:t>有優惠者是否較常使用行動支付？</a:t>
                      </a:r>
                    </a:p>
                  </a:txBody>
                  <a:tcPr anchor="ctr">
                    <a:solidFill>
                      <a:srgbClr val="EF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32A30"/>
                          </a:solidFill>
                          <a:latin typeface="Microsoft JhengHei"/>
                        </a:rPr>
                        <a:t>✓ 可從現有欄位探索</a:t>
                      </a:r>
                    </a:p>
                  </a:txBody>
                  <a:tcPr anchor="ctr">
                    <a:solidFill>
                      <a:srgbClr val="EFF5F9"/>
                    </a:solidFill>
                  </a:tcPr>
                </a:tc>
              </a:tr>
              <a:tr h="850392"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32A30"/>
                          </a:solidFill>
                          <a:latin typeface="Microsoft JhengHei"/>
                        </a:rPr>
                        <a:t>為什麼某客戶偏好行動支付？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32A30"/>
                          </a:solidFill>
                          <a:latin typeface="Microsoft JhengHei"/>
                        </a:rPr>
                        <a:t>？可能需要更多資料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097280" y="5760720"/>
            <a:ext cx="9966960" cy="41148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2000" b="1">
                <a:solidFill>
                  <a:srgbClr val="9B3A3A"/>
                </a:solidFill>
                <a:latin typeface="Microsoft JhengHei"/>
              </a:rPr>
              <a:t>先問：資料有沒有能力回答這個問題？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6446520"/>
            <a:ext cx="914400" cy="22860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r"/>
            <a:r>
              <a:rPr sz="1000" b="0">
                <a:solidFill>
                  <a:srgbClr val="646E76"/>
                </a:solidFill>
                <a:latin typeface="Microsoft JhengHei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2800" b="1">
                <a:solidFill>
                  <a:srgbClr val="193756"/>
                </a:solidFill>
                <a:latin typeface="Microsoft JhengHei"/>
              </a:rPr>
              <a:t>故意讓 AI 過度解釋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932688"/>
            <a:ext cx="1143000" cy="45720"/>
          </a:xfrm>
          <a:prstGeom prst="rect">
            <a:avLst/>
          </a:prstGeom>
          <a:solidFill>
            <a:srgbClr val="C799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1371600"/>
            <a:ext cx="10332720" cy="73152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 wrap="square"/>
          <a:lstStyle/>
          <a:p>
            <a:pPr algn="ctr"/>
            <a:r>
              <a:rPr sz="2500" b="1">
                <a:solidFill>
                  <a:srgbClr val="193756"/>
                </a:solidFill>
                <a:latin typeface="Microsoft JhengHei"/>
              </a:rPr>
              <a:t>「使用優惠的顧客消費較高，請解釋原因。」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560320"/>
            <a:ext cx="10332720" cy="141732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2200" b="1">
                <a:solidFill>
                  <a:srgbClr val="9B3A3A"/>
                </a:solidFill>
                <a:latin typeface="Microsoft JhengHei"/>
              </a:rPr>
              <a:t>AI 可能回答：優惠刺激消費、價格誘因、行銷效果、消費心理……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434840"/>
            <a:ext cx="10332720" cy="68580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2600" b="1">
                <a:solidFill>
                  <a:srgbClr val="232A30"/>
                </a:solidFill>
                <a:latin typeface="Microsoft JhengHei"/>
              </a:rPr>
              <a:t>問題是：這些「原因」真的在資料裡嗎？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5394960"/>
            <a:ext cx="10058400" cy="50292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2000" b="1">
                <a:solidFill>
                  <a:srgbClr val="193756"/>
                </a:solidFill>
                <a:latin typeface="Microsoft JhengHei"/>
              </a:rPr>
              <a:t>AI 可以提出可能性，但不能把可能性說成資料證明的事實。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0" y="6446520"/>
            <a:ext cx="914400" cy="22860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r"/>
            <a:r>
              <a:rPr sz="1000" b="0">
                <a:solidFill>
                  <a:srgbClr val="646E76"/>
                </a:solidFill>
                <a:latin typeface="Microsoft JhengHei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2800" b="1">
                <a:solidFill>
                  <a:srgbClr val="193756"/>
                </a:solidFill>
                <a:latin typeface="Microsoft JhengHei"/>
              </a:rPr>
              <a:t>AI 三問｜第三週繼續使用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932688"/>
            <a:ext cx="1143000" cy="45720"/>
          </a:xfrm>
          <a:prstGeom prst="rect">
            <a:avLst/>
          </a:prstGeom>
          <a:solidFill>
            <a:srgbClr val="C799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05840" y="1417320"/>
            <a:ext cx="10149840" cy="91440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 wrap="square"/>
          <a:lstStyle/>
          <a:p>
            <a:pPr algn="ctr"/>
            <a:r>
              <a:rPr sz="2400" b="1">
                <a:solidFill>
                  <a:srgbClr val="193756"/>
                </a:solidFill>
                <a:latin typeface="Microsoft JhengHei"/>
              </a:rPr>
              <a:t>① AI 說了什麼？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05840" y="2743200"/>
            <a:ext cx="10149840" cy="91440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 wrap="square"/>
          <a:lstStyle/>
          <a:p>
            <a:pPr algn="ctr"/>
            <a:r>
              <a:rPr sz="2400" b="1">
                <a:solidFill>
                  <a:srgbClr val="193756"/>
                </a:solidFill>
                <a:latin typeface="Microsoft JhengHei"/>
              </a:rPr>
              <a:t>② 哪些有資料支持？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5840" y="4069080"/>
            <a:ext cx="10149840" cy="91440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 wrap="square"/>
          <a:lstStyle/>
          <a:p>
            <a:pPr algn="ctr"/>
            <a:r>
              <a:rPr sz="2400" b="1">
                <a:solidFill>
                  <a:srgbClr val="193756"/>
                </a:solidFill>
                <a:latin typeface="Microsoft JhengHei"/>
              </a:rPr>
              <a:t>③ 哪些需要人查核？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5486400"/>
            <a:ext cx="9966960" cy="45720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2000" b="1">
                <a:solidFill>
                  <a:srgbClr val="9B3A3A"/>
                </a:solidFill>
                <a:latin typeface="Microsoft JhengHei"/>
              </a:rPr>
              <a:t>讓「查核 AI」逐漸變成固定習慣。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0" y="6446520"/>
            <a:ext cx="914400" cy="22860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r"/>
            <a:r>
              <a:rPr sz="1000" b="0">
                <a:solidFill>
                  <a:srgbClr val="646E76"/>
                </a:solidFill>
                <a:latin typeface="Microsoft JhengHei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2800" b="1">
                <a:solidFill>
                  <a:srgbClr val="193756"/>
                </a:solidFill>
                <a:latin typeface="Microsoft JhengHei"/>
              </a:rPr>
              <a:t>本週最小學習產出｜我的第一份資料探索紀錄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932688"/>
            <a:ext cx="1143000" cy="45720"/>
          </a:xfrm>
          <a:prstGeom prst="rect">
            <a:avLst/>
          </a:prstGeom>
          <a:solidFill>
            <a:srgbClr val="C799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051560" y="1234440"/>
          <a:ext cx="1005840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63440"/>
                <a:gridCol w="5394960"/>
              </a:tblGrid>
              <a:tr h="718457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Microsoft JhengHei"/>
                        </a:rPr>
                        <a:t>探索問題</a:t>
                      </a:r>
                    </a:p>
                  </a:txBody>
                  <a:tcPr anchor="ctr">
                    <a:solidFill>
                      <a:srgbClr val="19375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Microsoft JhengHei"/>
                        </a:rPr>
                        <a:t>我的發現</a:t>
                      </a:r>
                    </a:p>
                  </a:txBody>
                  <a:tcPr anchor="ctr">
                    <a:solidFill>
                      <a:srgbClr val="193756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32A30"/>
                          </a:solidFill>
                          <a:latin typeface="Microsoft JhengHei"/>
                        </a:rPr>
                        <a:t>哪筆消費最高／最低？</a:t>
                      </a:r>
                    </a:p>
                  </a:txBody>
                  <a:tcPr anchor="ctr">
                    <a:solidFill>
                      <a:srgbClr val="EF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anchor="ctr">
                    <a:solidFill>
                      <a:srgbClr val="EFF5F9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32A30"/>
                          </a:solidFill>
                          <a:latin typeface="Microsoft JhengHei"/>
                        </a:rPr>
                        <a:t>哪類消費最多？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32A30"/>
                          </a:solidFill>
                          <a:latin typeface="Microsoft JhengHei"/>
                        </a:rPr>
                        <a:t>有無優惠看起來有何差異？</a:t>
                      </a:r>
                    </a:p>
                  </a:txBody>
                  <a:tcPr anchor="ctr">
                    <a:solidFill>
                      <a:srgbClr val="EF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anchor="ctr">
                    <a:solidFill>
                      <a:srgbClr val="EFF5F9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32A30"/>
                          </a:solidFill>
                          <a:latin typeface="Microsoft JhengHei"/>
                        </a:rPr>
                        <a:t>一個值得注意的現象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32A30"/>
                          </a:solidFill>
                          <a:latin typeface="Microsoft JhengHei"/>
                        </a:rPr>
                        <a:t>我還不能確定的是</a:t>
                      </a:r>
                    </a:p>
                  </a:txBody>
                  <a:tcPr anchor="ctr">
                    <a:solidFill>
                      <a:srgbClr val="EF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anchor="ctr">
                    <a:solidFill>
                      <a:srgbClr val="EFF5F9"/>
                    </a:solidFill>
                  </a:tcPr>
                </a:tc>
              </a:tr>
              <a:tr h="718458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32A30"/>
                          </a:solidFill>
                          <a:latin typeface="Microsoft JhengHei"/>
                        </a:rPr>
                        <a:t>還需要什麼資料？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0698480" y="6446520"/>
            <a:ext cx="914400" cy="22860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r"/>
            <a:r>
              <a:rPr sz="1000" b="0">
                <a:solidFill>
                  <a:srgbClr val="646E76"/>
                </a:solidFill>
                <a:latin typeface="Microsoft JhengHei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2800" b="1">
                <a:solidFill>
                  <a:srgbClr val="193756"/>
                </a:solidFill>
                <a:latin typeface="Microsoft JhengHei"/>
              </a:rPr>
              <a:t>快速檢核｜探索不是急著下結論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932688"/>
            <a:ext cx="1143000" cy="45720"/>
          </a:xfrm>
          <a:prstGeom prst="rect">
            <a:avLst/>
          </a:prstGeom>
          <a:solidFill>
            <a:srgbClr val="C799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1188720"/>
            <a:ext cx="5440680" cy="182880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 wrap="square"/>
          <a:lstStyle/>
          <a:p>
            <a:pPr algn="l"/>
            <a:r>
              <a:rPr sz="1500" b="1">
                <a:solidFill>
                  <a:srgbClr val="193756"/>
                </a:solidFill>
                <a:latin typeface="Microsoft JhengHei"/>
              </a:rPr>
              <a:t>Q1｜EDA 的主要目的：
A 證明原本想法
B 先了解資料特徵與可能模式
C 讓 AI 自動下結論
D 一定建立預測模型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72200" y="1188720"/>
            <a:ext cx="5349240" cy="182880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 wrap="square"/>
          <a:lstStyle/>
          <a:p>
            <a:pPr algn="l"/>
            <a:r>
              <a:rPr sz="1600" b="1">
                <a:solidFill>
                  <a:srgbClr val="193756"/>
                </a:solidFill>
                <a:latin typeface="Microsoft JhengHei"/>
              </a:rPr>
              <a:t>Q2｜只查看「行動支付」交易，最接近：
A 排序　B 篩選
C 刪除　D 預測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3337560"/>
            <a:ext cx="5440680" cy="182880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 wrap="square"/>
          <a:lstStyle/>
          <a:p>
            <a:pPr algn="l"/>
            <a:r>
              <a:rPr sz="1600" b="1">
                <a:solidFill>
                  <a:srgbClr val="193756"/>
                </a:solidFill>
                <a:latin typeface="Microsoft JhengHei"/>
              </a:rPr>
              <a:t>Q3｜使用優惠者消費較高，因此可確定優惠造成消費增加。
○ 正確　○ 錯誤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3337560"/>
            <a:ext cx="5349240" cy="182880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 wrap="square"/>
          <a:lstStyle/>
          <a:p>
            <a:pPr algn="l"/>
            <a:r>
              <a:rPr sz="1500" b="1">
                <a:solidFill>
                  <a:srgbClr val="193756"/>
                </a:solidFill>
                <a:latin typeface="Microsoft JhengHei"/>
              </a:rPr>
              <a:t>Q4｜較適合 EDA 的結論：
A 優惠一定有效
B 年輕人天生愛行動支付
C 目前資料中使用優惠者消費較高
D AI 說有效所以有效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0" y="6446520"/>
            <a:ext cx="914400" cy="22860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r"/>
            <a:r>
              <a:rPr sz="1000" b="0">
                <a:solidFill>
                  <a:srgbClr val="646E76"/>
                </a:solidFill>
                <a:latin typeface="Microsoft JhengHei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2800" b="1">
                <a:solidFill>
                  <a:srgbClr val="193756"/>
                </a:solidFill>
                <a:latin typeface="Microsoft JhengHei"/>
              </a:rPr>
              <a:t>AI 快速檢核｜資料沒有的欄位，不能硬回答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932688"/>
            <a:ext cx="1143000" cy="45720"/>
          </a:xfrm>
          <a:prstGeom prst="rect">
            <a:avLst/>
          </a:prstGeom>
          <a:solidFill>
            <a:srgbClr val="C799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1417320"/>
            <a:ext cx="10332720" cy="91440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 wrap="square"/>
          <a:lstStyle/>
          <a:p>
            <a:pPr algn="ctr"/>
            <a:r>
              <a:rPr sz="2700" b="1">
                <a:solidFill>
                  <a:srgbClr val="9B3A3A"/>
                </a:solidFill>
                <a:latin typeface="Microsoft JhengHei"/>
              </a:rPr>
              <a:t>AI 建議：「分析收入高低是否影響行動支付使用。」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10332720" cy="73152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2500" b="1">
                <a:solidFill>
                  <a:srgbClr val="232A30"/>
                </a:solidFill>
                <a:latin typeface="Microsoft JhengHei"/>
              </a:rPr>
              <a:t>但資料裡沒有「收入」欄位。怎麼辦？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5840" y="4206240"/>
            <a:ext cx="10149840" cy="105156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 wrap="square"/>
          <a:lstStyle/>
          <a:p>
            <a:pPr algn="ctr"/>
            <a:r>
              <a:rPr sz="2500" b="1">
                <a:solidFill>
                  <a:srgbClr val="193756"/>
                </a:solidFill>
                <a:latin typeface="Microsoft JhengHei"/>
              </a:rPr>
              <a:t>現有資料無法直接回答。需要額外資料，不能叫 AI 猜。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6446520"/>
            <a:ext cx="914400" cy="22860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r"/>
            <a:r>
              <a:rPr sz="1000" b="0">
                <a:solidFill>
                  <a:srgbClr val="646E76"/>
                </a:solidFill>
                <a:latin typeface="Microsoft JhengHei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2800" b="1">
                <a:solidFill>
                  <a:srgbClr val="193756"/>
                </a:solidFill>
                <a:latin typeface="Microsoft JhengHei"/>
              </a:rPr>
              <a:t>Week 3 收束｜先探索，再解釋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932688"/>
            <a:ext cx="1143000" cy="45720"/>
          </a:xfrm>
          <a:prstGeom prst="rect">
            <a:avLst/>
          </a:prstGeom>
          <a:solidFill>
            <a:srgbClr val="C799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94360" y="1554480"/>
            <a:ext cx="2062886" cy="914400"/>
          </a:xfrm>
          <a:prstGeom prst="roundRect">
            <a:avLst/>
          </a:prstGeom>
          <a:solidFill>
            <a:srgbClr val="316999"/>
          </a:solidFill>
          <a:ln>
            <a:solidFill>
              <a:srgbClr val="316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 wrap="square"/>
          <a:lstStyle/>
          <a:p>
            <a:pPr algn="ctr"/>
            <a:r>
              <a:rPr sz="1700" b="1">
                <a:solidFill>
                  <a:srgbClr val="FFFFFF"/>
                </a:solidFill>
                <a:latin typeface="Microsoft JhengHei"/>
              </a:rPr>
              <a:t>提出問題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57246" y="1828800"/>
            <a:ext cx="164592" cy="32004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800" b="1">
                <a:solidFill>
                  <a:srgbClr val="C79941"/>
                </a:solidFill>
                <a:latin typeface="Microsoft JhengHei"/>
              </a:rPr>
              <a:t>→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821838" y="1554480"/>
            <a:ext cx="2062886" cy="914400"/>
          </a:xfrm>
          <a:prstGeom prst="roundRect">
            <a:avLst/>
          </a:prstGeom>
          <a:solidFill>
            <a:srgbClr val="316999"/>
          </a:solidFill>
          <a:ln>
            <a:solidFill>
              <a:srgbClr val="316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 wrap="square"/>
          <a:lstStyle/>
          <a:p>
            <a:pPr algn="ctr"/>
            <a:r>
              <a:rPr sz="1700" b="1">
                <a:solidFill>
                  <a:srgbClr val="FFFFFF"/>
                </a:solidFill>
                <a:latin typeface="Microsoft JhengHei"/>
              </a:rPr>
              <a:t>排序／篩選
分類／比較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84724" y="1828800"/>
            <a:ext cx="164592" cy="32004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800" b="1">
                <a:solidFill>
                  <a:srgbClr val="C79941"/>
                </a:solidFill>
                <a:latin typeface="Microsoft JhengHei"/>
              </a:rP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49316" y="1554480"/>
            <a:ext cx="2062886" cy="914400"/>
          </a:xfrm>
          <a:prstGeom prst="roundRect">
            <a:avLst/>
          </a:prstGeom>
          <a:solidFill>
            <a:srgbClr val="316999"/>
          </a:solidFill>
          <a:ln>
            <a:solidFill>
              <a:srgbClr val="316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 wrap="square"/>
          <a:lstStyle/>
          <a:p>
            <a:pPr algn="ctr"/>
            <a:r>
              <a:rPr sz="1700" b="1">
                <a:solidFill>
                  <a:srgbClr val="FFFFFF"/>
                </a:solidFill>
                <a:latin typeface="Microsoft JhengHei"/>
              </a:rPr>
              <a:t>看到現象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12203" y="1828800"/>
            <a:ext cx="164592" cy="32004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800" b="1">
                <a:solidFill>
                  <a:srgbClr val="C79941"/>
                </a:solidFill>
                <a:latin typeface="Microsoft JhengHei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76795" y="1554480"/>
            <a:ext cx="2062886" cy="914400"/>
          </a:xfrm>
          <a:prstGeom prst="roundRect">
            <a:avLst/>
          </a:prstGeom>
          <a:solidFill>
            <a:srgbClr val="316999"/>
          </a:solidFill>
          <a:ln>
            <a:solidFill>
              <a:srgbClr val="316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 wrap="square"/>
          <a:lstStyle/>
          <a:p>
            <a:pPr algn="ctr"/>
            <a:r>
              <a:rPr sz="1700" b="1">
                <a:solidFill>
                  <a:srgbClr val="FFFFFF"/>
                </a:solidFill>
                <a:latin typeface="Microsoft JhengHei"/>
              </a:rPr>
              <a:t>描述現象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39681" y="1828800"/>
            <a:ext cx="164592" cy="32004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800" b="1">
                <a:solidFill>
                  <a:srgbClr val="C79941"/>
                </a:solidFill>
                <a:latin typeface="Microsoft JhengHei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504273" y="1554480"/>
            <a:ext cx="2062886" cy="914400"/>
          </a:xfrm>
          <a:prstGeom prst="roundRect">
            <a:avLst/>
          </a:prstGeom>
          <a:solidFill>
            <a:srgbClr val="316999"/>
          </a:solidFill>
          <a:ln>
            <a:solidFill>
              <a:srgbClr val="316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 wrap="square"/>
          <a:lstStyle/>
          <a:p>
            <a:pPr algn="ctr"/>
            <a:r>
              <a:rPr sz="1700" b="1">
                <a:solidFill>
                  <a:srgbClr val="FFFFFF"/>
                </a:solidFill>
                <a:latin typeface="Microsoft JhengHei"/>
              </a:rPr>
              <a:t>提出可能解釋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3611880"/>
            <a:ext cx="10332720" cy="77724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 wrap="square"/>
          <a:lstStyle/>
          <a:p>
            <a:pPr algn="ctr"/>
            <a:r>
              <a:rPr sz="2600" b="1">
                <a:solidFill>
                  <a:srgbClr val="193756"/>
                </a:solidFill>
                <a:latin typeface="Microsoft JhengHei"/>
              </a:rPr>
              <a:t>描述在前，解釋在後；解釋需要證據。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800600"/>
            <a:ext cx="10332720" cy="68580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800" b="1">
                <a:solidFill>
                  <a:srgbClr val="9B3A3A"/>
                </a:solidFill>
                <a:latin typeface="Microsoft JhengHei"/>
              </a:rPr>
              <a:t>Week 1：精確 ≠ 可靠　｜　Week 2：合理 ≠ 有根據　｜　Week 3：看到差異 ≠ 找到原因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98480" y="6446520"/>
            <a:ext cx="914400" cy="22860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r"/>
            <a:r>
              <a:rPr sz="1000" b="0">
                <a:solidFill>
                  <a:srgbClr val="646E76"/>
                </a:solidFill>
                <a:latin typeface="Microsoft JhengHei"/>
              </a:rPr>
              <a:t>27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