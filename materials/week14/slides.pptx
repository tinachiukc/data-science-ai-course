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37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960120"/>
            <a:ext cx="1078992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300" b="0">
                <a:solidFill>
                  <a:srgbClr val="FFFFFF"/>
                </a:solidFill>
                <a:latin typeface="Microsoft JhengHei"/>
              </a:rPr>
              <a:t>資料科學與大數據分析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64208"/>
            <a:ext cx="10789920" cy="9144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icrosoft JhengHei"/>
              </a:rPr>
              <a:t>Week 14｜AI 說得有根據嗎？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743200"/>
            <a:ext cx="1078992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700" b="0">
                <a:solidFill>
                  <a:srgbClr val="DEE8F0"/>
                </a:solidFill>
                <a:latin typeface="Microsoft JhengHei"/>
              </a:rPr>
              <a:t>從來源到可信度查核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4160520"/>
            <a:ext cx="1078992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200" b="1">
                <a:solidFill>
                  <a:srgbClr val="193756"/>
                </a:solidFill>
                <a:latin typeface="Microsoft JhengHei"/>
              </a:rPr>
              <a:t>AI 給我的資料、數字與說法，我怎麼知道它真的有根據？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M5 第二步｜從管理 AI 工作，到管理 AI 的證據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280160"/>
          <a:ext cx="1065276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383280"/>
                <a:gridCol w="5257800"/>
              </a:tblGrid>
              <a:tr h="96012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週次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核心句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學生責任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Week 13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AI 完成 ≠ 我完成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管理分工、Prompt、Checkpoint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Week 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有來源 ≠ 有證據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追到來源、查 Claim、要求修正／撤回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Week 15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下一步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管理對外表達與溝通邊界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5440680"/>
            <a:ext cx="10332720" cy="50292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900" b="1">
                <a:solidFill>
                  <a:srgbClr val="9B3A3A"/>
                </a:solidFill>
                <a:latin typeface="Microsoft JhengHei"/>
              </a:rPr>
              <a:t>AI 可以幫忙找資訊，但證據品質仍要由人管理。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開場｜這個 AI 回答看起來非常專業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188720"/>
            <a:ext cx="10652760" cy="214884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400" b="1">
                <a:solidFill>
                  <a:srgbClr val="193756"/>
                </a:solidFill>
                <a:latin typeface="Microsoft JhengHei"/>
              </a:rPr>
              <a:t>「根據金融監督管理委員會 2025 年金融科技發展報告，台灣行動支付使用率已達 78.6%，其中 18～29 歲族群使用率超過 90%。」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794760"/>
            <a:ext cx="2011680" cy="77724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232A30"/>
                </a:solidFill>
                <a:latin typeface="Microsoft JhengHei"/>
              </a:rPr>
              <a:t>有機關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88920" y="3794760"/>
            <a:ext cx="2011680" cy="77724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232A30"/>
                </a:solidFill>
                <a:latin typeface="Microsoft JhengHei"/>
              </a:rPr>
              <a:t>有年份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74920" y="3794760"/>
            <a:ext cx="2011680" cy="77724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232A30"/>
                </a:solidFill>
                <a:latin typeface="Microsoft JhengHei"/>
              </a:rPr>
              <a:t>有報告名稱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60920" y="3794760"/>
            <a:ext cx="2011680" cy="77724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232A30"/>
                </a:solidFill>
                <a:latin typeface="Microsoft JhengHei"/>
              </a:rPr>
              <a:t>有精確百分比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46920" y="3794760"/>
            <a:ext cx="2011680" cy="77724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232A30"/>
                </a:solidFill>
                <a:latin typeface="Microsoft JhengHei"/>
              </a:rPr>
              <a:t>有年齡層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074920"/>
            <a:ext cx="10332720" cy="6858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300" b="1">
                <a:solidFill>
                  <a:srgbClr val="9B3A3A"/>
                </a:solidFill>
                <a:latin typeface="Microsoft JhengHei"/>
              </a:rPr>
              <a:t>你相信嗎？第一個動作不是「相信／不相信」，而是——去查。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Week 14 核心句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417320"/>
            <a:ext cx="10332720" cy="12801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3900" b="1">
                <a:solidFill>
                  <a:srgbClr val="9B3A3A"/>
                </a:solidFill>
                <a:latin typeface="Microsoft JhengHei"/>
              </a:rPr>
              <a:t>有來源 ≠ 有證據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46120"/>
            <a:ext cx="10332720" cy="86868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700" b="1">
                <a:solidFill>
                  <a:srgbClr val="193756"/>
                </a:solidFill>
                <a:latin typeface="Microsoft JhengHei"/>
              </a:rPr>
              <a:t>來源必須真的存在，而且真的支持這個說法。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09160"/>
            <a:ext cx="10332720" cy="5486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000" b="1">
                <a:solidFill>
                  <a:srgbClr val="2D785A"/>
                </a:solidFill>
                <a:latin typeface="Microsoft JhengHei"/>
              </a:rPr>
              <a:t>「AI 會幻覺」不是結論；「我去查證」才是行動。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核心概念 1｜來源（Source）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234440"/>
            <a:ext cx="10561320" cy="8229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700" b="1">
                <a:solidFill>
                  <a:srgbClr val="193756"/>
                </a:solidFill>
                <a:latin typeface="Microsoft JhengHei"/>
              </a:rPr>
              <a:t>來源回答的是：「這個資訊從哪裡來？」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2514600"/>
            <a:ext cx="2514600" cy="86868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232A30"/>
                </a:solidFill>
                <a:latin typeface="Microsoft JhengHei"/>
              </a:rPr>
              <a:t>政府資料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2514600"/>
            <a:ext cx="2514600" cy="86868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232A30"/>
                </a:solidFill>
                <a:latin typeface="Microsoft JhengHei"/>
              </a:rPr>
              <a:t>金融公開資訊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14600"/>
            <a:ext cx="2514600" cy="86868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232A30"/>
                </a:solidFill>
                <a:latin typeface="Microsoft JhengHei"/>
              </a:rPr>
              <a:t>交易所資料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98280" y="2514600"/>
            <a:ext cx="2514600" cy="86868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232A30"/>
                </a:solidFill>
                <a:latin typeface="Microsoft JhengHei"/>
              </a:rPr>
              <a:t>公司財報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3657600"/>
            <a:ext cx="2514600" cy="86868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232A30"/>
                </a:solidFill>
                <a:latin typeface="Microsoft JhengHei"/>
              </a:rPr>
              <a:t>學術研究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3657600"/>
            <a:ext cx="2514600" cy="86868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232A30"/>
                </a:solidFill>
                <a:latin typeface="Microsoft JhengHei"/>
              </a:rPr>
              <a:t>新聞／分析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3657600"/>
            <a:ext cx="2514600" cy="86868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232A30"/>
                </a:solidFill>
                <a:latin typeface="Microsoft JhengHei"/>
              </a:rPr>
              <a:t>社群貼文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98280" y="3657600"/>
            <a:ext cx="2514600" cy="86868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232A30"/>
                </a:solidFill>
                <a:latin typeface="Microsoft JhengHei"/>
              </a:rPr>
              <a:t>AI 生成文字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166360"/>
            <a:ext cx="1033272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700" b="1">
                <a:solidFill>
                  <a:srgbClr val="2D785A"/>
                </a:solidFill>
                <a:latin typeface="Microsoft JhengHei"/>
              </a:rPr>
              <a:t>不同來源的用途與可信程度，要和目前問題一起判斷。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來源沒有永遠的冠軍｜要看問題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234440"/>
          <a:ext cx="10972800" cy="4251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931920"/>
                <a:gridCol w="3840480"/>
              </a:tblGrid>
              <a:tr h="10629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問題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較適合優先查的來源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其他來源的角色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</a:tr>
              <a:tr h="106299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某 ETF 規模是多少？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交易所／發行公司／官方公開資訊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新聞、AI 可幫忙找方向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106299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某公司 2025 年營收？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公司財報／官方公開資訊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新聞可協助理解背景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06299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使用者對產品的經驗？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調查／訪談／社群討論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官方資料未必回答使用感受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5669280"/>
            <a:ext cx="10332720" cy="3657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500" b="1">
                <a:solidFill>
                  <a:srgbClr val="9B3A3A"/>
                </a:solidFill>
                <a:latin typeface="Microsoft JhengHei"/>
              </a:rPr>
              <a:t>可信來源不是固定排名，而是「來源與問題是否匹配」。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核心概念 2｜原始來源與第二手來源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25880"/>
            <a:ext cx="5074920" cy="214884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>
                <a:solidFill>
                  <a:srgbClr val="193756"/>
                </a:solidFill>
                <a:latin typeface="Microsoft JhengHei"/>
              </a:rPr>
              <a:t>第一手／原始來源
Primary Source
政府統計、官方公告、公司財報、交易所資料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325880"/>
            <a:ext cx="5074920" cy="214884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>
                <a:solidFill>
                  <a:srgbClr val="232A30"/>
                </a:solidFill>
                <a:latin typeface="Microsoft JhengHei"/>
              </a:rPr>
              <a:t>第二手來源
Secondary Source
新聞整理、分析文章、部落格、AI 摘要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60520"/>
            <a:ext cx="10332720" cy="8229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700" b="1">
                <a:solidFill>
                  <a:srgbClr val="2D785A"/>
                </a:solidFill>
                <a:latin typeface="Microsoft JhengHei"/>
              </a:rPr>
              <a:t>重要金融數字：最好能一路往原始來源追。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257800"/>
            <a:ext cx="10332720" cy="3657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400" b="1">
                <a:solidFill>
                  <a:srgbClr val="9B3A3A"/>
                </a:solidFill>
                <a:latin typeface="Microsoft JhengHei"/>
              </a:rPr>
              <a:t>第二手來源不是沒用，而是通常不該成為重要數字查核的終點。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核心概念 3｜可追溯性（Traceability）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28600" y="1508760"/>
            <a:ext cx="2103120" cy="11430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193756"/>
                </a:solidFill>
                <a:latin typeface="Microsoft JhengHei"/>
              </a:rPr>
              <a:t>AI 的說法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24328" y="1508760"/>
            <a:ext cx="2103120" cy="11430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193756"/>
                </a:solidFill>
                <a:latin typeface="Microsoft JhengHei"/>
              </a:rPr>
              <a:t>它引用的網頁／報告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0056" y="1508760"/>
            <a:ext cx="2103120" cy="11430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2D785A"/>
                </a:solidFill>
                <a:latin typeface="Microsoft JhengHei"/>
              </a:rPr>
              <a:t>原始來源真的存在？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15783" y="1508760"/>
            <a:ext cx="2103120" cy="11430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2D785A"/>
                </a:solidFill>
                <a:latin typeface="Microsoft JhengHei"/>
              </a:rPr>
              <a:t>真的有這個數字？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811512" y="1508760"/>
            <a:ext cx="2103120" cy="11430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2D785A"/>
                </a:solidFill>
                <a:latin typeface="Microsoft JhengHei"/>
              </a:rPr>
              <a:t>年份／單位／定義一致？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337560"/>
            <a:ext cx="10332720" cy="96012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500" b="1">
                <a:solidFill>
                  <a:srgbClr val="193756"/>
                </a:solidFill>
                <a:latin typeface="Microsoft JhengHei"/>
              </a:rPr>
              <a:t>Traceability：我能不能一路找到這個說法原來的資料？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4754880"/>
            <a:ext cx="10332720" cy="77724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300" b="1">
                <a:solidFill>
                  <a:srgbClr val="9B3A3A"/>
                </a:solidFill>
                <a:latin typeface="Microsoft JhengHei"/>
              </a:rPr>
              <a:t>網址打得開，只完成第一小步；還要確認來源真的支持 Claim。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核心工具｜來源查核五問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4360" y="1280160"/>
            <a:ext cx="3429000" cy="13716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193756"/>
                </a:solidFill>
                <a:latin typeface="Microsoft JhengHei"/>
              </a:rPr>
              <a:t>1｜找得到嗎？
Existence｜來源真的存在？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280160"/>
            <a:ext cx="3429000" cy="13716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193756"/>
                </a:solidFill>
                <a:latin typeface="Microsoft JhengHei"/>
              </a:rPr>
              <a:t>2｜誰說的？
Authority｜誰發布？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83880" y="1280160"/>
            <a:ext cx="3429000" cy="13716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193756"/>
                </a:solidFill>
                <a:latin typeface="Microsoft JhengHei"/>
              </a:rPr>
              <a:t>3｜真的這樣說嗎？
Support｜來源真的支持？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3108960"/>
            <a:ext cx="3429000" cy="13716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193756"/>
                </a:solidFill>
                <a:latin typeface="Microsoft JhengHei"/>
              </a:rPr>
              <a:t>4｜時間與定義對嗎？
Context｜年份、單位、對象、定義一致？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3108960"/>
            <a:ext cx="3429000" cy="13716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193756"/>
                </a:solidFill>
                <a:latin typeface="Microsoft JhengHei"/>
              </a:rPr>
              <a:t>5｜適合回答嗎？
Relevance｜來源與問題匹配？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212080"/>
            <a:ext cx="1033272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700" b="1">
                <a:solidFill>
                  <a:srgbClr val="2D785A"/>
                </a:solidFill>
                <a:latin typeface="Microsoft JhengHei"/>
              </a:rPr>
              <a:t>五問不是為了「挑錯」，而是讓證據可以被追、被看、被確認。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Week 7 → Week 14｜同一條資料素養成長線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5074920" cy="1828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100" b="1">
                <a:solidFill>
                  <a:srgbClr val="193756"/>
                </a:solidFill>
                <a:latin typeface="Microsoft JhengHei"/>
              </a:rPr>
              <a:t>Week 7
資料可能去哪裡找？
政府開放資料／金融公開資訊／公開市場資料…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371600"/>
            <a:ext cx="5074920" cy="1828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200" b="1">
                <a:solidFill>
                  <a:srgbClr val="2D785A"/>
                </a:solidFill>
                <a:latin typeface="Microsoft JhengHei"/>
              </a:rPr>
              <a:t>Week 14
找到之後，怎麼判斷它能不能支持我的說法？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10332720" cy="8229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800" b="1">
                <a:solidFill>
                  <a:srgbClr val="9B3A3A"/>
                </a:solidFill>
                <a:latin typeface="Microsoft JhengHei"/>
              </a:rPr>
              <a:t>從「找到資料」升級成「管理證據品質」。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主要案例｜「台灣信用卡市場正在快速成長」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188720"/>
            <a:ext cx="10652760" cy="1828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100" b="1">
                <a:solidFill>
                  <a:srgbClr val="193756"/>
                </a:solidFill>
                <a:latin typeface="Microsoft JhengHei"/>
              </a:rPr>
              <a:t>AI：「根據金融監督管理委員會資料，2025 年台灣信用卡流通卡數突破 6,000 萬張，較 2024 年成長 15%，顯示信用卡市場正在快速成長。」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11880"/>
            <a:ext cx="10332720" cy="6858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400" b="1">
                <a:solidFill>
                  <a:srgbClr val="9B3A3A"/>
                </a:solidFill>
                <a:latin typeface="Microsoft JhengHei"/>
              </a:rPr>
              <a:t>先不要判斷對錯。第一步：把這句話拆成 Claim。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617720"/>
            <a:ext cx="10332720" cy="73152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100" b="1">
                <a:solidFill>
                  <a:srgbClr val="232A30"/>
                </a:solidFill>
                <a:latin typeface="Microsoft JhengHei"/>
              </a:rPr>
              <a:t>因為一句「看起來完整」的話，可能混合了不同層次的主張。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核心概念 4｜主張（Claim）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234440"/>
          <a:ext cx="109728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63440"/>
                <a:gridCol w="2651760"/>
                <a:gridCol w="3657600"/>
              </a:tblGrid>
              <a:tr h="10515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Claim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類型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需要查什麼？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2025 年流通卡數突破 6,000 萬張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數字主張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數值、單位、期間、定義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較 2024 年成長 15%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比較主張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兩期資料、計算方式、同一定義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因此市場正在快速成長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解釋／判斷主張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更多指標與情境證據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5623560"/>
            <a:ext cx="10332720" cy="3657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500" b="1">
                <a:solidFill>
                  <a:srgbClr val="9B3A3A"/>
                </a:solidFill>
                <a:latin typeface="Microsoft JhengHei"/>
              </a:rPr>
              <a:t>越往「解釋／判斷」走，需要的證據通常越多。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學生任務 1｜把一句話拆開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234440"/>
            <a:ext cx="10561320" cy="109728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300" b="1">
                <a:solidFill>
                  <a:srgbClr val="193756"/>
                </a:solidFill>
                <a:latin typeface="Microsoft JhengHei"/>
              </a:rPr>
              <a:t>「2025 年行動支付交易金額成長 25%，因此台灣消費者已全面轉向無現金支付。」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880360"/>
            <a:ext cx="5074920" cy="13716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300" b="1">
                <a:solidFill>
                  <a:srgbClr val="2D785A"/>
                </a:solidFill>
                <a:latin typeface="Microsoft JhengHei"/>
              </a:rPr>
              <a:t>Claim A
交易金額成長 25%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2880360"/>
            <a:ext cx="5074920" cy="13716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200" b="1">
                <a:solidFill>
                  <a:srgbClr val="9B3A3A"/>
                </a:solidFill>
                <a:latin typeface="Microsoft JhengHei"/>
              </a:rPr>
              <a:t>Claim B
消費者已全面轉向無現金支付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00600"/>
            <a:ext cx="10332720" cy="64008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400" b="1">
                <a:solidFill>
                  <a:srgbClr val="9B3A3A"/>
                </a:solidFill>
                <a:latin typeface="Microsoft JhengHei"/>
              </a:rPr>
              <a:t>即使 A 是真的，A 足以證明 B 嗎？——不一定。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Grounding｜讓 AI 的回答「有根據」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280160"/>
            <a:ext cx="10561320" cy="96012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900" b="1">
                <a:solidFill>
                  <a:srgbClr val="193756"/>
                </a:solidFill>
                <a:latin typeface="Microsoft JhengHei"/>
              </a:rPr>
              <a:t>有根據的回答／以來源為依據（Grounding）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32720" cy="8229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500" b="1">
                <a:solidFill>
                  <a:srgbClr val="2D785A"/>
                </a:solidFill>
                <a:latin typeface="Microsoft JhengHei"/>
              </a:rPr>
              <a:t>學生版：AI 的回答能不能連回可查核的資料或來源。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069080"/>
            <a:ext cx="10332720" cy="9144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100" b="1">
                <a:solidFill>
                  <a:srgbClr val="9B3A3A"/>
                </a:solidFill>
                <a:latin typeface="Microsoft JhengHei"/>
              </a:rPr>
              <a:t>本課不教 RAG、Embedding、Vector Database；只教「答案要能回頭檢查」。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附來源的 AI 回答，一定比較可靠嗎？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280160"/>
            <a:ext cx="5074920" cy="201168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>
                <a:solidFill>
                  <a:srgbClr val="9B3A3A"/>
                </a:solidFill>
                <a:latin typeface="Microsoft JhengHei"/>
              </a:rPr>
              <a:t>回答 A
「年輕人行動支付使用率超過 90%。」
沒有來源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280160"/>
            <a:ext cx="5074920" cy="201168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>
                <a:solidFill>
                  <a:srgbClr val="193756"/>
                </a:solidFill>
                <a:latin typeface="Microsoft JhengHei"/>
              </a:rPr>
              <a:t>回答 B
「根據○○報告……」＋網址
看起來有來源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10332720" cy="73152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800" b="1">
                <a:solidFill>
                  <a:srgbClr val="9B3A3A"/>
                </a:solidFill>
                <a:latin typeface="Microsoft JhengHei"/>
              </a:rPr>
              <a:t>B 還不能直接判定可靠。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937760"/>
            <a:ext cx="10332720" cy="64008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800" b="1">
                <a:solidFill>
                  <a:srgbClr val="232A30"/>
                </a:solidFill>
                <a:latin typeface="Microsoft JhengHei"/>
              </a:rPr>
              <a:t>報告可能不存在、網址可能不對、數字可能不在報告裡、年份或定義可能不同。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生成式 AI 時代的提醒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371600"/>
            <a:ext cx="10332720" cy="11430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3400" b="1">
                <a:solidFill>
                  <a:srgbClr val="9B3A3A"/>
                </a:solidFill>
                <a:latin typeface="Microsoft JhengHei"/>
              </a:rPr>
              <a:t>AI 可以產生「看起來像引用的引用」。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08960"/>
            <a:ext cx="10332720" cy="8229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800" b="1">
                <a:solidFill>
                  <a:srgbClr val="193756"/>
                </a:solidFill>
                <a:latin typeface="Microsoft JhengHei"/>
              </a:rPr>
              <a:t>引用格式很漂亮，不代表引用是真的。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434840"/>
            <a:ext cx="10332720" cy="8229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3100" b="1">
                <a:solidFill>
                  <a:srgbClr val="2D785A"/>
                </a:solidFill>
                <a:latin typeface="Microsoft JhengHei"/>
              </a:rPr>
              <a:t>附來源 ≠ 完成查核。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AI 協作第一階段｜請 AI 提供可查核來源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234440"/>
            <a:ext cx="10698480" cy="283464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2000" b="1">
                <a:solidFill>
                  <a:srgbClr val="193756"/>
                </a:solidFill>
                <a:latin typeface="Microsoft JhengHei"/>
              </a:rPr>
              <a:t>我是金融管理系一年級學生。請說明台灣近年行動支付的發展，列出 3 項重要趨勢。每一項都請提供可查核的來源名稱、發布機構與網址。如果無法確認來源，請明確寫「無法確認」，不要自行產生來源。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617720"/>
            <a:ext cx="10332720" cy="64008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500" b="1">
                <a:solidFill>
                  <a:srgbClr val="9B3A3A"/>
                </a:solidFill>
                <a:latin typeface="Microsoft JhengHei"/>
              </a:rPr>
              <a:t>AI 回答之後——不直接交作業。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440680"/>
            <a:ext cx="10332720" cy="3657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500" b="1">
                <a:solidFill>
                  <a:srgbClr val="2D785A"/>
                </a:solidFill>
                <a:latin typeface="Microsoft JhengHei"/>
              </a:rPr>
              <a:t>下一步：離開 AI 回答，實際打開來源。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AI 協作第二階段｜來源查核五問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325880"/>
          <a:ext cx="1156716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2560320"/>
                <a:gridCol w="1371600"/>
                <a:gridCol w="1645920"/>
                <a:gridCol w="1828800"/>
                <a:gridCol w="1691640"/>
              </a:tblGrid>
              <a:tr h="11582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</a:rPr>
                        <a:t>AI Claim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</a:rPr>
                        <a:t>AI 提供來源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</a:rPr>
                        <a:t>找得到？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</a:rPr>
                        <a:t>真的支持？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</a:rPr>
                        <a:t>年份／定義一致？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</a:rPr>
                        <a:t>我的判斷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</a:tr>
              <a:tr h="1158240"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1158240"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5166360"/>
            <a:ext cx="1033272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100" b="1">
                <a:solidFill>
                  <a:srgbClr val="9B3A3A"/>
                </a:solidFill>
                <a:latin typeface="Microsoft JhengHei"/>
              </a:rPr>
              <a:t>至少查 2 個 Claim。這一週的「重」，就在學生真的回到來源。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AI 協作第三階段｜要求 AI 修正或撤回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234440"/>
            <a:ext cx="10652760" cy="17373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100" b="1">
                <a:solidFill>
                  <a:srgbClr val="193756"/>
                </a:solidFill>
                <a:latin typeface="Microsoft JhengHei"/>
              </a:rPr>
              <a:t>「你剛才提供的第 2 項資料，我查到原始來源並沒有你所說的 78.6%。請重新檢查這項說法。如果無法確認，請撤回，不要用其他數字替代。」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66160"/>
            <a:ext cx="10332720" cy="8229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900" b="1">
                <a:solidFill>
                  <a:srgbClr val="2D785A"/>
                </a:solidFill>
                <a:latin typeface="Microsoft JhengHei"/>
              </a:rPr>
              <a:t>學生開始管理 AI 的「證據品質」。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800600"/>
            <a:ext cx="10332720" cy="64008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100" b="1">
                <a:solidFill>
                  <a:srgbClr val="9B3A3A"/>
                </a:solidFill>
                <a:latin typeface="Microsoft JhengHei"/>
              </a:rPr>
              <a:t>AI 回答 → 我查來源 → 我指出問題 → 要求修正／撤回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來源真的存在，仍可能不適合｜陷阱 1：日期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280160"/>
            <a:ext cx="10332720" cy="9144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800" b="1">
                <a:solidFill>
                  <a:srgbClr val="193756"/>
                </a:solidFill>
                <a:latin typeface="Microsoft JhengHei"/>
              </a:rPr>
              <a:t>AI：「某 ETF 規模為 2,000 億元。」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97480"/>
            <a:ext cx="10332720" cy="7772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500" b="1">
                <a:solidFill>
                  <a:srgbClr val="9B3A3A"/>
                </a:solidFill>
                <a:latin typeface="Microsoft JhengHei"/>
              </a:rPr>
              <a:t>來源真的有這個數字——但資料日期是 2023 年。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3886200"/>
            <a:ext cx="10332720" cy="77724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700" b="1">
                <a:solidFill>
                  <a:srgbClr val="232A30"/>
                </a:solidFill>
                <a:latin typeface="Microsoft JhengHei"/>
              </a:rPr>
              <a:t>你正在分析 2026 年。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983480"/>
            <a:ext cx="10332720" cy="50292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900" b="1">
                <a:solidFill>
                  <a:srgbClr val="2D785A"/>
                </a:solidFill>
                <a:latin typeface="Microsoft JhengHei"/>
              </a:rPr>
              <a:t>來源是真的、數字也可能是真的，但未必適合現在的問題。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陷阱 2｜定義不一樣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234440"/>
            <a:ext cx="10332720" cy="77724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900" b="1">
                <a:solidFill>
                  <a:srgbClr val="193756"/>
                </a:solidFill>
                <a:latin typeface="Microsoft JhengHei"/>
              </a:rPr>
              <a:t>「信用卡數量」到底是哪一種？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2560320"/>
            <a:ext cx="2057400" cy="9144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232A30"/>
                </a:solidFill>
                <a:latin typeface="Microsoft JhengHei"/>
              </a:rPr>
              <a:t>流通卡數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98648" y="2560320"/>
            <a:ext cx="2057400" cy="9144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232A30"/>
                </a:solidFill>
                <a:latin typeface="Microsoft JhengHei"/>
              </a:rPr>
              <a:t>有效卡數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02936" y="2560320"/>
            <a:ext cx="2057400" cy="9144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232A30"/>
                </a:solidFill>
                <a:latin typeface="Microsoft JhengHei"/>
              </a:rPr>
              <a:t>發卡數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07224" y="2560320"/>
            <a:ext cx="2057400" cy="9144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232A30"/>
                </a:solidFill>
                <a:latin typeface="Microsoft JhengHei"/>
              </a:rPr>
              <a:t>當月新增卡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11512" y="2560320"/>
            <a:ext cx="2057400" cy="9144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232A30"/>
                </a:solidFill>
                <a:latin typeface="Microsoft JhengHei"/>
              </a:rPr>
              <a:t>累計發卡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069080"/>
            <a:ext cx="10332720" cy="7772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700" b="1">
                <a:solidFill>
                  <a:srgbClr val="9B3A3A"/>
                </a:solidFill>
                <a:latin typeface="Microsoft JhengHei"/>
              </a:rPr>
              <a:t>AI 說「5,000 萬張」——先問：哪一種卡數？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166360"/>
            <a:ext cx="10332720" cy="41148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600" b="1">
                <a:solidFill>
                  <a:srgbClr val="2D785A"/>
                </a:solidFill>
                <a:latin typeface="Microsoft JhengHei"/>
              </a:rPr>
              <a:t>數字重要，定義也一樣重要。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陷阱 3｜單位不一樣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3246120" cy="146304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800" b="1">
                <a:solidFill>
                  <a:srgbClr val="193756"/>
                </a:solidFill>
                <a:latin typeface="Microsoft JhengHei"/>
              </a:rPr>
              <a:t>5,000 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0" y="1371600"/>
            <a:ext cx="3246120" cy="146304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800" b="1">
                <a:solidFill>
                  <a:srgbClr val="193756"/>
                </a:solidFill>
                <a:latin typeface="Microsoft JhengHei"/>
              </a:rPr>
              <a:t>5,000 百萬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371600"/>
            <a:ext cx="3246120" cy="146304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800" b="1">
                <a:solidFill>
                  <a:srgbClr val="193756"/>
                </a:solidFill>
                <a:latin typeface="Microsoft JhengHei"/>
              </a:rPr>
              <a:t>50 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520440"/>
            <a:ext cx="10332720" cy="8229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700" b="1">
                <a:solidFill>
                  <a:srgbClr val="9B3A3A"/>
                </a:solidFill>
                <a:latin typeface="Microsoft JhengHei"/>
              </a:rPr>
              <a:t>格式看起來整齊，不代表單位已經一致。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709160"/>
            <a:ext cx="10332720" cy="64008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200" b="1">
                <a:solidFill>
                  <a:srgbClr val="2D785A"/>
                </a:solidFill>
                <a:latin typeface="Microsoft JhengHei"/>
              </a:rPr>
              <a:t>查金融數字時，不能只看「那個數字」。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核心工具 2｜數字四件套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1325880"/>
            <a:ext cx="5257800" cy="141732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200" b="1">
                <a:solidFill>
                  <a:srgbClr val="193756"/>
                </a:solidFill>
                <a:latin typeface="Microsoft JhengHei"/>
              </a:rPr>
              <a:t>數值
是多少？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325880"/>
            <a:ext cx="5257800" cy="141732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200" b="1">
                <a:solidFill>
                  <a:srgbClr val="193756"/>
                </a:solidFill>
                <a:latin typeface="Microsoft JhengHei"/>
              </a:rPr>
              <a:t>單位
元／萬元／億元／%？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200400"/>
            <a:ext cx="5257800" cy="141732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200" b="1">
                <a:solidFill>
                  <a:srgbClr val="193756"/>
                </a:solidFill>
                <a:latin typeface="Microsoft JhengHei"/>
              </a:rPr>
              <a:t>期間
哪一年／哪個月？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3200400"/>
            <a:ext cx="5257800" cy="141732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200" b="1">
                <a:solidFill>
                  <a:srgbClr val="193756"/>
                </a:solidFill>
                <a:latin typeface="Microsoft JhengHei"/>
              </a:rPr>
              <a:t>定義
這個數字到底在算什麼？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257800"/>
            <a:ext cx="1033272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900" b="1">
                <a:solidFill>
                  <a:srgbClr val="9B3A3A"/>
                </a:solidFill>
                <a:latin typeface="Microsoft JhengHei"/>
              </a:rPr>
              <a:t>數值＋單位＋期間＋定義，要綁在一起查。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學生任務 2｜哪個來源比較適合？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234440"/>
            <a:ext cx="10561320" cy="73152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600" b="1">
                <a:solidFill>
                  <a:srgbClr val="193756"/>
                </a:solidFill>
                <a:latin typeface="Microsoft JhengHei"/>
              </a:rPr>
              <a:t>題目：「某公司 2025 年營收是多少？」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005840" y="2423160"/>
          <a:ext cx="1014984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6309360"/>
              </a:tblGrid>
              <a:tr h="62179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候選來源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角色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A｜公司財報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優先查核原始數字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B｜朋友 LINE 訊息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不適合作為正式數字證據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C｜新聞文章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可協助理解背景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D｜AI 回答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可協助找方向，但仍需回到來源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學生任務 3｜來源階梯：不是絕對排名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234440"/>
            <a:ext cx="10332720" cy="9144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400" b="1">
                <a:solidFill>
                  <a:srgbClr val="193756"/>
                </a:solidFill>
                <a:latin typeface="Microsoft JhengHei"/>
              </a:rPr>
              <a:t>我目前最需要的來源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0" y="2331720"/>
            <a:ext cx="8503920" cy="77724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300" b="1">
                <a:solidFill>
                  <a:srgbClr val="2D785A"/>
                </a:solidFill>
                <a:latin typeface="Microsoft JhengHei"/>
              </a:rPr>
              <a:t>原始／官方資料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3337560"/>
            <a:ext cx="6675120" cy="77724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>
                <a:solidFill>
                  <a:srgbClr val="193756"/>
                </a:solidFill>
                <a:latin typeface="Microsoft JhengHei"/>
              </a:rPr>
              <a:t>新聞／分析文章：協助理解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0" y="4343400"/>
            <a:ext cx="4846320" cy="77724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900" b="1">
                <a:solidFill>
                  <a:srgbClr val="232A30"/>
                </a:solidFill>
                <a:latin typeface="Microsoft JhengHei"/>
              </a:rPr>
              <a:t>AI／社群：提供線索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440680"/>
            <a:ext cx="10332720" cy="3657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400" b="1">
                <a:solidFill>
                  <a:srgbClr val="9B3A3A"/>
                </a:solidFill>
                <a:latin typeface="Microsoft JhengHei"/>
              </a:rPr>
              <a:t>來源角色依問題而定；重要數字盡量追到原始資料。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一個很常見的錯誤｜問 AI：「你確定嗎？」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325880"/>
            <a:ext cx="10332720" cy="109728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3100" b="1">
                <a:solidFill>
                  <a:srgbClr val="193756"/>
                </a:solidFill>
                <a:latin typeface="Microsoft JhengHei"/>
              </a:rPr>
              <a:t>AI：「我確定，這項資訊是正確的。」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63240"/>
            <a:ext cx="10332720" cy="9144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3600" b="1">
                <a:solidFill>
                  <a:srgbClr val="9B3A3A"/>
                </a:solidFill>
                <a:latin typeface="Microsoft JhengHei"/>
              </a:rPr>
              <a:t>這不叫查證。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480560"/>
            <a:ext cx="10332720" cy="86868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800" b="1">
                <a:solidFill>
                  <a:srgbClr val="2D785A"/>
                </a:solidFill>
                <a:latin typeface="Microsoft JhengHei"/>
              </a:rPr>
              <a:t>查證，是離開 AI 的回答，回到資料與來源。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W16 第八步｜作品加入「來源與查核紀錄」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28600" y="1234440"/>
          <a:ext cx="117500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280160"/>
                <a:gridCol w="1280160"/>
                <a:gridCol w="1828800"/>
                <a:gridCol w="1371600"/>
                <a:gridCol w="1371600"/>
                <a:gridCol w="1554480"/>
                <a:gridCol w="1783080"/>
              </a:tblGrid>
              <a:tr h="105156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JhengHei"/>
                        </a:rPr>
                        <a:t>問題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JhengHei"/>
                        </a:rPr>
                        <a:t>資料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JhengHei"/>
                        </a:rPr>
                        <a:t>分析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JhengHei"/>
                        </a:rPr>
                        <a:t>結果＋Benchmark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JhengHei"/>
                        </a:rPr>
                        <a:t>意涵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JhengHei"/>
                        </a:rPr>
                        <a:t>限制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JhengHei"/>
                        </a:rPr>
                        <a:t>AI 協作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JhengHei"/>
                        </a:rPr>
                        <a:t>來源查核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32A30"/>
                          </a:solidFill>
                          <a:latin typeface="Microsoft JhengHei"/>
                        </a:rPr>
                        <a:t>W6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32A30"/>
                          </a:solidFill>
                          <a:latin typeface="Microsoft JhengHei"/>
                        </a:rPr>
                        <a:t>W7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32A30"/>
                          </a:solidFill>
                          <a:latin typeface="Microsoft JhengHei"/>
                        </a:rPr>
                        <a:t>W8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32A30"/>
                          </a:solidFill>
                          <a:latin typeface="Microsoft JhengHei"/>
                        </a:rPr>
                        <a:t>W11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32A30"/>
                          </a:solidFill>
                          <a:latin typeface="Microsoft JhengHei"/>
                        </a:rPr>
                        <a:t>W10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32A30"/>
                          </a:solidFill>
                          <a:latin typeface="Microsoft JhengHei"/>
                        </a:rPr>
                        <a:t>W12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32A30"/>
                          </a:solidFill>
                          <a:latin typeface="Microsoft JhengHei"/>
                        </a:rPr>
                        <a:t>W13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32A30"/>
                          </a:solidFill>
                          <a:latin typeface="Microsoft JhengHei"/>
                        </a:rPr>
                        <a:t>Week 14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22960" y="3794760"/>
            <a:ext cx="10561320" cy="10515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400" b="1">
                <a:solidFill>
                  <a:srgbClr val="193756"/>
                </a:solidFill>
                <a:latin typeface="Microsoft JhengHei"/>
              </a:rPr>
              <a:t>作品裡的重要 Claim 要能回答：
「這個說法的根據在哪裡？我真的查過嗎？」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257800"/>
            <a:ext cx="10332720" cy="41148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600" b="1">
                <a:solidFill>
                  <a:srgbClr val="2D785A"/>
                </a:solidFill>
                <a:latin typeface="Microsoft JhengHei"/>
              </a:rPr>
              <a:t>W16 不只展示分析結果，也展示證據責任。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W16 來源與查核紀錄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280160"/>
          <a:ext cx="1147572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2468880"/>
                <a:gridCol w="1645920"/>
                <a:gridCol w="1371600"/>
                <a:gridCol w="1828800"/>
                <a:gridCol w="1691640"/>
              </a:tblGrid>
              <a:tr h="115824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JhengHei"/>
                        </a:rPr>
                        <a:t>我的 Claim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JhengHei"/>
                        </a:rPr>
                        <a:t>資料／來源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JhengHei"/>
                        </a:rPr>
                        <a:t>發布者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JhengHei"/>
                        </a:rPr>
                        <a:t>日期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JhengHei"/>
                        </a:rPr>
                        <a:t>是否支持 Claim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JhengHei"/>
                        </a:rPr>
                        <a:t>我的處理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</a:tr>
              <a:tr h="1158240"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32A30"/>
                          </a:solidFill>
                          <a:latin typeface="Microsoft JhengHei"/>
                        </a:rPr>
                        <a:t>保留／修正／刪除／待確認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1158240"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5257800"/>
            <a:ext cx="1033272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800" b="1">
                <a:solidFill>
                  <a:srgbClr val="9B3A3A"/>
                </a:solidFill>
                <a:latin typeface="Microsoft JhengHei"/>
              </a:rPr>
              <a:t>「我的處理」才是學生的判斷證據。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本週最小學習產出｜我的來源查核卡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097280"/>
          <a:ext cx="10972800" cy="5074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7772400"/>
              </a:tblGrid>
              <a:tr h="7249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欄位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我的內容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</a:tr>
              <a:tr h="7249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我要查核的 Claim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7249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AI 提供的來源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249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來源查核五問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□ 找得到　□ 誰說的　□ 真的支持　□ 時間／定義對　□ 適合回答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7249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數字四件套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數值：____　單位：____　期間：____　定義：____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249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我的處理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□ 保留　□ 修正　□ 刪除　□ 尚待確認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724992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原因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快速檢核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143000"/>
            <a:ext cx="10698480" cy="685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193756"/>
                </a:solidFill>
                <a:latin typeface="Microsoft JhengHei"/>
              </a:rPr>
              <a:t>Q1｜AI 提供一個真的網址，所以它的說法一定正確。　○ 對　○ 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84832"/>
            <a:ext cx="10698480" cy="685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193756"/>
                </a:solidFill>
                <a:latin typeface="Microsoft JhengHei"/>
              </a:rPr>
              <a:t>Q2｜重要金融數字最好優先追到：A AI　B 社群　C 原始／官方來源　D 網友整理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26664"/>
            <a:ext cx="10698480" cy="685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193756"/>
                </a:solidFill>
                <a:latin typeface="Microsoft JhengHei"/>
              </a:rPr>
              <a:t>Q3｜來源是真的，但資料是 3 年前的：還需要判斷什麼？________________________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68496"/>
            <a:ext cx="10698480" cy="685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193756"/>
                </a:solidFill>
                <a:latin typeface="Microsoft JhengHei"/>
              </a:rPr>
              <a:t>Q4｜報告中找不到 AI 所說數字：A 繼續引用　B 要求修正／撤回　C 問 AI 你確定嗎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910328"/>
            <a:ext cx="10698480" cy="685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193756"/>
                </a:solidFill>
                <a:latin typeface="Microsoft JhengHei"/>
              </a:rPr>
              <a:t>Q5｜看到金融數字，要一起確認哪四件事？_______________________________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本週刻意不教｜這不是研究方法或 AI 工程課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4360" y="1325880"/>
            <a:ext cx="2057400" cy="9144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232A30"/>
                </a:solidFill>
                <a:latin typeface="Microsoft JhengHei"/>
              </a:rPr>
              <a:t>RAG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98648" y="1325880"/>
            <a:ext cx="2057400" cy="9144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232A30"/>
                </a:solidFill>
                <a:latin typeface="Microsoft JhengHei"/>
              </a:rPr>
              <a:t>Vector Database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02936" y="1325880"/>
            <a:ext cx="2057400" cy="9144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232A30"/>
                </a:solidFill>
                <a:latin typeface="Microsoft JhengHei"/>
              </a:rPr>
              <a:t>Embedding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07224" y="1325880"/>
            <a:ext cx="2057400" cy="9144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232A30"/>
                </a:solidFill>
                <a:latin typeface="Microsoft JhengHei"/>
              </a:rPr>
              <a:t>Search API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811512" y="1325880"/>
            <a:ext cx="2057400" cy="9144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232A30"/>
                </a:solidFill>
                <a:latin typeface="Microsoft JhengHei"/>
              </a:rPr>
              <a:t>Web Scraping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651760"/>
            <a:ext cx="2057400" cy="9144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232A30"/>
                </a:solidFill>
                <a:latin typeface="Microsoft JhengHei"/>
              </a:rPr>
              <a:t>Citation API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651760"/>
            <a:ext cx="2057400" cy="9144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232A30"/>
                </a:solidFill>
                <a:latin typeface="Microsoft JhengHei"/>
              </a:rPr>
              <a:t>文獻管理軟體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02936" y="2651760"/>
            <a:ext cx="2057400" cy="9144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232A30"/>
                </a:solidFill>
                <a:latin typeface="Microsoft JhengHei"/>
              </a:rPr>
              <a:t>APA／Chicago 完整格式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07224" y="2651760"/>
            <a:ext cx="2057400" cy="9144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232A30"/>
                </a:solidFill>
                <a:latin typeface="Microsoft JhengHei"/>
              </a:rPr>
              <a:t>系統性文獻回顧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811512" y="2651760"/>
            <a:ext cx="2057400" cy="9144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232A30"/>
                </a:solidFill>
                <a:latin typeface="Microsoft JhengHei"/>
              </a:rPr>
              <a:t>學術資料庫檢索技巧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434840"/>
            <a:ext cx="10332720" cy="9144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200" b="1">
                <a:solidFill>
                  <a:srgbClr val="193756"/>
                </a:solidFill>
                <a:latin typeface="Microsoft JhengHei"/>
              </a:rPr>
              <a:t>本週真正的重點：AI 給資訊 → 回到來源 → 查證 → 保留／修正／撤回。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Week 14 收束｜管理 AI 的證據品質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188720"/>
            <a:ext cx="10332720" cy="73152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3100" b="1">
                <a:solidFill>
                  <a:srgbClr val="9B3A3A"/>
                </a:solidFill>
                <a:latin typeface="Microsoft JhengHei"/>
              </a:rPr>
              <a:t>有來源 ≠ 有證據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40280"/>
            <a:ext cx="10332720" cy="64008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500" b="1">
                <a:solidFill>
                  <a:srgbClr val="193756"/>
                </a:solidFill>
                <a:latin typeface="Microsoft JhengHei"/>
              </a:rPr>
              <a:t>附來源 ≠ 完成查核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54680"/>
            <a:ext cx="10332720" cy="64008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500" b="1">
                <a:solidFill>
                  <a:srgbClr val="193756"/>
                </a:solidFill>
                <a:latin typeface="Microsoft JhengHei"/>
              </a:rPr>
              <a:t>「你確定嗎？」≠ 查證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069080"/>
            <a:ext cx="10332720" cy="77724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900" b="1">
                <a:solidFill>
                  <a:srgbClr val="2D785A"/>
                </a:solidFill>
                <a:latin typeface="Microsoft JhengHei"/>
              </a:rPr>
              <a:t>查證 = 離開 AI 回答，回到資料與來源。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257800"/>
            <a:ext cx="10332720" cy="3657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500" b="1">
                <a:solidFill>
                  <a:srgbClr val="9B3A3A"/>
                </a:solidFill>
                <a:latin typeface="Microsoft JhengHei"/>
              </a:rPr>
              <a:t>M5：管理工作 → 管理證據 → 下一週管理表達。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32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