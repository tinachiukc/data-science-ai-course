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14400"/>
            <a:ext cx="107899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300" b="0">
                <a:solidFill>
                  <a:srgbClr val="FFFFFF"/>
                </a:solidFill>
                <a:latin typeface="Microsoft JhengHei"/>
              </a:rPr>
              <a:t>資料科學與大數據分析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icrosoft JhengHei"/>
              </a:rPr>
              <a:t>Week 18｜回到起點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43200"/>
            <a:ext cx="1078992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700" b="0">
                <a:solidFill>
                  <a:srgbClr val="DEE8F0"/>
                </a:solidFill>
                <a:latin typeface="Microsoft JhengHei"/>
              </a:rPr>
              <a:t>線上彈性課程｜課程回顧與 AI 協作反思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160520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500" b="1">
                <a:solidFill>
                  <a:srgbClr val="193756"/>
                </a:solidFill>
                <a:latin typeface="Microsoft JhengHei"/>
              </a:rPr>
              <a:t>我現在怎麼看資料、AI 與金融決策？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今天沒有新知識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29000" cy="16459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193756"/>
                </a:solidFill>
                <a:latin typeface="Microsoft JhengHei"/>
              </a:rPr>
              <a:t>回顧
我學過什麼？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371600"/>
            <a:ext cx="3429000" cy="16459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193756"/>
                </a:solidFill>
                <a:latin typeface="Microsoft JhengHei"/>
              </a:rPr>
              <a:t>比較
現在的我有什麼不同？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371600"/>
            <a:ext cx="3429000" cy="16459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2D785A"/>
                </a:solidFill>
                <a:latin typeface="Microsoft JhengHei"/>
              </a:rPr>
              <a:t>反思
我以後會怎麼做？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33272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2400" b="1">
                <a:solidFill>
                  <a:srgbClr val="9B3A3A"/>
                </a:solidFill>
                <a:latin typeface="Microsoft JhengHei"/>
              </a:rPr>
              <a:t>Week 18 不是最後再塞一個單元，而是把學習真正收回自己身上。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303520"/>
            <a:ext cx="10332720" cy="4114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232A30"/>
                </a:solidFill>
                <a:latin typeface="Microsoft JhengHei"/>
              </a:rPr>
              <a:t>建議完成時間：約 40～60 分鐘｜線上非同步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回到 Week 1 的第一個問題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280160"/>
            <a:ext cx="10561320" cy="11430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3200" b="1">
                <a:solidFill>
                  <a:srgbClr val="193756"/>
                </a:solidFill>
                <a:latin typeface="Microsoft JhengHei"/>
              </a:rPr>
              <a:t>金融業每天都有這麼多資料，
有資料就能做出好決策嗎？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2300" b="0">
                <a:solidFill>
                  <a:srgbClr val="232A30"/>
                </a:solidFill>
                <a:latin typeface="Microsoft JhengHei"/>
              </a:rPr>
              <a:t>學期開始時，你可能有一個答案。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51960"/>
            <a:ext cx="1033272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3100" b="1">
                <a:solidFill>
                  <a:srgbClr val="9B3A3A"/>
                </a:solidFill>
                <a:latin typeface="Microsoft JhengHei"/>
              </a:rPr>
              <a:t>現在的你，會怎麼回答？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1400" b="1">
                <a:solidFill>
                  <a:srgbClr val="2D785A"/>
                </a:solidFill>
                <a:latin typeface="Microsoft JhengHei"/>
              </a:rPr>
              <a:t>先自己寫，再繼續往下看。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14 個正式授課週，留下 14 句話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265176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93756"/>
                </a:solidFill>
                <a:latin typeface="Microsoft JhengHei"/>
              </a:rPr>
              <a:t>精確 ≠ 可靠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143000"/>
            <a:ext cx="265176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93756"/>
                </a:solidFill>
                <a:latin typeface="Microsoft JhengHei"/>
              </a:rPr>
              <a:t>合理 ≠ 有根據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143000"/>
            <a:ext cx="265176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93756"/>
                </a:solidFill>
                <a:latin typeface="Microsoft JhengHei"/>
              </a:rPr>
              <a:t>看到差異 ≠ 找到原因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143000"/>
            <a:ext cx="265176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93756"/>
                </a:solidFill>
                <a:latin typeface="Microsoft JhengHei"/>
              </a:rPr>
              <a:t>平均 ≠ 典型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77440"/>
            <a:ext cx="265176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93756"/>
                </a:solidFill>
                <a:latin typeface="Microsoft JhengHei"/>
              </a:rPr>
              <a:t>AI 分析 ≠ 分析證據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377440"/>
            <a:ext cx="265176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93756"/>
                </a:solidFill>
                <a:latin typeface="Microsoft JhengHei"/>
              </a:rPr>
              <a:t>想問 ≠ 能回答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377440"/>
            <a:ext cx="265176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93756"/>
                </a:solidFill>
                <a:latin typeface="Microsoft JhengHei"/>
              </a:rPr>
              <a:t>資料多 ≠ 資料有用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2377440"/>
            <a:ext cx="265176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93756"/>
                </a:solidFill>
                <a:latin typeface="Microsoft JhengHei"/>
              </a:rPr>
              <a:t>有算 ≠ 有回答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11880"/>
            <a:ext cx="265176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2D785A"/>
                </a:solidFill>
                <a:latin typeface="Microsoft JhengHei"/>
              </a:rPr>
              <a:t>有證據 ≠ 能決策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3611880"/>
            <a:ext cx="265176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2D785A"/>
                </a:solidFill>
                <a:latin typeface="Microsoft JhengHei"/>
              </a:rPr>
              <a:t>有數字 ≠ 有意義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611880"/>
            <a:ext cx="265176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2D785A"/>
                </a:solidFill>
                <a:latin typeface="Microsoft JhengHei"/>
              </a:rPr>
              <a:t>最佳 ≠ 無風險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3611880"/>
            <a:ext cx="265176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2D785A"/>
                </a:solidFill>
                <a:latin typeface="Microsoft JhengHei"/>
              </a:rPr>
              <a:t>AI 完成 ≠ 我完成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846320"/>
            <a:ext cx="265176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2D785A"/>
                </a:solidFill>
                <a:latin typeface="Microsoft JhengHei"/>
              </a:rPr>
              <a:t>有來源 ≠ 有證據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4846320"/>
            <a:ext cx="265176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2D785A"/>
                </a:solidFill>
                <a:latin typeface="Microsoft JhengHei"/>
              </a:rPr>
              <a:t>說得清楚 ≠ 說得誇大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反思任務 1｜選三句，不要選十四句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6400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600" b="1">
                <a:solidFill>
                  <a:srgbClr val="193756"/>
                </a:solidFill>
                <a:latin typeface="Microsoft JhengHei"/>
              </a:rPr>
              <a:t>從 14 句中選出對你影響最大的三句。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0332720" cy="7315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2000" b="1">
                <a:solidFill>
                  <a:srgbClr val="232A30"/>
                </a:solidFill>
                <a:latin typeface="Microsoft JhengHei"/>
              </a:rPr>
              <a:t>① 我為什麼選它？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337560"/>
            <a:ext cx="10332720" cy="7315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2000" b="1">
                <a:solidFill>
                  <a:srgbClr val="232A30"/>
                </a:solidFill>
                <a:latin typeface="Microsoft JhengHei"/>
              </a:rPr>
              <a:t>② 哪個活動／案例讓我真正理解？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389120"/>
            <a:ext cx="10332720" cy="7315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2000" b="1">
                <a:solidFill>
                  <a:srgbClr val="232A30"/>
                </a:solidFill>
                <a:latin typeface="Microsoft JhengHei"/>
              </a:rPr>
              <a:t>③ 未來在金融工作、投資、生活或使用 AI 時，我會怎麼運用？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1033272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1300" b="1">
                <a:solidFill>
                  <a:srgbClr val="9B3A3A"/>
                </a:solidFill>
                <a:latin typeface="Microsoft JhengHei"/>
              </a:rPr>
              <a:t>不要只寫「很重要」；請寫出具體經驗。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AI 的角色，這學期有沒有改變？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212080" cy="34747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193756"/>
                </a:solidFill>
                <a:latin typeface="Microsoft JhengHei"/>
              </a:rPr>
              <a:t>剛開始
找答案
解釋不懂的東西
幫我寫東西
幫我完成工作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34440"/>
            <a:ext cx="5212080" cy="34747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2D785A"/>
                </a:solidFill>
                <a:latin typeface="Microsoft JhengHei"/>
              </a:rPr>
              <a:t>現在
協助形成問題與分析
提出反面意見
整理與溝通
但我要查資料、計算、推論、來源與語氣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66360"/>
            <a:ext cx="103327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1900" b="1">
                <a:solidFill>
                  <a:srgbClr val="9B3A3A"/>
                </a:solidFill>
                <a:latin typeface="Microsoft JhengHei"/>
              </a:rPr>
              <a:t>AI 可以參與很多，但責任不能一起外包。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反思任務 2｜抓到 AI 的一次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10561320" cy="822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500" b="1">
                <a:solidFill>
                  <a:srgbClr val="193756"/>
                </a:solidFill>
                <a:latin typeface="Microsoft JhengHei"/>
              </a:rPr>
              <a:t>這學期有沒有哪一次，你原本覺得 AI 說得很對，後來才發現它其實有問題？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10332720" cy="658368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2100" b="1">
                <a:solidFill>
                  <a:srgbClr val="232A30"/>
                </a:solidFill>
                <a:latin typeface="Microsoft JhengHei"/>
              </a:rPr>
              <a:t>AI 說了什麼？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20439"/>
            <a:ext cx="10332720" cy="658368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2100" b="1">
                <a:solidFill>
                  <a:srgbClr val="232A30"/>
                </a:solidFill>
                <a:latin typeface="Microsoft JhengHei"/>
              </a:rPr>
              <a:t>你怎麼發現問題？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480560"/>
            <a:ext cx="10332720" cy="658368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2100" b="1">
                <a:solidFill>
                  <a:srgbClr val="2D785A"/>
                </a:solidFill>
                <a:latin typeface="Microsoft JhengHei"/>
              </a:rPr>
              <a:t>最後你怎麼處理？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1400" b="1">
                <a:solidFill>
                  <a:srgbClr val="9B3A3A"/>
                </a:solidFill>
                <a:latin typeface="Microsoft JhengHei"/>
              </a:rPr>
              <a:t>知道「AI 可能會錯」只是知識；真的能查出問題，才是能力。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回看 Week 16｜如果重做一次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2560320" cy="11430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193756"/>
                </a:solidFill>
                <a:latin typeface="Microsoft JhengHei"/>
              </a:rPr>
              <a:t>問題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280160"/>
            <a:ext cx="2560320" cy="11430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193756"/>
                </a:solidFill>
                <a:latin typeface="Microsoft JhengHei"/>
              </a:rPr>
              <a:t>資料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280160"/>
            <a:ext cx="2560320" cy="11430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193756"/>
                </a:solidFill>
                <a:latin typeface="Microsoft JhengHei"/>
              </a:rPr>
              <a:t>分析方法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1280160"/>
            <a:ext cx="2560320" cy="11430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193756"/>
                </a:solidFill>
                <a:latin typeface="Microsoft JhengHei"/>
              </a:rPr>
              <a:t>Benchmark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34639"/>
            <a:ext cx="2560320" cy="11430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2D785A"/>
                </a:solidFill>
                <a:latin typeface="Microsoft JhengHei"/>
              </a:rPr>
              <a:t>AI 協作方式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834639"/>
            <a:ext cx="2560320" cy="11430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2D785A"/>
                </a:solidFill>
                <a:latin typeface="Microsoft JhengHei"/>
              </a:rPr>
              <a:t>來源查核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834639"/>
            <a:ext cx="2560320" cy="11430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2D785A"/>
                </a:solidFill>
                <a:latin typeface="Microsoft JhengHei"/>
              </a:rPr>
              <a:t>結論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2834639"/>
            <a:ext cx="2560320" cy="11430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2D785A"/>
                </a:solidFill>
                <a:latin typeface="Microsoft JhengHei"/>
              </a:rPr>
              <a:t>簡報／溝通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1033272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2600" b="1">
                <a:solidFill>
                  <a:srgbClr val="9B3A3A"/>
                </a:solidFill>
                <a:latin typeface="Microsoft JhengHei"/>
              </a:rPr>
              <a:t>只能先選一個：你最想改哪一件事？為什麼？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23560"/>
            <a:ext cx="1033272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232A30"/>
                </a:solidFill>
                <a:latin typeface="Microsoft JhengHei"/>
              </a:rPr>
              <a:t>能看見自己下一次要改什麼，就是後設認知（Metacognition）。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未來職場情境｜主管明天下午要答案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143000"/>
            <a:ext cx="1056132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700" b="1">
                <a:solidFill>
                  <a:srgbClr val="193756"/>
                </a:solidFill>
                <a:latin typeface="Microsoft JhengHei"/>
              </a:rPr>
              <a:t>「這裡有一份客戶資料，先丟給 AI 看看，
明天下午告訴我該怎麼做。」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3272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2700" b="1">
                <a:solidFill>
                  <a:srgbClr val="9B3A3A"/>
                </a:solidFill>
                <a:latin typeface="Microsoft JhengHei"/>
              </a:rPr>
              <a:t>現在的你，第一步會做什麼？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794760"/>
            <a:ext cx="3017520" cy="5943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2D785A"/>
                </a:solidFill>
                <a:latin typeface="Microsoft JhengHei"/>
              </a:rPr>
              <a:t>① ________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3794760"/>
            <a:ext cx="3017520" cy="5943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2D785A"/>
                </a:solidFill>
                <a:latin typeface="Microsoft JhengHei"/>
              </a:rPr>
              <a:t>② ________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794760"/>
            <a:ext cx="3017520" cy="5943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2D785A"/>
                </a:solidFill>
                <a:latin typeface="Microsoft JhengHei"/>
              </a:rPr>
              <a:t>③ ________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4709160"/>
            <a:ext cx="3017520" cy="5943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2D785A"/>
                </a:solidFill>
                <a:latin typeface="Microsoft JhengHei"/>
              </a:rPr>
              <a:t>④ ________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4709160"/>
            <a:ext cx="3017520" cy="5943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2D785A"/>
                </a:solidFill>
                <a:latin typeface="Microsoft JhengHei"/>
              </a:rPr>
              <a:t>⑤ 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一條可能的專業工作流程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265176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93756"/>
                </a:solidFill>
                <a:latin typeface="Microsoft JhengHei"/>
              </a:rPr>
              <a:t>確認問題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325880"/>
            <a:ext cx="265176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93756"/>
                </a:solidFill>
                <a:latin typeface="Microsoft JhengHei"/>
              </a:rPr>
              <a:t>看懂資料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325880"/>
            <a:ext cx="265176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93756"/>
                </a:solidFill>
                <a:latin typeface="Microsoft JhengHei"/>
              </a:rPr>
              <a:t>檢查品質／隱私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60" y="1325880"/>
            <a:ext cx="265176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93756"/>
                </a:solidFill>
                <a:latin typeface="Microsoft JhengHei"/>
              </a:rPr>
              <a:t>決定分析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200400"/>
            <a:ext cx="265176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2D785A"/>
                </a:solidFill>
                <a:latin typeface="Microsoft JhengHei"/>
              </a:rPr>
              <a:t>AI 協作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200400"/>
            <a:ext cx="265176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2D785A"/>
                </a:solidFill>
                <a:latin typeface="Microsoft JhengHei"/>
              </a:rPr>
              <a:t>查核證據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3200400"/>
            <a:ext cx="265176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2D785A"/>
                </a:solidFill>
                <a:latin typeface="Microsoft JhengHei"/>
              </a:rPr>
              <a:t>形成判斷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3200400"/>
            <a:ext cx="265176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2D785A"/>
                </a:solidFill>
                <a:latin typeface="Microsoft JhengHei"/>
              </a:rPr>
              <a:t>負責任溝通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57800"/>
            <a:ext cx="10332720" cy="4114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1600" b="1">
                <a:solidFill>
                  <a:srgbClr val="9B3A3A"/>
                </a:solidFill>
                <a:latin typeface="Microsoft JhengHei"/>
              </a:rPr>
              <a:t>不是先把檔案丟給 AI；是先知道自己要對什麼問題負責。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反思任務 3｜送一句話給下一屆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61320" cy="868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800" b="1">
                <a:solidFill>
                  <a:srgbClr val="193756"/>
                </a:solidFill>
                <a:latin typeface="Microsoft JhengHei"/>
              </a:rPr>
              <a:t>如果要送一句話給下一屆修這門課的學弟妹，
你會告訴他什麼？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0972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2400" b="0">
                <a:solidFill>
                  <a:srgbClr val="232A30"/>
                </a:solidFill>
                <a:latin typeface="Microsoft JhengHei"/>
              </a:rPr>
              <a:t>__________________________________________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10332720" cy="7315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>
                <a:solidFill>
                  <a:srgbClr val="2D785A"/>
                </a:solidFill>
                <a:latin typeface="Microsoft JhengHei"/>
              </a:rPr>
              <a:t>不用像標語；寫一句你真的相信的話。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這學期，你的位置改變了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2057400" cy="2971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193756"/>
                </a:solidFill>
                <a:latin typeface="Microsoft JhengHei"/>
              </a:rPr>
              <a:t>M1
我會看資料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39" y="1325880"/>
            <a:ext cx="2057400" cy="2971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193756"/>
                </a:solidFill>
                <a:latin typeface="Microsoft JhengHei"/>
              </a:rPr>
              <a:t>M2
我會探索，也開始查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59" y="1325880"/>
            <a:ext cx="2057400" cy="2971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193756"/>
                </a:solidFill>
                <a:latin typeface="Microsoft JhengHei"/>
              </a:rPr>
              <a:t>M3
我會問問題、找資料、選分析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325880"/>
            <a:ext cx="2057400" cy="2971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2D785A"/>
                </a:solidFill>
                <a:latin typeface="Microsoft JhengHei"/>
              </a:rPr>
              <a:t>M4
我會把證據轉成金融／管理判斷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9800" y="1325880"/>
            <a:ext cx="2057400" cy="2971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2D785A"/>
                </a:solidFill>
                <a:latin typeface="Microsoft JhengHei"/>
              </a:rPr>
              <a:t>M5
我會管理 AI、查來源、負責任溝通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1033272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2300" b="1">
                <a:solidFill>
                  <a:srgbClr val="9B3A3A"/>
                </a:solidFill>
                <a:latin typeface="Microsoft JhengHei"/>
              </a:rPr>
              <a:t>Week 16～18：我能完成作品、接受評量，也能回頭解釋自己怎麼學會的。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完成標準｜不是反思得「感人」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347472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193756"/>
                </a:solidFill>
                <a:latin typeface="Microsoft JhengHei"/>
              </a:rPr>
              <a:t>重新回答 Week 1 問題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280160"/>
            <a:ext cx="347472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193756"/>
                </a:solidFill>
                <a:latin typeface="Microsoft JhengHei"/>
              </a:rPr>
              <a:t>選 3 句並具體說明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280160"/>
            <a:ext cx="347472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193756"/>
                </a:solidFill>
                <a:latin typeface="Microsoft JhengHei"/>
              </a:rPr>
              <a:t>完成 AI 前後比較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08960"/>
            <a:ext cx="347472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2D785A"/>
                </a:solidFill>
                <a:latin typeface="Microsoft JhengHei"/>
              </a:rPr>
              <a:t>寫一個 AI 查核經驗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108960"/>
            <a:ext cx="347472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2D785A"/>
                </a:solidFill>
                <a:latin typeface="Microsoft JhengHei"/>
              </a:rPr>
              <a:t>回看 Week 16 作品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3108960"/>
            <a:ext cx="347472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2D785A"/>
                </a:solidFill>
                <a:latin typeface="Microsoft JhengHei"/>
              </a:rPr>
              <a:t>回答未來職場情境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1800" b="1">
                <a:solidFill>
                  <a:srgbClr val="9B3A3A"/>
                </a:solidFill>
                <a:latin typeface="Microsoft JhengHei"/>
              </a:rPr>
              <a:t>具體、有內容、不是敷衍一句，就達到本週目標。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106984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Microsoft JhengHei"/>
              </a:rPr>
              <a:t>AI 可以幫你找到答案，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Microsoft JhengHei"/>
              </a:rPr>
              <a:t>但你仍然要決定：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71800"/>
            <a:ext cx="10698480" cy="10972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3500" b="1">
                <a:solidFill>
                  <a:srgbClr val="F0D69B"/>
                </a:solidFill>
                <a:latin typeface="Microsoft JhengHei"/>
              </a:rPr>
              <a:t>什麼值得相信，
以及你願意為什麼判斷負責。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83480"/>
            <a:ext cx="1069848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2000" b="0">
                <a:solidFill>
                  <a:srgbClr val="DEE8F0"/>
                </a:solidFill>
                <a:latin typeface="Microsoft JhengHei"/>
              </a:rPr>
              <a:t>資料科學與大數據分析｜課程結束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