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107899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300" b="0">
                <a:solidFill>
                  <a:srgbClr val="FFFFFF"/>
                </a:solidFill>
                <a:latin typeface="Microsoft JhengHei"/>
              </a:rPr>
              <a:t>資料科學與大數據分析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83080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JhengHei"/>
              </a:rPr>
              <a:t>Week 6｜先問對問題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88920"/>
            <a:ext cx="1078992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700" b="0">
                <a:solidFill>
                  <a:srgbClr val="DEE8F0"/>
                </a:solidFill>
                <a:latin typeface="Microsoft JhengHei"/>
              </a:rPr>
              <a:t>從金融情境到資料問題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06908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一個金融／商管問題，要怎麼變成資料可以回答的問題？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Week 6｜學生開始擁有「問題的所有權」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5029200" cy="1920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前五週
老師提出問題
學生判讀與查核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17320"/>
            <a:ext cx="5029200" cy="1920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2D785A"/>
                </a:solidFill>
                <a:latin typeface="Microsoft JhengHei"/>
              </a:rPr>
              <a:t>Week 6 開始
學生也要決定
「什麼問題值得問？」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500" b="1">
                <a:solidFill>
                  <a:srgbClr val="9B3A3A"/>
                </a:solidFill>
                <a:latin typeface="Microsoft JhengHei"/>
              </a:rPr>
              <a:t>難度成長不是更多程式，而是更多「自己做決定」。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開場｜主管只說了一句話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10058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>
                <a:solidFill>
                  <a:srgbClr val="193756"/>
                </a:solidFill>
                <a:latin typeface="Microsoft JhengHei"/>
              </a:rPr>
              <a:t>「最近信用卡刷卡狀況好像不太好，幫我分析一下。」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800" b="1">
                <a:solidFill>
                  <a:srgbClr val="9B3A3A"/>
                </a:solidFill>
                <a:latin typeface="Microsoft JhengHei"/>
              </a:rPr>
              <a:t>問題：你到底要分析什麼？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342900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刷卡金額下降？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4160520"/>
            <a:ext cx="342900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刷卡人數下降？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4160520"/>
            <a:ext cx="342900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交易次數下降？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42900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某類消費減少？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5120640"/>
            <a:ext cx="342900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拒絕交易增加？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5120640"/>
            <a:ext cx="342900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客戶流失？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核心概念 1｜情境問題（Business Question）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10058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真實金融／商業環境中，我們想了解或改善的事情。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149840" cy="8686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500" b="1">
                <a:solidFill>
                  <a:srgbClr val="232A30"/>
                </a:solidFill>
                <a:latin typeface="Microsoft JhengHei"/>
              </a:rPr>
              <a:t>例：「最近信用卡使用狀況為什麼變差？」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33272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300" b="1">
                <a:solidFill>
                  <a:srgbClr val="9B3A3A"/>
                </a:solidFill>
                <a:latin typeface="Microsoft JhengHei"/>
              </a:rPr>
              <a:t>它是合理的商業問題，但還不夠清楚到可以直接分析。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核心概念 2｜資料問題（Data Question）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10332720" cy="10058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可以透過資料進行觀察、比較或分析的問題。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880360"/>
            <a:ext cx="10332720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700" b="1">
                <a:solidFill>
                  <a:srgbClr val="FFFFFF"/>
                </a:solidFill>
                <a:latin typeface="Microsoft JhengHei"/>
              </a:rPr>
              <a:t>「2026 年 1～6 月信用卡每月交易金額是否下降？」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3272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>
                <a:solidFill>
                  <a:srgbClr val="232A30"/>
                </a:solidFill>
                <a:latin typeface="Microsoft JhengHei"/>
              </a:rPr>
              <a:t>現在我們開始知道：看什麼、看多久、比較什麼、需要什麼資料。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同一個情境問題，可以拆成不同資料問題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040880"/>
              </a:tblGrid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情境問題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可能的資料問題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最近信用卡業務是不是變差？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最近六個月交易總額是否下降？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哪一類消費的交易金額下降最多？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哪個年齡層的刷卡次數下降最明顯？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166360"/>
            <a:ext cx="1033272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100" b="1">
                <a:solidFill>
                  <a:srgbClr val="9B3A3A"/>
                </a:solidFill>
                <a:latin typeface="Microsoft JhengHei"/>
              </a:rPr>
              <a:t>先把模糊的「不好」拆成可以觀察的指標。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核心工具｜資料問題「四清楚」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① 對象清楚
我要看誰／什麼？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521208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② 指標清楚
我要觀察什麼數字或現象？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21208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③ 比較清楚
我要比較誰、什麼時間或群體？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200400"/>
            <a:ext cx="521208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④ 範圍清楚
時間、資料或情境範圍是什麼？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>
                <a:solidFill>
                  <a:srgbClr val="9B3A3A"/>
                </a:solidFill>
                <a:latin typeface="Microsoft JhengHei"/>
              </a:rPr>
              <a:t>清楚到「知道要用什麼資料回答」就夠了。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四清楚示範｜把問題修到可分析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327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9B3A3A"/>
                </a:solidFill>
                <a:latin typeface="Microsoft JhengHei"/>
              </a:rPr>
              <a:t>原句：「年輕人的行動支付使用比較高嗎？」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23160"/>
            <a:ext cx="1033272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修正：「在本資料中，19～22 歲與 23～27 歲客戶的行動支付使用比例是否不同？」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3703320"/>
          <a:ext cx="85039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6035040"/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四清楚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這題的內容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對象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19～22 歲 vs. 23～27 歲客戶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指標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行動支付使用比例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比較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兩個年齡群體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範圍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本資料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清楚 ≠ 複雜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44200" cy="1920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0">
                <a:solidFill>
                  <a:srgbClr val="232A30"/>
                </a:solidFill>
                <a:latin typeface="Microsoft JhengHei"/>
              </a:rPr>
              <a:t>「在2026年第一季台南地區19～22歲女性大學生於週一至週五下午2點至5點使用行動支付購買餐飲時……」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3272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3000" b="1">
                <a:solidFill>
                  <a:srgbClr val="9B3A3A"/>
                </a:solidFill>
                <a:latin typeface="Microsoft JhengHei"/>
              </a:rPr>
              <a:t>問題不是越長越專業。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92040"/>
            <a:ext cx="1033272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好的資料問題：剛好清楚到知道要看什麼資料。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核心概念 3｜想知道，不代表資料能回答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033272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主管問：「客戶為什麼不喜歡我們的信用卡？」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5029200" cy="2194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232A30"/>
                </a:solidFill>
                <a:latin typeface="Microsoft JhengHei"/>
              </a:rPr>
              <a:t>手上的資料只有
年齡｜交易次數
交易金額｜消費類別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560320"/>
            <a:ext cx="5029200" cy="2194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9B3A3A"/>
                </a:solidFill>
                <a:latin typeface="Microsoft JhengHei"/>
              </a:rPr>
              <a:t>可能還需要
滿意度｜客訴
訪談｜使用動機｜競品資訊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資料的邊界，就是結論的邊界。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哪些問題「目前資料可以回答」？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344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/>
                <a:gridCol w="338328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問題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目前資料能回答？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哪個消費類別交易最多？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✓ 可以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使用優惠者平均消費是否較高？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✓ 可以比較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客戶為什麼喜歡行動支付？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✗ 不能直接回答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哪種支付方式最安全？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✗ 缺乏安全資料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不同年齡層支付方式是否不同？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✓ 可以探索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1">
                <a:solidFill>
                  <a:srgbClr val="9B3A3A"/>
                </a:solidFill>
                <a:latin typeface="Microsoft JhengHei"/>
              </a:rPr>
              <a:t>能回答什麼，要先看手上有哪些欄位。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Week 6 核心句｜想問 ≠ 能回答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109728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JhengHei"/>
              </a:rPr>
              <a:t>想問 ≠ 能回答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1033272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600" b="1">
                <a:solidFill>
                  <a:srgbClr val="193756"/>
                </a:solidFill>
                <a:latin typeface="Microsoft JhengHei"/>
              </a:rPr>
              <a:t>一個好問題，還要確認資料是否足以支持回答。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434840"/>
            <a:ext cx="1033272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9B3A3A"/>
                </a:solidFill>
                <a:latin typeface="Microsoft JhengHei"/>
              </a:rPr>
              <a:t>不知道資料邊界，就很容易讓 AI 替我們「補故事」。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主要案例｜信用卡交易真的下降了嗎？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344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2560320"/>
                <a:gridCol w="3566160"/>
              </a:tblGrid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月份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交易人數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交易次數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交易金額（元）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1月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1,250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3,420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5,820,000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2月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1,210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3,310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5,610,000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3月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1,260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3,500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5,940,000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4月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1,180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3,120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5,250,000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5月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1,150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2,980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5,020,000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6月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1,090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2,760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4,680,000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1">
                <a:solidFill>
                  <a:srgbClr val="9B3A3A"/>
                </a:solidFill>
                <a:latin typeface="Microsoft JhengHei"/>
              </a:rPr>
              <a:t>主管說「變差」——你會選哪一個指標來定義？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「變差」可以有很多定義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3429000" cy="2103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交易人數
使用信用卡的人變少？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463040"/>
            <a:ext cx="3429000" cy="2103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交易次數
刷卡頻率下降？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463040"/>
            <a:ext cx="3429000" cy="2103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交易金額
整體刷卡金額下降？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1033272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600" b="1">
                <a:solidFill>
                  <a:srgbClr val="9B3A3A"/>
                </a:solidFill>
                <a:latin typeface="Microsoft JhengHei"/>
              </a:rPr>
              <a:t>定義不同 → 分析問題不同 → 需要看的證據也不同。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指標不是答案｜資料還要放回商業情境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03327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「交易金額下降」是一個資料結果。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14600"/>
            <a:ext cx="103327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700" b="1">
                <a:solidFill>
                  <a:srgbClr val="9B3A3A"/>
                </a:solidFill>
                <a:latin typeface="Microsoft JhengHei"/>
              </a:rPr>
              <a:t>「信用卡業務變差」是一個更大的商業判斷。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342900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A30"/>
                </a:solidFill>
                <a:latin typeface="Microsoft JhengHei"/>
              </a:rPr>
              <a:t>淡旺季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3794760"/>
            <a:ext cx="342900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A30"/>
                </a:solidFill>
                <a:latin typeface="Microsoft JhengHei"/>
              </a:rPr>
              <a:t>客戶數變化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3794760"/>
            <a:ext cx="342900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A30"/>
                </a:solidFill>
                <a:latin typeface="Microsoft JhengHei"/>
              </a:rPr>
              <a:t>活動結束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342900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A30"/>
                </a:solidFill>
                <a:latin typeface="Microsoft JhengHei"/>
              </a:rPr>
              <a:t>消費環境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4754880"/>
            <a:ext cx="342900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A30"/>
                </a:solidFill>
                <a:latin typeface="Microsoft JhengHei"/>
              </a:rPr>
              <a:t>競爭產品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4754880"/>
            <a:ext cx="342900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A30"/>
                </a:solidFill>
                <a:latin typeface="Microsoft JhengHei"/>
              </a:rPr>
              <a:t>其他因素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學生任務 1｜把模糊問題改清楚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原句
客戶最近花得比較少。
→ 改成資料問題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521208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原句
年輕人都喜歡行動支付。
→ 改成資料問題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521208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原句
優惠活動效果很好。
→ 改成資料問題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246120"/>
            <a:ext cx="521208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原句
信用卡業務變差。
→ 改成資料問題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700" b="1">
                <a:solidFill>
                  <a:srgbClr val="9B3A3A"/>
                </a:solidFill>
                <a:latin typeface="Microsoft JhengHei"/>
              </a:rPr>
              <a:t>至少用「四清楚」檢查一次。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學生任務 2｜問題與資料配對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74920" cy="34747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800" b="1">
                <a:solidFill>
                  <a:srgbClr val="193756"/>
                </a:solidFill>
                <a:latin typeface="Microsoft JhengHei"/>
              </a:rPr>
              <a:t>問題
A 哪類消費金額最高？
B 客戶為什麼不滿？
C 哪個年齡層較常用行動支付？
D 交易金額是否逐月下降？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074920" cy="34747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800" b="1">
                <a:solidFill>
                  <a:srgbClr val="2D785A"/>
                </a:solidFill>
                <a:latin typeface="Microsoft JhengHei"/>
              </a:rPr>
              <a:t>可用資料
① 年齡＋支付方式
② 月份＋交易金額
③ 消費類別＋消費金額
④ 滿意度＋客訴文字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66360"/>
            <a:ext cx="103327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900" b="1">
                <a:solidFill>
                  <a:srgbClr val="9B3A3A"/>
                </a:solidFill>
                <a:latin typeface="Microsoft JhengHei"/>
              </a:rPr>
              <a:t>先問問題，再找對資料；不是有什麼資料就硬做什麼結論。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Week 6 的 AI｜問題形成助手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835640" cy="2971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700" b="0">
                <a:solidFill>
                  <a:srgbClr val="232A30"/>
                </a:solidFill>
                <a:latin typeface="Microsoft JhengHei"/>
              </a:rPr>
              <a:t>提示語範例
我是金融管理系一年級學生。銀行主管提出：「最近信用卡刷卡狀況好像不太好，請幫我分析。」目前資料包含月份、交易人數、交易次數、交易金額。請幫我提出 5 個可以由這些欄位回答的資料問題。不要自行加入資料中不存在的欄位。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AI 可以幫忙展開問題，但學生要用「四清楚」審查。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故意測試 AI 的邊界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03327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再問 AI：「請分析客戶為什麼不喜歡這張信用卡。」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10744200" cy="15544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9B3A3A"/>
                </a:solidFill>
                <a:latin typeface="Microsoft JhengHei"/>
              </a:rPr>
              <a:t>AI 可能開始說：年費太高、回饋不足、APP 不好用、競品優惠更好……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26280"/>
            <a:ext cx="1033272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600" b="1">
                <a:solidFill>
                  <a:srgbClr val="193756"/>
                </a:solidFill>
                <a:latin typeface="Microsoft JhengHei"/>
              </a:rPr>
              <a:t>問題：我們手上的資料真的有這些資訊嗎？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>
                <a:solidFill>
                  <a:srgbClr val="9B3A3A"/>
                </a:solidFill>
                <a:latin typeface="Microsoft JhengHei"/>
              </a:rPr>
              <a:t>可能原因 ≠ 資料答案。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學生任務 3｜AI 問題審查員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34440"/>
          <a:ext cx="108356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1645920"/>
                <a:gridCol w="3520440"/>
              </a:tblGrid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AI 提出的問題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判定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若需修改，我怎麼改？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問題 1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✓／△／✗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問題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✓／△／✗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問題 3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✓／△／✗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問題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✓／△／✗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問題 5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✓／△／✗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9B3A3A"/>
                </a:solidFill>
                <a:latin typeface="Microsoft JhengHei"/>
              </a:rPr>
              <a:t>✓ 可以回答　△ 需要修改　✗ 現有資料不能回答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W16 種子開始｜我的資料問題種子庫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9319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我感興趣的金融／商管情境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1234440"/>
            <a:ext cx="640080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700" b="0">
                <a:solidFill>
                  <a:srgbClr val="232A30"/>
                </a:solidFill>
                <a:latin typeface="Microsoft JhengHei"/>
              </a:rPr>
              <a:t>____________________________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39319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我想知道的事情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2377440"/>
            <a:ext cx="640080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700" b="0">
                <a:solidFill>
                  <a:srgbClr val="232A30"/>
                </a:solidFill>
                <a:latin typeface="Microsoft JhengHei"/>
              </a:rPr>
              <a:t>____________________________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20440"/>
            <a:ext cx="39319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可以轉成的資料問題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3520440"/>
            <a:ext cx="640080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700" b="0">
                <a:solidFill>
                  <a:srgbClr val="232A30"/>
                </a:solidFill>
                <a:latin typeface="Microsoft JhengHei"/>
              </a:rPr>
              <a:t>____________________________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39319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可能需要哪些資料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4663440"/>
            <a:ext cx="640080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700" b="0">
                <a:solidFill>
                  <a:srgbClr val="232A30"/>
                </a:solidFill>
                <a:latin typeface="Microsoft JhengHei"/>
              </a:rPr>
              <a:t>____________________________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400" b="1">
                <a:solidFill>
                  <a:srgbClr val="9B3A3A"/>
                </a:solidFill>
                <a:latin typeface="Microsoft JhengHei"/>
              </a:rPr>
              <a:t>今天不用決定期末題目，只是開始累積「值得追的問題」。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本週最小學習產出｜我的第一張資料問題卡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143000"/>
          <a:ext cx="108356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818120"/>
              </a:tblGrid>
              <a:tr h="62293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欄位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我的內容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情境問題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我的資料問題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四清楚檢查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□ 對象　□ 指標　□ 比較　□ 範圍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資料足夠嗎？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□ 可以　□ 部分可以　□ 目前不能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還缺什麼？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AI 給我的建議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我最後保留／修改成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快速檢核｜問題問對了嗎？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640080" cy="6858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Q1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1097280"/>
            <a:ext cx="996696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193756"/>
                </a:solidFill>
                <a:latin typeface="Microsoft JhengHei"/>
              </a:rPr>
              <a:t>「最近信用卡業務不好」較接近：A 資料問題　B 情境問題　C 統計結果　D AI答案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84832"/>
            <a:ext cx="640080" cy="6858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Q2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2084832"/>
            <a:ext cx="996696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193756"/>
                </a:solidFill>
                <a:latin typeface="Microsoft JhengHei"/>
              </a:rPr>
              <a:t>有「年齡＋支付方式」時，較能回答：A 為何喜歡　B 年齡層支付方式是否不同　C 是否安全　D 哪家銀行最好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72384"/>
            <a:ext cx="640080" cy="6858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Q3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3072384"/>
            <a:ext cx="996696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193756"/>
                </a:solidFill>
                <a:latin typeface="Microsoft JhengHei"/>
              </a:rPr>
              <a:t>問題越詳細、越長，就一定越好。　○ 對　○ 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59936"/>
            <a:ext cx="640080" cy="6858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Q4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4059936"/>
            <a:ext cx="996696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193756"/>
                </a:solidFill>
                <a:latin typeface="Microsoft JhengHei"/>
              </a:rPr>
              <a:t>沒有滿意度資料，AI 說「回饋太少造成不滿」——這是資料結論嗎？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047488"/>
            <a:ext cx="640080" cy="6858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Q5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5047488"/>
            <a:ext cx="996696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193756"/>
                </a:solidFill>
                <a:latin typeface="Microsoft JhengHei"/>
              </a:rPr>
              <a:t>好資料問題要清楚：看誰、看什麼、怎麼比較、範圍在哪裡。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Week 6 收束｜從回答問題，到開始定義問題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033272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193756"/>
                </a:solidFill>
                <a:latin typeface="Microsoft JhengHei"/>
              </a:rPr>
              <a:t>情境問題 → 資料問題 → 四清楚 → 檢查資料邊界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10332720" cy="86868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100" b="1">
                <a:solidFill>
                  <a:srgbClr val="FFFFFF"/>
                </a:solidFill>
                <a:latin typeface="Microsoft JhengHei"/>
              </a:rPr>
              <a:t>Week 6｜想問 ≠ 能回答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60520"/>
            <a:ext cx="103327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232A30"/>
                </a:solidFill>
                <a:latin typeface="Microsoft JhengHei"/>
              </a:rPr>
              <a:t>AI 可以幫我們想問題，但不能替我們決定「資料究竟能證明什麼」。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0">
                <a:solidFill>
                  <a:srgbClr val="646E76"/>
                </a:solidFill>
                <a:latin typeface="Microsoft JhengHei"/>
              </a:rPr>
              <a:t>下一步：讓問題、資料與分析方法真正配在一起。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